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Lora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heKEvb0Vm4FymtZKmqW/8k3ABO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ora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Lora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ora-bold.fntdata"/><Relationship Id="rId6" Type="http://schemas.openxmlformats.org/officeDocument/2006/relationships/slide" Target="slides/slide1.xml"/><Relationship Id="rId18" Type="http://schemas.openxmlformats.org/officeDocument/2006/relationships/font" Target="fonts/Lor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683cc579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f683cc57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69104def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f69104de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69104def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f69104def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69104deff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f69104def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69104deff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3f69104def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683cc5795_0_2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f683cc5795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683cc5795_0_2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f683cc5795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" name="Google Shape;17;p10"/>
          <p:cNvGrpSpPr/>
          <p:nvPr/>
        </p:nvGrpSpPr>
        <p:grpSpPr>
          <a:xfrm>
            <a:off x="0" y="-872026"/>
            <a:ext cx="18288118" cy="7465465"/>
            <a:chOff x="0" y="-38100"/>
            <a:chExt cx="4816592" cy="1966200"/>
          </a:xfrm>
        </p:grpSpPr>
        <p:sp>
          <p:nvSpPr>
            <p:cNvPr id="18" name="Google Shape;18;p10"/>
            <p:cNvSpPr/>
            <p:nvPr/>
          </p:nvSpPr>
          <p:spPr>
            <a:xfrm>
              <a:off x="0" y="0"/>
              <a:ext cx="4816592" cy="1928005"/>
            </a:xfrm>
            <a:custGeom>
              <a:rect b="b" l="l" r="r" t="t"/>
              <a:pathLst>
                <a:path extrusionOk="0" h="1928005" w="4816592">
                  <a:moveTo>
                    <a:pt x="40217" y="0"/>
                  </a:moveTo>
                  <a:lnTo>
                    <a:pt x="4776376" y="0"/>
                  </a:lnTo>
                  <a:cubicBezTo>
                    <a:pt x="4787042" y="0"/>
                    <a:pt x="4797271" y="4237"/>
                    <a:pt x="4804813" y="11779"/>
                  </a:cubicBezTo>
                  <a:cubicBezTo>
                    <a:pt x="4812355" y="19321"/>
                    <a:pt x="4816592" y="29551"/>
                    <a:pt x="4816592" y="40217"/>
                  </a:cubicBezTo>
                  <a:lnTo>
                    <a:pt x="4816592" y="1887789"/>
                  </a:lnTo>
                  <a:cubicBezTo>
                    <a:pt x="4816592" y="1910000"/>
                    <a:pt x="4798587" y="1928005"/>
                    <a:pt x="4776376" y="1928005"/>
                  </a:cubicBezTo>
                  <a:lnTo>
                    <a:pt x="40217" y="1928005"/>
                  </a:lnTo>
                  <a:cubicBezTo>
                    <a:pt x="18006" y="1928005"/>
                    <a:pt x="0" y="1910000"/>
                    <a:pt x="0" y="1887789"/>
                  </a:cubicBezTo>
                  <a:lnTo>
                    <a:pt x="0" y="40217"/>
                  </a:lnTo>
                  <a:cubicBezTo>
                    <a:pt x="0" y="18006"/>
                    <a:pt x="18006" y="0"/>
                    <a:pt x="40217" y="0"/>
                  </a:cubicBezTo>
                  <a:close/>
                </a:path>
              </a:pathLst>
            </a:custGeom>
            <a:solidFill>
              <a:srgbClr val="FFE8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0"/>
            <p:cNvSpPr txBox="1"/>
            <p:nvPr/>
          </p:nvSpPr>
          <p:spPr>
            <a:xfrm>
              <a:off x="0" y="-38100"/>
              <a:ext cx="4816500" cy="19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20;p10"/>
          <p:cNvGrpSpPr/>
          <p:nvPr/>
        </p:nvGrpSpPr>
        <p:grpSpPr>
          <a:xfrm>
            <a:off x="10377929" y="476404"/>
            <a:ext cx="5824281" cy="5824281"/>
            <a:chOff x="0" y="0"/>
            <a:chExt cx="812800" cy="812800"/>
          </a:xfrm>
        </p:grpSpPr>
        <p:sp>
          <p:nvSpPr>
            <p:cNvPr id="21" name="Google Shape;21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752B2"/>
            </a:solidFill>
            <a:ln>
              <a:noFill/>
            </a:ln>
          </p:spPr>
        </p:sp>
        <p:sp>
          <p:nvSpPr>
            <p:cNvPr id="22" name="Google Shape;22;p10"/>
            <p:cNvSpPr txBox="1"/>
            <p:nvPr/>
          </p:nvSpPr>
          <p:spPr>
            <a:xfrm>
              <a:off x="127000" y="88900"/>
              <a:ext cx="558900" cy="5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99926" y="1634270"/>
            <a:ext cx="9580252" cy="7575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11"/>
          <p:cNvGrpSpPr/>
          <p:nvPr/>
        </p:nvGrpSpPr>
        <p:grpSpPr>
          <a:xfrm>
            <a:off x="889597" y="2810824"/>
            <a:ext cx="3599647" cy="3599647"/>
            <a:chOff x="0" y="0"/>
            <a:chExt cx="812800" cy="812800"/>
          </a:xfrm>
        </p:grpSpPr>
        <p:sp>
          <p:nvSpPr>
            <p:cNvPr id="26" name="Google Shape;26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200025">
              <a:solidFill>
                <a:srgbClr val="735FE4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1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" name="Google Shape;28;p11"/>
          <p:cNvGrpSpPr/>
          <p:nvPr/>
        </p:nvGrpSpPr>
        <p:grpSpPr>
          <a:xfrm>
            <a:off x="5192653" y="2810824"/>
            <a:ext cx="3599647" cy="3599647"/>
            <a:chOff x="0" y="0"/>
            <a:chExt cx="812800" cy="812800"/>
          </a:xfrm>
        </p:grpSpPr>
        <p:sp>
          <p:nvSpPr>
            <p:cNvPr id="29" name="Google Shape;29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200025">
              <a:solidFill>
                <a:srgbClr val="FDBD00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1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" name="Google Shape;31;p11"/>
          <p:cNvGrpSpPr/>
          <p:nvPr/>
        </p:nvGrpSpPr>
        <p:grpSpPr>
          <a:xfrm>
            <a:off x="9495708" y="2810824"/>
            <a:ext cx="3599647" cy="3599647"/>
            <a:chOff x="0" y="0"/>
            <a:chExt cx="812800" cy="812800"/>
          </a:xfrm>
        </p:grpSpPr>
        <p:sp>
          <p:nvSpPr>
            <p:cNvPr id="32" name="Google Shape;32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200025">
              <a:solidFill>
                <a:srgbClr val="FE802E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1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" name="Google Shape;34;p11"/>
          <p:cNvGrpSpPr/>
          <p:nvPr/>
        </p:nvGrpSpPr>
        <p:grpSpPr>
          <a:xfrm>
            <a:off x="13798763" y="2810824"/>
            <a:ext cx="3599647" cy="3599647"/>
            <a:chOff x="0" y="0"/>
            <a:chExt cx="812800" cy="812800"/>
          </a:xfrm>
        </p:grpSpPr>
        <p:sp>
          <p:nvSpPr>
            <p:cNvPr id="35" name="Google Shape;35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200025">
              <a:solidFill>
                <a:srgbClr val="D752B2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1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" name="Google Shape;37;p11"/>
          <p:cNvGrpSpPr/>
          <p:nvPr/>
        </p:nvGrpSpPr>
        <p:grpSpPr>
          <a:xfrm>
            <a:off x="4093368" y="4041071"/>
            <a:ext cx="1495141" cy="1139160"/>
            <a:chOff x="-15" y="0"/>
            <a:chExt cx="1993521" cy="1518879"/>
          </a:xfrm>
        </p:grpSpPr>
        <p:grpSp>
          <p:nvGrpSpPr>
            <p:cNvPr id="38" name="Google Shape;38;p11"/>
            <p:cNvGrpSpPr/>
            <p:nvPr/>
          </p:nvGrpSpPr>
          <p:grpSpPr>
            <a:xfrm rot="5400000">
              <a:off x="-94945" y="94930"/>
              <a:ext cx="1518879" cy="1329019"/>
              <a:chOff x="0" y="0"/>
              <a:chExt cx="812800" cy="711200"/>
            </a:xfrm>
          </p:grpSpPr>
          <p:sp>
            <p:nvSpPr>
              <p:cNvPr id="39" name="Google Shape;39;p11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</p:sp>
          <p:sp>
            <p:nvSpPr>
              <p:cNvPr id="40" name="Google Shape;40;p11"/>
              <p:cNvSpPr txBox="1"/>
              <p:nvPr/>
            </p:nvSpPr>
            <p:spPr>
              <a:xfrm>
                <a:off x="127000" y="2921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" name="Google Shape;41;p11"/>
            <p:cNvGrpSpPr/>
            <p:nvPr/>
          </p:nvGrpSpPr>
          <p:grpSpPr>
            <a:xfrm rot="5400000">
              <a:off x="569557" y="94930"/>
              <a:ext cx="1518879" cy="1329019"/>
              <a:chOff x="0" y="0"/>
              <a:chExt cx="812800" cy="711200"/>
            </a:xfrm>
          </p:grpSpPr>
          <p:sp>
            <p:nvSpPr>
              <p:cNvPr id="42" name="Google Shape;42;p11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</p:sp>
          <p:sp>
            <p:nvSpPr>
              <p:cNvPr id="43" name="Google Shape;43;p11"/>
              <p:cNvSpPr txBox="1"/>
              <p:nvPr/>
            </p:nvSpPr>
            <p:spPr>
              <a:xfrm>
                <a:off x="127000" y="2921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4" name="Google Shape;44;p11"/>
          <p:cNvGrpSpPr/>
          <p:nvPr/>
        </p:nvGrpSpPr>
        <p:grpSpPr>
          <a:xfrm>
            <a:off x="8396423" y="4041071"/>
            <a:ext cx="1495141" cy="1139160"/>
            <a:chOff x="-15" y="0"/>
            <a:chExt cx="1993521" cy="1518879"/>
          </a:xfrm>
        </p:grpSpPr>
        <p:grpSp>
          <p:nvGrpSpPr>
            <p:cNvPr id="45" name="Google Shape;45;p11"/>
            <p:cNvGrpSpPr/>
            <p:nvPr/>
          </p:nvGrpSpPr>
          <p:grpSpPr>
            <a:xfrm rot="5400000">
              <a:off x="-94945" y="94930"/>
              <a:ext cx="1518879" cy="1329019"/>
              <a:chOff x="0" y="0"/>
              <a:chExt cx="812800" cy="711200"/>
            </a:xfrm>
          </p:grpSpPr>
          <p:sp>
            <p:nvSpPr>
              <p:cNvPr id="46" name="Google Shape;46;p11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</p:sp>
          <p:sp>
            <p:nvSpPr>
              <p:cNvPr id="47" name="Google Shape;47;p11"/>
              <p:cNvSpPr txBox="1"/>
              <p:nvPr/>
            </p:nvSpPr>
            <p:spPr>
              <a:xfrm>
                <a:off x="127000" y="2921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" name="Google Shape;48;p11"/>
            <p:cNvGrpSpPr/>
            <p:nvPr/>
          </p:nvGrpSpPr>
          <p:grpSpPr>
            <a:xfrm rot="5400000">
              <a:off x="569557" y="94930"/>
              <a:ext cx="1518879" cy="1329019"/>
              <a:chOff x="0" y="0"/>
              <a:chExt cx="812800" cy="711200"/>
            </a:xfrm>
          </p:grpSpPr>
          <p:sp>
            <p:nvSpPr>
              <p:cNvPr id="49" name="Google Shape;49;p11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</p:sp>
          <p:sp>
            <p:nvSpPr>
              <p:cNvPr id="50" name="Google Shape;50;p11"/>
              <p:cNvSpPr txBox="1"/>
              <p:nvPr/>
            </p:nvSpPr>
            <p:spPr>
              <a:xfrm>
                <a:off x="127000" y="2921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" name="Google Shape;51;p11"/>
          <p:cNvGrpSpPr/>
          <p:nvPr/>
        </p:nvGrpSpPr>
        <p:grpSpPr>
          <a:xfrm>
            <a:off x="12699478" y="4041071"/>
            <a:ext cx="1495141" cy="1139160"/>
            <a:chOff x="-15" y="0"/>
            <a:chExt cx="1993521" cy="1518879"/>
          </a:xfrm>
        </p:grpSpPr>
        <p:grpSp>
          <p:nvGrpSpPr>
            <p:cNvPr id="52" name="Google Shape;52;p11"/>
            <p:cNvGrpSpPr/>
            <p:nvPr/>
          </p:nvGrpSpPr>
          <p:grpSpPr>
            <a:xfrm rot="5400000">
              <a:off x="-94945" y="94930"/>
              <a:ext cx="1518879" cy="1329019"/>
              <a:chOff x="0" y="0"/>
              <a:chExt cx="812800" cy="711200"/>
            </a:xfrm>
          </p:grpSpPr>
          <p:sp>
            <p:nvSpPr>
              <p:cNvPr id="53" name="Google Shape;53;p11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</p:sp>
          <p:sp>
            <p:nvSpPr>
              <p:cNvPr id="54" name="Google Shape;54;p11"/>
              <p:cNvSpPr txBox="1"/>
              <p:nvPr/>
            </p:nvSpPr>
            <p:spPr>
              <a:xfrm>
                <a:off x="127000" y="2921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" name="Google Shape;55;p11"/>
            <p:cNvGrpSpPr/>
            <p:nvPr/>
          </p:nvGrpSpPr>
          <p:grpSpPr>
            <a:xfrm rot="5400000">
              <a:off x="569557" y="94930"/>
              <a:ext cx="1518879" cy="1329019"/>
              <a:chOff x="0" y="0"/>
              <a:chExt cx="812800" cy="711200"/>
            </a:xfrm>
          </p:grpSpPr>
          <p:sp>
            <p:nvSpPr>
              <p:cNvPr id="56" name="Google Shape;56;p11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</p:sp>
          <p:sp>
            <p:nvSpPr>
              <p:cNvPr id="57" name="Google Shape;57;p11"/>
              <p:cNvSpPr txBox="1"/>
              <p:nvPr/>
            </p:nvSpPr>
            <p:spPr>
              <a:xfrm>
                <a:off x="127000" y="2921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8" name="Google Shape;58;p11"/>
          <p:cNvSpPr/>
          <p:nvPr/>
        </p:nvSpPr>
        <p:spPr>
          <a:xfrm>
            <a:off x="1415593" y="3700439"/>
            <a:ext cx="2547647" cy="1820410"/>
          </a:xfrm>
          <a:custGeom>
            <a:rect b="b" l="l" r="r" t="t"/>
            <a:pathLst>
              <a:path extrusionOk="0" h="1820410" w="2547647">
                <a:moveTo>
                  <a:pt x="0" y="0"/>
                </a:moveTo>
                <a:lnTo>
                  <a:pt x="2547648" y="0"/>
                </a:lnTo>
                <a:lnTo>
                  <a:pt x="2547648" y="1820410"/>
                </a:lnTo>
                <a:lnTo>
                  <a:pt x="0" y="18204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" name="Google Shape;59;p11"/>
          <p:cNvSpPr/>
          <p:nvPr/>
        </p:nvSpPr>
        <p:spPr>
          <a:xfrm>
            <a:off x="5813853" y="3673632"/>
            <a:ext cx="2357238" cy="1847217"/>
          </a:xfrm>
          <a:custGeom>
            <a:rect b="b" l="l" r="r" t="t"/>
            <a:pathLst>
              <a:path extrusionOk="0" h="1847217" w="2357238">
                <a:moveTo>
                  <a:pt x="0" y="0"/>
                </a:moveTo>
                <a:lnTo>
                  <a:pt x="2357238" y="0"/>
                </a:lnTo>
                <a:lnTo>
                  <a:pt x="2357238" y="1847217"/>
                </a:lnTo>
                <a:lnTo>
                  <a:pt x="0" y="18472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" name="Google Shape;60;p11"/>
          <p:cNvSpPr/>
          <p:nvPr/>
        </p:nvSpPr>
        <p:spPr>
          <a:xfrm>
            <a:off x="10163958" y="3581944"/>
            <a:ext cx="2263140" cy="2057400"/>
          </a:xfrm>
          <a:custGeom>
            <a:rect b="b" l="l" r="r" t="t"/>
            <a:pathLst>
              <a:path extrusionOk="0" h="2057400" w="2263140">
                <a:moveTo>
                  <a:pt x="0" y="0"/>
                </a:moveTo>
                <a:lnTo>
                  <a:pt x="2263140" y="0"/>
                </a:lnTo>
                <a:lnTo>
                  <a:pt x="226314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" name="Google Shape;61;p11"/>
          <p:cNvSpPr/>
          <p:nvPr/>
        </p:nvSpPr>
        <p:spPr>
          <a:xfrm>
            <a:off x="14614013" y="3615215"/>
            <a:ext cx="1969140" cy="1990859"/>
          </a:xfrm>
          <a:custGeom>
            <a:rect b="b" l="l" r="r" t="t"/>
            <a:pathLst>
              <a:path extrusionOk="0" h="1990859" w="1969140">
                <a:moveTo>
                  <a:pt x="0" y="0"/>
                </a:moveTo>
                <a:lnTo>
                  <a:pt x="1969140" y="0"/>
                </a:lnTo>
                <a:lnTo>
                  <a:pt x="1969140" y="1990858"/>
                </a:lnTo>
                <a:lnTo>
                  <a:pt x="0" y="19908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2"/>
          <p:cNvGrpSpPr/>
          <p:nvPr/>
        </p:nvGrpSpPr>
        <p:grpSpPr>
          <a:xfrm>
            <a:off x="1048575" y="4538224"/>
            <a:ext cx="2482535" cy="2482535"/>
            <a:chOff x="0" y="0"/>
            <a:chExt cx="812800" cy="812800"/>
          </a:xfrm>
        </p:grpSpPr>
        <p:sp>
          <p:nvSpPr>
            <p:cNvPr id="64" name="Google Shape;64;p1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5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2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6" name="Google Shape;66;p12"/>
          <p:cNvCxnSpPr/>
          <p:nvPr/>
        </p:nvCxnSpPr>
        <p:spPr>
          <a:xfrm>
            <a:off x="1287435" y="3762323"/>
            <a:ext cx="2004900" cy="0"/>
          </a:xfrm>
          <a:prstGeom prst="straightConnector1">
            <a:avLst/>
          </a:prstGeom>
          <a:noFill/>
          <a:ln cap="flat" cmpd="sng" w="95250">
            <a:solidFill>
              <a:srgbClr val="735FE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7" name="Google Shape;67;p12"/>
          <p:cNvGrpSpPr/>
          <p:nvPr/>
        </p:nvGrpSpPr>
        <p:grpSpPr>
          <a:xfrm>
            <a:off x="4475647" y="4538224"/>
            <a:ext cx="2482535" cy="2482535"/>
            <a:chOff x="0" y="0"/>
            <a:chExt cx="812800" cy="812800"/>
          </a:xfrm>
        </p:grpSpPr>
        <p:sp>
          <p:nvSpPr>
            <p:cNvPr id="68" name="Google Shape;68;p1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B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2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0" name="Google Shape;70;p12"/>
          <p:cNvCxnSpPr/>
          <p:nvPr/>
        </p:nvCxnSpPr>
        <p:spPr>
          <a:xfrm>
            <a:off x="4714508" y="3762323"/>
            <a:ext cx="2004900" cy="0"/>
          </a:xfrm>
          <a:prstGeom prst="straightConnector1">
            <a:avLst/>
          </a:prstGeom>
          <a:noFill/>
          <a:ln cap="flat" cmpd="sng" w="95250">
            <a:solidFill>
              <a:srgbClr val="FDBD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1" name="Google Shape;71;p12"/>
          <p:cNvGrpSpPr/>
          <p:nvPr/>
        </p:nvGrpSpPr>
        <p:grpSpPr>
          <a:xfrm>
            <a:off x="7902720" y="4538224"/>
            <a:ext cx="2482535" cy="2482535"/>
            <a:chOff x="0" y="0"/>
            <a:chExt cx="812800" cy="812800"/>
          </a:xfrm>
        </p:grpSpPr>
        <p:sp>
          <p:nvSpPr>
            <p:cNvPr id="72" name="Google Shape;72;p1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5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2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4" name="Google Shape;74;p12"/>
          <p:cNvCxnSpPr/>
          <p:nvPr/>
        </p:nvCxnSpPr>
        <p:spPr>
          <a:xfrm>
            <a:off x="8141580" y="3762323"/>
            <a:ext cx="2004900" cy="0"/>
          </a:xfrm>
          <a:prstGeom prst="straightConnector1">
            <a:avLst/>
          </a:prstGeom>
          <a:noFill/>
          <a:ln cap="flat" cmpd="sng" w="95250">
            <a:solidFill>
              <a:srgbClr val="D752B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5" name="Google Shape;75;p12"/>
          <p:cNvGrpSpPr/>
          <p:nvPr/>
        </p:nvGrpSpPr>
        <p:grpSpPr>
          <a:xfrm>
            <a:off x="11329792" y="4538224"/>
            <a:ext cx="2482535" cy="2482535"/>
            <a:chOff x="0" y="0"/>
            <a:chExt cx="812800" cy="812800"/>
          </a:xfrm>
        </p:grpSpPr>
        <p:sp>
          <p:nvSpPr>
            <p:cNvPr id="76" name="Google Shape;76;p1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80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2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8" name="Google Shape;78;p12"/>
          <p:cNvCxnSpPr/>
          <p:nvPr/>
        </p:nvCxnSpPr>
        <p:spPr>
          <a:xfrm>
            <a:off x="11568653" y="3762323"/>
            <a:ext cx="2004900" cy="0"/>
          </a:xfrm>
          <a:prstGeom prst="straightConnector1">
            <a:avLst/>
          </a:prstGeom>
          <a:noFill/>
          <a:ln cap="flat" cmpd="sng" w="95250">
            <a:solidFill>
              <a:srgbClr val="FE802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9" name="Google Shape;79;p12"/>
          <p:cNvGrpSpPr/>
          <p:nvPr/>
        </p:nvGrpSpPr>
        <p:grpSpPr>
          <a:xfrm>
            <a:off x="14756864" y="4538224"/>
            <a:ext cx="2482535" cy="2482535"/>
            <a:chOff x="0" y="0"/>
            <a:chExt cx="812800" cy="812800"/>
          </a:xfrm>
        </p:grpSpPr>
        <p:sp>
          <p:nvSpPr>
            <p:cNvPr id="80" name="Google Shape;80;p1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8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2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2" name="Google Shape;82;p12"/>
          <p:cNvCxnSpPr/>
          <p:nvPr/>
        </p:nvCxnSpPr>
        <p:spPr>
          <a:xfrm>
            <a:off x="14995725" y="3762323"/>
            <a:ext cx="2004900" cy="0"/>
          </a:xfrm>
          <a:prstGeom prst="straightConnector1">
            <a:avLst/>
          </a:prstGeom>
          <a:noFill/>
          <a:ln cap="flat" cmpd="sng" w="95250">
            <a:solidFill>
              <a:srgbClr val="FFE8A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3" name="Google Shape;83;p12"/>
          <p:cNvGrpSpPr/>
          <p:nvPr/>
        </p:nvGrpSpPr>
        <p:grpSpPr>
          <a:xfrm>
            <a:off x="3615813" y="5414203"/>
            <a:ext cx="958919" cy="730606"/>
            <a:chOff x="-2" y="0"/>
            <a:chExt cx="1278559" cy="974141"/>
          </a:xfrm>
        </p:grpSpPr>
        <p:grpSp>
          <p:nvGrpSpPr>
            <p:cNvPr id="84" name="Google Shape;84;p12"/>
            <p:cNvGrpSpPr/>
            <p:nvPr/>
          </p:nvGrpSpPr>
          <p:grpSpPr>
            <a:xfrm rot="5400000">
              <a:off x="-60886" y="60884"/>
              <a:ext cx="974141" cy="852373"/>
              <a:chOff x="0" y="0"/>
              <a:chExt cx="812800" cy="711200"/>
            </a:xfrm>
          </p:grpSpPr>
          <p:sp>
            <p:nvSpPr>
              <p:cNvPr id="85" name="Google Shape;85;p1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</p:sp>
          <p:sp>
            <p:nvSpPr>
              <p:cNvPr id="86" name="Google Shape;86;p12"/>
              <p:cNvSpPr txBox="1"/>
              <p:nvPr/>
            </p:nvSpPr>
            <p:spPr>
              <a:xfrm>
                <a:off x="127000" y="2921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" name="Google Shape;87;p12"/>
            <p:cNvGrpSpPr/>
            <p:nvPr/>
          </p:nvGrpSpPr>
          <p:grpSpPr>
            <a:xfrm rot="5400000">
              <a:off x="365300" y="60884"/>
              <a:ext cx="974141" cy="852373"/>
              <a:chOff x="0" y="0"/>
              <a:chExt cx="812800" cy="711200"/>
            </a:xfrm>
          </p:grpSpPr>
          <p:sp>
            <p:nvSpPr>
              <p:cNvPr id="88" name="Google Shape;88;p1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</p:sp>
          <p:sp>
            <p:nvSpPr>
              <p:cNvPr id="89" name="Google Shape;89;p12"/>
              <p:cNvSpPr txBox="1"/>
              <p:nvPr/>
            </p:nvSpPr>
            <p:spPr>
              <a:xfrm>
                <a:off x="127000" y="2921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0" name="Google Shape;90;p12"/>
          <p:cNvGrpSpPr/>
          <p:nvPr/>
        </p:nvGrpSpPr>
        <p:grpSpPr>
          <a:xfrm>
            <a:off x="7089477" y="5414203"/>
            <a:ext cx="958919" cy="730606"/>
            <a:chOff x="-2" y="0"/>
            <a:chExt cx="1278559" cy="974141"/>
          </a:xfrm>
        </p:grpSpPr>
        <p:grpSp>
          <p:nvGrpSpPr>
            <p:cNvPr id="91" name="Google Shape;91;p12"/>
            <p:cNvGrpSpPr/>
            <p:nvPr/>
          </p:nvGrpSpPr>
          <p:grpSpPr>
            <a:xfrm rot="5400000">
              <a:off x="-60886" y="60884"/>
              <a:ext cx="974141" cy="852373"/>
              <a:chOff x="0" y="0"/>
              <a:chExt cx="812800" cy="711200"/>
            </a:xfrm>
          </p:grpSpPr>
          <p:sp>
            <p:nvSpPr>
              <p:cNvPr id="92" name="Google Shape;92;p1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</p:sp>
          <p:sp>
            <p:nvSpPr>
              <p:cNvPr id="93" name="Google Shape;93;p12"/>
              <p:cNvSpPr txBox="1"/>
              <p:nvPr/>
            </p:nvSpPr>
            <p:spPr>
              <a:xfrm>
                <a:off x="127000" y="2921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" name="Google Shape;94;p12"/>
            <p:cNvGrpSpPr/>
            <p:nvPr/>
          </p:nvGrpSpPr>
          <p:grpSpPr>
            <a:xfrm rot="5400000">
              <a:off x="365300" y="60884"/>
              <a:ext cx="974141" cy="852373"/>
              <a:chOff x="0" y="0"/>
              <a:chExt cx="812800" cy="711200"/>
            </a:xfrm>
          </p:grpSpPr>
          <p:sp>
            <p:nvSpPr>
              <p:cNvPr id="95" name="Google Shape;95;p1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</p:sp>
          <p:sp>
            <p:nvSpPr>
              <p:cNvPr id="96" name="Google Shape;96;p12"/>
              <p:cNvSpPr txBox="1"/>
              <p:nvPr/>
            </p:nvSpPr>
            <p:spPr>
              <a:xfrm>
                <a:off x="127000" y="2921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7" name="Google Shape;97;p12"/>
          <p:cNvGrpSpPr/>
          <p:nvPr/>
        </p:nvGrpSpPr>
        <p:grpSpPr>
          <a:xfrm>
            <a:off x="10563141" y="5414203"/>
            <a:ext cx="958919" cy="730606"/>
            <a:chOff x="-2" y="0"/>
            <a:chExt cx="1278559" cy="974141"/>
          </a:xfrm>
        </p:grpSpPr>
        <p:grpSp>
          <p:nvGrpSpPr>
            <p:cNvPr id="98" name="Google Shape;98;p12"/>
            <p:cNvGrpSpPr/>
            <p:nvPr/>
          </p:nvGrpSpPr>
          <p:grpSpPr>
            <a:xfrm rot="5400000">
              <a:off x="-60886" y="60884"/>
              <a:ext cx="974141" cy="852373"/>
              <a:chOff x="0" y="0"/>
              <a:chExt cx="812800" cy="711200"/>
            </a:xfrm>
          </p:grpSpPr>
          <p:sp>
            <p:nvSpPr>
              <p:cNvPr id="99" name="Google Shape;99;p1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</p:sp>
          <p:sp>
            <p:nvSpPr>
              <p:cNvPr id="100" name="Google Shape;100;p12"/>
              <p:cNvSpPr txBox="1"/>
              <p:nvPr/>
            </p:nvSpPr>
            <p:spPr>
              <a:xfrm>
                <a:off x="127000" y="2921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" name="Google Shape;101;p12"/>
            <p:cNvGrpSpPr/>
            <p:nvPr/>
          </p:nvGrpSpPr>
          <p:grpSpPr>
            <a:xfrm rot="5400000">
              <a:off x="365300" y="60884"/>
              <a:ext cx="974141" cy="852373"/>
              <a:chOff x="0" y="0"/>
              <a:chExt cx="812800" cy="711200"/>
            </a:xfrm>
          </p:grpSpPr>
          <p:sp>
            <p:nvSpPr>
              <p:cNvPr id="102" name="Google Shape;102;p1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</p:sp>
          <p:sp>
            <p:nvSpPr>
              <p:cNvPr id="103" name="Google Shape;103;p12"/>
              <p:cNvSpPr txBox="1"/>
              <p:nvPr/>
            </p:nvSpPr>
            <p:spPr>
              <a:xfrm>
                <a:off x="127000" y="2921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4" name="Google Shape;104;p12"/>
          <p:cNvGrpSpPr/>
          <p:nvPr/>
        </p:nvGrpSpPr>
        <p:grpSpPr>
          <a:xfrm>
            <a:off x="14036805" y="5414203"/>
            <a:ext cx="958919" cy="730606"/>
            <a:chOff x="-2" y="0"/>
            <a:chExt cx="1278559" cy="974141"/>
          </a:xfrm>
        </p:grpSpPr>
        <p:grpSp>
          <p:nvGrpSpPr>
            <p:cNvPr id="105" name="Google Shape;105;p12"/>
            <p:cNvGrpSpPr/>
            <p:nvPr/>
          </p:nvGrpSpPr>
          <p:grpSpPr>
            <a:xfrm rot="5400000">
              <a:off x="-60886" y="60884"/>
              <a:ext cx="974141" cy="852373"/>
              <a:chOff x="0" y="0"/>
              <a:chExt cx="812800" cy="711200"/>
            </a:xfrm>
          </p:grpSpPr>
          <p:sp>
            <p:nvSpPr>
              <p:cNvPr id="106" name="Google Shape;106;p1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</p:sp>
          <p:sp>
            <p:nvSpPr>
              <p:cNvPr id="107" name="Google Shape;107;p12"/>
              <p:cNvSpPr txBox="1"/>
              <p:nvPr/>
            </p:nvSpPr>
            <p:spPr>
              <a:xfrm>
                <a:off x="127000" y="2921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" name="Google Shape;108;p12"/>
            <p:cNvGrpSpPr/>
            <p:nvPr/>
          </p:nvGrpSpPr>
          <p:grpSpPr>
            <a:xfrm rot="5400000">
              <a:off x="365300" y="60884"/>
              <a:ext cx="974141" cy="852373"/>
              <a:chOff x="0" y="0"/>
              <a:chExt cx="812800" cy="711200"/>
            </a:xfrm>
          </p:grpSpPr>
          <p:sp>
            <p:nvSpPr>
              <p:cNvPr id="109" name="Google Shape;109;p1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</p:sp>
          <p:sp>
            <p:nvSpPr>
              <p:cNvPr id="110" name="Google Shape;110;p12"/>
              <p:cNvSpPr txBox="1"/>
              <p:nvPr/>
            </p:nvSpPr>
            <p:spPr>
              <a:xfrm>
                <a:off x="127000" y="2921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11" name="Google Shape;11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05425" y="5050304"/>
            <a:ext cx="1532825" cy="1458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1387" y="4989014"/>
            <a:ext cx="1431050" cy="1580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69450" y="4940122"/>
            <a:ext cx="1431075" cy="1678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99938" y="5060251"/>
            <a:ext cx="1859221" cy="14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220200" y="5006750"/>
            <a:ext cx="1532825" cy="1545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3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3"/>
          <p:cNvGrpSpPr/>
          <p:nvPr/>
        </p:nvGrpSpPr>
        <p:grpSpPr>
          <a:xfrm>
            <a:off x="4477007" y="928636"/>
            <a:ext cx="6887956" cy="1688102"/>
            <a:chOff x="0" y="-38100"/>
            <a:chExt cx="1814100" cy="444600"/>
          </a:xfrm>
        </p:grpSpPr>
        <p:sp>
          <p:nvSpPr>
            <p:cNvPr id="118" name="Google Shape;118;p13"/>
            <p:cNvSpPr/>
            <p:nvPr/>
          </p:nvSpPr>
          <p:spPr>
            <a:xfrm>
              <a:off x="0" y="0"/>
              <a:ext cx="1813993" cy="406400"/>
            </a:xfrm>
            <a:custGeom>
              <a:rect b="b" l="l" r="r" t="t"/>
              <a:pathLst>
                <a:path extrusionOk="0" h="406400" w="1813993">
                  <a:moveTo>
                    <a:pt x="57327" y="0"/>
                  </a:moveTo>
                  <a:lnTo>
                    <a:pt x="1756666" y="0"/>
                  </a:lnTo>
                  <a:cubicBezTo>
                    <a:pt x="1788327" y="0"/>
                    <a:pt x="1813993" y="25666"/>
                    <a:pt x="1813993" y="57327"/>
                  </a:cubicBezTo>
                  <a:lnTo>
                    <a:pt x="1813993" y="349073"/>
                  </a:lnTo>
                  <a:cubicBezTo>
                    <a:pt x="1813993" y="380734"/>
                    <a:pt x="1788327" y="406400"/>
                    <a:pt x="1756666" y="406400"/>
                  </a:cubicBezTo>
                  <a:lnTo>
                    <a:pt x="57327" y="406400"/>
                  </a:lnTo>
                  <a:cubicBezTo>
                    <a:pt x="25666" y="406400"/>
                    <a:pt x="0" y="380734"/>
                    <a:pt x="0" y="349073"/>
                  </a:cubicBezTo>
                  <a:lnTo>
                    <a:pt x="0" y="57327"/>
                  </a:lnTo>
                  <a:cubicBezTo>
                    <a:pt x="0" y="25666"/>
                    <a:pt x="25666" y="0"/>
                    <a:pt x="57327" y="0"/>
                  </a:cubicBezTo>
                  <a:close/>
                </a:path>
              </a:pathLst>
            </a:custGeom>
            <a:solidFill>
              <a:srgbClr val="735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3"/>
            <p:cNvSpPr txBox="1"/>
            <p:nvPr/>
          </p:nvSpPr>
          <p:spPr>
            <a:xfrm>
              <a:off x="0" y="-38100"/>
              <a:ext cx="18141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13"/>
          <p:cNvGrpSpPr/>
          <p:nvPr/>
        </p:nvGrpSpPr>
        <p:grpSpPr>
          <a:xfrm>
            <a:off x="2635517" y="1028700"/>
            <a:ext cx="1632265" cy="1632265"/>
            <a:chOff x="0" y="0"/>
            <a:chExt cx="812800" cy="812800"/>
          </a:xfrm>
        </p:grpSpPr>
        <p:sp>
          <p:nvSpPr>
            <p:cNvPr id="121" name="Google Shape;121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5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3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3"/>
          <p:cNvGrpSpPr/>
          <p:nvPr/>
        </p:nvGrpSpPr>
        <p:grpSpPr>
          <a:xfrm>
            <a:off x="6727603" y="2929375"/>
            <a:ext cx="6887956" cy="1688102"/>
            <a:chOff x="0" y="-38100"/>
            <a:chExt cx="1814100" cy="444600"/>
          </a:xfrm>
        </p:grpSpPr>
        <p:sp>
          <p:nvSpPr>
            <p:cNvPr id="124" name="Google Shape;124;p13"/>
            <p:cNvSpPr/>
            <p:nvPr/>
          </p:nvSpPr>
          <p:spPr>
            <a:xfrm>
              <a:off x="0" y="0"/>
              <a:ext cx="1813993" cy="406400"/>
            </a:xfrm>
            <a:custGeom>
              <a:rect b="b" l="l" r="r" t="t"/>
              <a:pathLst>
                <a:path extrusionOk="0" h="406400" w="1813993">
                  <a:moveTo>
                    <a:pt x="57327" y="0"/>
                  </a:moveTo>
                  <a:lnTo>
                    <a:pt x="1756666" y="0"/>
                  </a:lnTo>
                  <a:cubicBezTo>
                    <a:pt x="1788327" y="0"/>
                    <a:pt x="1813993" y="25666"/>
                    <a:pt x="1813993" y="57327"/>
                  </a:cubicBezTo>
                  <a:lnTo>
                    <a:pt x="1813993" y="349073"/>
                  </a:lnTo>
                  <a:cubicBezTo>
                    <a:pt x="1813993" y="380734"/>
                    <a:pt x="1788327" y="406400"/>
                    <a:pt x="1756666" y="406400"/>
                  </a:cubicBezTo>
                  <a:lnTo>
                    <a:pt x="57327" y="406400"/>
                  </a:lnTo>
                  <a:cubicBezTo>
                    <a:pt x="25666" y="406400"/>
                    <a:pt x="0" y="380734"/>
                    <a:pt x="0" y="349073"/>
                  </a:cubicBezTo>
                  <a:lnTo>
                    <a:pt x="0" y="57327"/>
                  </a:lnTo>
                  <a:cubicBezTo>
                    <a:pt x="0" y="25666"/>
                    <a:pt x="25666" y="0"/>
                    <a:pt x="57327" y="0"/>
                  </a:cubicBezTo>
                  <a:close/>
                </a:path>
              </a:pathLst>
            </a:custGeom>
            <a:solidFill>
              <a:srgbClr val="FDB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3"/>
            <p:cNvSpPr txBox="1"/>
            <p:nvPr/>
          </p:nvSpPr>
          <p:spPr>
            <a:xfrm>
              <a:off x="0" y="-38100"/>
              <a:ext cx="18141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13"/>
          <p:cNvGrpSpPr/>
          <p:nvPr/>
        </p:nvGrpSpPr>
        <p:grpSpPr>
          <a:xfrm>
            <a:off x="4886114" y="3029438"/>
            <a:ext cx="1632265" cy="1632265"/>
            <a:chOff x="0" y="0"/>
            <a:chExt cx="812800" cy="812800"/>
          </a:xfrm>
        </p:grpSpPr>
        <p:sp>
          <p:nvSpPr>
            <p:cNvPr id="127" name="Google Shape;127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B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3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p13"/>
          <p:cNvSpPr/>
          <p:nvPr/>
        </p:nvSpPr>
        <p:spPr>
          <a:xfrm flipH="1">
            <a:off x="13287665" y="627661"/>
            <a:ext cx="4751152" cy="4803554"/>
          </a:xfrm>
          <a:custGeom>
            <a:rect b="b" l="l" r="r" t="t"/>
            <a:pathLst>
              <a:path extrusionOk="0" h="4803554" w="4751152">
                <a:moveTo>
                  <a:pt x="4751152" y="0"/>
                </a:moveTo>
                <a:lnTo>
                  <a:pt x="0" y="0"/>
                </a:lnTo>
                <a:lnTo>
                  <a:pt x="0" y="4803554"/>
                </a:lnTo>
                <a:lnTo>
                  <a:pt x="4751152" y="4803554"/>
                </a:lnTo>
                <a:lnTo>
                  <a:pt x="4751152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0" name="Google Shape;130;p13"/>
          <p:cNvGrpSpPr/>
          <p:nvPr/>
        </p:nvGrpSpPr>
        <p:grpSpPr>
          <a:xfrm>
            <a:off x="8841503" y="5084492"/>
            <a:ext cx="6887956" cy="1688102"/>
            <a:chOff x="0" y="-38100"/>
            <a:chExt cx="1814100" cy="444600"/>
          </a:xfrm>
        </p:grpSpPr>
        <p:sp>
          <p:nvSpPr>
            <p:cNvPr id="131" name="Google Shape;131;p13"/>
            <p:cNvSpPr/>
            <p:nvPr/>
          </p:nvSpPr>
          <p:spPr>
            <a:xfrm>
              <a:off x="0" y="0"/>
              <a:ext cx="1813993" cy="406400"/>
            </a:xfrm>
            <a:custGeom>
              <a:rect b="b" l="l" r="r" t="t"/>
              <a:pathLst>
                <a:path extrusionOk="0" h="406400" w="1813993">
                  <a:moveTo>
                    <a:pt x="57327" y="0"/>
                  </a:moveTo>
                  <a:lnTo>
                    <a:pt x="1756666" y="0"/>
                  </a:lnTo>
                  <a:cubicBezTo>
                    <a:pt x="1788327" y="0"/>
                    <a:pt x="1813993" y="25666"/>
                    <a:pt x="1813993" y="57327"/>
                  </a:cubicBezTo>
                  <a:lnTo>
                    <a:pt x="1813993" y="349073"/>
                  </a:lnTo>
                  <a:cubicBezTo>
                    <a:pt x="1813993" y="380734"/>
                    <a:pt x="1788327" y="406400"/>
                    <a:pt x="1756666" y="406400"/>
                  </a:cubicBezTo>
                  <a:lnTo>
                    <a:pt x="57327" y="406400"/>
                  </a:lnTo>
                  <a:cubicBezTo>
                    <a:pt x="25666" y="406400"/>
                    <a:pt x="0" y="380734"/>
                    <a:pt x="0" y="349073"/>
                  </a:cubicBezTo>
                  <a:lnTo>
                    <a:pt x="0" y="57327"/>
                  </a:lnTo>
                  <a:cubicBezTo>
                    <a:pt x="0" y="25666"/>
                    <a:pt x="25666" y="0"/>
                    <a:pt x="57327" y="0"/>
                  </a:cubicBezTo>
                  <a:close/>
                </a:path>
              </a:pathLst>
            </a:custGeom>
            <a:solidFill>
              <a:srgbClr val="D75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3"/>
            <p:cNvSpPr txBox="1"/>
            <p:nvPr/>
          </p:nvSpPr>
          <p:spPr>
            <a:xfrm>
              <a:off x="0" y="-38100"/>
              <a:ext cx="18141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13"/>
          <p:cNvGrpSpPr/>
          <p:nvPr/>
        </p:nvGrpSpPr>
        <p:grpSpPr>
          <a:xfrm>
            <a:off x="7000013" y="5184556"/>
            <a:ext cx="1632265" cy="1632265"/>
            <a:chOff x="0" y="0"/>
            <a:chExt cx="812800" cy="812800"/>
          </a:xfrm>
        </p:grpSpPr>
        <p:sp>
          <p:nvSpPr>
            <p:cNvPr id="134" name="Google Shape;134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5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3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3"/>
          <p:cNvGrpSpPr/>
          <p:nvPr/>
        </p:nvGrpSpPr>
        <p:grpSpPr>
          <a:xfrm>
            <a:off x="10634590" y="7240614"/>
            <a:ext cx="6887956" cy="1688102"/>
            <a:chOff x="0" y="-38100"/>
            <a:chExt cx="1814100" cy="444600"/>
          </a:xfrm>
        </p:grpSpPr>
        <p:sp>
          <p:nvSpPr>
            <p:cNvPr id="137" name="Google Shape;137;p13"/>
            <p:cNvSpPr/>
            <p:nvPr/>
          </p:nvSpPr>
          <p:spPr>
            <a:xfrm>
              <a:off x="0" y="0"/>
              <a:ext cx="1813993" cy="406400"/>
            </a:xfrm>
            <a:custGeom>
              <a:rect b="b" l="l" r="r" t="t"/>
              <a:pathLst>
                <a:path extrusionOk="0" h="406400" w="1813993">
                  <a:moveTo>
                    <a:pt x="57327" y="0"/>
                  </a:moveTo>
                  <a:lnTo>
                    <a:pt x="1756666" y="0"/>
                  </a:lnTo>
                  <a:cubicBezTo>
                    <a:pt x="1788327" y="0"/>
                    <a:pt x="1813993" y="25666"/>
                    <a:pt x="1813993" y="57327"/>
                  </a:cubicBezTo>
                  <a:lnTo>
                    <a:pt x="1813993" y="349073"/>
                  </a:lnTo>
                  <a:cubicBezTo>
                    <a:pt x="1813993" y="380734"/>
                    <a:pt x="1788327" y="406400"/>
                    <a:pt x="1756666" y="406400"/>
                  </a:cubicBezTo>
                  <a:lnTo>
                    <a:pt x="57327" y="406400"/>
                  </a:lnTo>
                  <a:cubicBezTo>
                    <a:pt x="25666" y="406400"/>
                    <a:pt x="0" y="380734"/>
                    <a:pt x="0" y="349073"/>
                  </a:cubicBezTo>
                  <a:lnTo>
                    <a:pt x="0" y="57327"/>
                  </a:lnTo>
                  <a:cubicBezTo>
                    <a:pt x="0" y="25666"/>
                    <a:pt x="25666" y="0"/>
                    <a:pt x="57327" y="0"/>
                  </a:cubicBezTo>
                  <a:close/>
                </a:path>
              </a:pathLst>
            </a:custGeom>
            <a:solidFill>
              <a:srgbClr val="FE80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3"/>
            <p:cNvSpPr txBox="1"/>
            <p:nvPr/>
          </p:nvSpPr>
          <p:spPr>
            <a:xfrm>
              <a:off x="0" y="-38100"/>
              <a:ext cx="18141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3"/>
          <p:cNvGrpSpPr/>
          <p:nvPr/>
        </p:nvGrpSpPr>
        <p:grpSpPr>
          <a:xfrm>
            <a:off x="8793101" y="7340678"/>
            <a:ext cx="1632265" cy="1632265"/>
            <a:chOff x="0" y="0"/>
            <a:chExt cx="812800" cy="812800"/>
          </a:xfrm>
        </p:grpSpPr>
        <p:sp>
          <p:nvSpPr>
            <p:cNvPr id="140" name="Google Shape;140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80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3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p13"/>
          <p:cNvSpPr/>
          <p:nvPr/>
        </p:nvSpPr>
        <p:spPr>
          <a:xfrm flipH="1">
            <a:off x="-111451" y="5184556"/>
            <a:ext cx="5813688" cy="5285171"/>
          </a:xfrm>
          <a:custGeom>
            <a:rect b="b" l="l" r="r" t="t"/>
            <a:pathLst>
              <a:path extrusionOk="0" h="5285171" w="5813688">
                <a:moveTo>
                  <a:pt x="5813689" y="0"/>
                </a:moveTo>
                <a:lnTo>
                  <a:pt x="0" y="0"/>
                </a:lnTo>
                <a:lnTo>
                  <a:pt x="0" y="5285171"/>
                </a:lnTo>
                <a:lnTo>
                  <a:pt x="5813689" y="5285171"/>
                </a:lnTo>
                <a:lnTo>
                  <a:pt x="58136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5">
  <p:cSld name="CUSTOM_4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p14"/>
          <p:cNvCxnSpPr/>
          <p:nvPr/>
        </p:nvCxnSpPr>
        <p:spPr>
          <a:xfrm rot="10800000">
            <a:off x="1120683" y="1599237"/>
            <a:ext cx="0" cy="7027200"/>
          </a:xfrm>
          <a:prstGeom prst="straightConnector1">
            <a:avLst/>
          </a:prstGeom>
          <a:noFill/>
          <a:ln cap="flat" cmpd="sng" w="95250">
            <a:solidFill>
              <a:srgbClr val="735FE4"/>
            </a:solidFill>
            <a:prstDash val="lgDash"/>
            <a:round/>
            <a:headEnd len="sm" w="sm" type="none"/>
            <a:tailEnd len="sm" w="sm" type="none"/>
          </a:ln>
        </p:spPr>
      </p:cxnSp>
      <p:cxnSp>
        <p:nvCxnSpPr>
          <p:cNvPr id="145" name="Google Shape;145;p14"/>
          <p:cNvCxnSpPr/>
          <p:nvPr/>
        </p:nvCxnSpPr>
        <p:spPr>
          <a:xfrm rot="10800000">
            <a:off x="8195543" y="2548436"/>
            <a:ext cx="0" cy="6078000"/>
          </a:xfrm>
          <a:prstGeom prst="straightConnector1">
            <a:avLst/>
          </a:prstGeom>
          <a:noFill/>
          <a:ln cap="flat" cmpd="sng" w="95250">
            <a:solidFill>
              <a:srgbClr val="FDBD00"/>
            </a:solidFill>
            <a:prstDash val="lgDash"/>
            <a:round/>
            <a:headEnd len="sm" w="sm" type="none"/>
            <a:tailEnd len="sm" w="sm" type="none"/>
          </a:ln>
        </p:spPr>
      </p:cxnSp>
      <p:grpSp>
        <p:nvGrpSpPr>
          <p:cNvPr id="146" name="Google Shape;146;p14"/>
          <p:cNvGrpSpPr/>
          <p:nvPr/>
        </p:nvGrpSpPr>
        <p:grpSpPr>
          <a:xfrm>
            <a:off x="1073058" y="8047385"/>
            <a:ext cx="2268598" cy="1031363"/>
            <a:chOff x="0" y="-169229"/>
            <a:chExt cx="3024798" cy="1375150"/>
          </a:xfrm>
        </p:grpSpPr>
        <p:grpSp>
          <p:nvGrpSpPr>
            <p:cNvPr id="147" name="Google Shape;147;p14"/>
            <p:cNvGrpSpPr/>
            <p:nvPr/>
          </p:nvGrpSpPr>
          <p:grpSpPr>
            <a:xfrm>
              <a:off x="0" y="-169229"/>
              <a:ext cx="3024798" cy="1375150"/>
              <a:chOff x="0" y="-38100"/>
              <a:chExt cx="681000" cy="309600"/>
            </a:xfrm>
          </p:grpSpPr>
          <p:sp>
            <p:nvSpPr>
              <p:cNvPr id="148" name="Google Shape;148;p14"/>
              <p:cNvSpPr/>
              <p:nvPr/>
            </p:nvSpPr>
            <p:spPr>
              <a:xfrm>
                <a:off x="0" y="0"/>
                <a:ext cx="680930" cy="271443"/>
              </a:xfrm>
              <a:custGeom>
                <a:rect b="b" l="l" r="r" t="t"/>
                <a:pathLst>
                  <a:path extrusionOk="0" h="271443" w="680930">
                    <a:moveTo>
                      <a:pt x="135721" y="0"/>
                    </a:moveTo>
                    <a:lnTo>
                      <a:pt x="545209" y="0"/>
                    </a:lnTo>
                    <a:cubicBezTo>
                      <a:pt x="581204" y="0"/>
                      <a:pt x="615726" y="14299"/>
                      <a:pt x="641178" y="39752"/>
                    </a:cubicBezTo>
                    <a:cubicBezTo>
                      <a:pt x="666631" y="65205"/>
                      <a:pt x="680930" y="99726"/>
                      <a:pt x="680930" y="135721"/>
                    </a:cubicBezTo>
                    <a:lnTo>
                      <a:pt x="680930" y="135721"/>
                    </a:lnTo>
                    <a:cubicBezTo>
                      <a:pt x="680930" y="171717"/>
                      <a:pt x="666631" y="206238"/>
                      <a:pt x="641178" y="231691"/>
                    </a:cubicBezTo>
                    <a:cubicBezTo>
                      <a:pt x="615726" y="257144"/>
                      <a:pt x="581204" y="271443"/>
                      <a:pt x="545209" y="271443"/>
                    </a:cubicBezTo>
                    <a:lnTo>
                      <a:pt x="135721" y="271443"/>
                    </a:lnTo>
                    <a:cubicBezTo>
                      <a:pt x="99726" y="271443"/>
                      <a:pt x="65205" y="257144"/>
                      <a:pt x="39752" y="231691"/>
                    </a:cubicBezTo>
                    <a:cubicBezTo>
                      <a:pt x="14299" y="206238"/>
                      <a:pt x="0" y="171717"/>
                      <a:pt x="0" y="135721"/>
                    </a:cubicBezTo>
                    <a:lnTo>
                      <a:pt x="0" y="135721"/>
                    </a:lnTo>
                    <a:cubicBezTo>
                      <a:pt x="0" y="99726"/>
                      <a:pt x="14299" y="65205"/>
                      <a:pt x="39752" y="39752"/>
                    </a:cubicBezTo>
                    <a:cubicBezTo>
                      <a:pt x="65205" y="14299"/>
                      <a:pt x="99726" y="0"/>
                      <a:pt x="1357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14"/>
              <p:cNvSpPr txBox="1"/>
              <p:nvPr/>
            </p:nvSpPr>
            <p:spPr>
              <a:xfrm>
                <a:off x="0" y="-38100"/>
                <a:ext cx="681000" cy="3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0" name="Google Shape;150;p14"/>
            <p:cNvSpPr txBox="1"/>
            <p:nvPr/>
          </p:nvSpPr>
          <p:spPr>
            <a:xfrm>
              <a:off x="223133" y="265776"/>
              <a:ext cx="2578200" cy="6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400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58"/>
                <a:buFont typeface="Arial"/>
                <a:buNone/>
              </a:pPr>
              <a:r>
                <a:rPr b="1" i="0" lang="en-US" sz="3158" u="none" cap="none" strike="noStrike">
                  <a:solidFill>
                    <a:srgbClr val="060631"/>
                  </a:solidFill>
                  <a:latin typeface="Lora"/>
                  <a:ea typeface="Lora"/>
                  <a:cs typeface="Lora"/>
                  <a:sym typeface="Lora"/>
                </a:rPr>
                <a:t>Mon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14"/>
          <p:cNvGrpSpPr/>
          <p:nvPr/>
        </p:nvGrpSpPr>
        <p:grpSpPr>
          <a:xfrm>
            <a:off x="3400093" y="8047385"/>
            <a:ext cx="2268598" cy="1031363"/>
            <a:chOff x="0" y="-169229"/>
            <a:chExt cx="3024798" cy="1375150"/>
          </a:xfrm>
        </p:grpSpPr>
        <p:grpSp>
          <p:nvGrpSpPr>
            <p:cNvPr id="152" name="Google Shape;152;p14"/>
            <p:cNvGrpSpPr/>
            <p:nvPr/>
          </p:nvGrpSpPr>
          <p:grpSpPr>
            <a:xfrm>
              <a:off x="0" y="-169229"/>
              <a:ext cx="3024798" cy="1375150"/>
              <a:chOff x="0" y="-38100"/>
              <a:chExt cx="681000" cy="309600"/>
            </a:xfrm>
          </p:grpSpPr>
          <p:sp>
            <p:nvSpPr>
              <p:cNvPr id="153" name="Google Shape;153;p14"/>
              <p:cNvSpPr/>
              <p:nvPr/>
            </p:nvSpPr>
            <p:spPr>
              <a:xfrm>
                <a:off x="0" y="0"/>
                <a:ext cx="680930" cy="271443"/>
              </a:xfrm>
              <a:custGeom>
                <a:rect b="b" l="l" r="r" t="t"/>
                <a:pathLst>
                  <a:path extrusionOk="0" h="271443" w="680930">
                    <a:moveTo>
                      <a:pt x="135721" y="0"/>
                    </a:moveTo>
                    <a:lnTo>
                      <a:pt x="545209" y="0"/>
                    </a:lnTo>
                    <a:cubicBezTo>
                      <a:pt x="581204" y="0"/>
                      <a:pt x="615726" y="14299"/>
                      <a:pt x="641178" y="39752"/>
                    </a:cubicBezTo>
                    <a:cubicBezTo>
                      <a:pt x="666631" y="65205"/>
                      <a:pt x="680930" y="99726"/>
                      <a:pt x="680930" y="135721"/>
                    </a:cubicBezTo>
                    <a:lnTo>
                      <a:pt x="680930" y="135721"/>
                    </a:lnTo>
                    <a:cubicBezTo>
                      <a:pt x="680930" y="171717"/>
                      <a:pt x="666631" y="206238"/>
                      <a:pt x="641178" y="231691"/>
                    </a:cubicBezTo>
                    <a:cubicBezTo>
                      <a:pt x="615726" y="257144"/>
                      <a:pt x="581204" y="271443"/>
                      <a:pt x="545209" y="271443"/>
                    </a:cubicBezTo>
                    <a:lnTo>
                      <a:pt x="135721" y="271443"/>
                    </a:lnTo>
                    <a:cubicBezTo>
                      <a:pt x="99726" y="271443"/>
                      <a:pt x="65205" y="257144"/>
                      <a:pt x="39752" y="231691"/>
                    </a:cubicBezTo>
                    <a:cubicBezTo>
                      <a:pt x="14299" y="206238"/>
                      <a:pt x="0" y="171717"/>
                      <a:pt x="0" y="135721"/>
                    </a:cubicBezTo>
                    <a:lnTo>
                      <a:pt x="0" y="135721"/>
                    </a:lnTo>
                    <a:cubicBezTo>
                      <a:pt x="0" y="99726"/>
                      <a:pt x="14299" y="65205"/>
                      <a:pt x="39752" y="39752"/>
                    </a:cubicBezTo>
                    <a:cubicBezTo>
                      <a:pt x="65205" y="14299"/>
                      <a:pt x="99726" y="0"/>
                      <a:pt x="1357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14"/>
              <p:cNvSpPr txBox="1"/>
              <p:nvPr/>
            </p:nvSpPr>
            <p:spPr>
              <a:xfrm>
                <a:off x="0" y="-38100"/>
                <a:ext cx="681000" cy="3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5" name="Google Shape;155;p14"/>
            <p:cNvSpPr txBox="1"/>
            <p:nvPr/>
          </p:nvSpPr>
          <p:spPr>
            <a:xfrm>
              <a:off x="223133" y="265776"/>
              <a:ext cx="2578200" cy="6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400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58"/>
                <a:buFont typeface="Arial"/>
                <a:buNone/>
              </a:pPr>
              <a:r>
                <a:rPr b="1" i="0" lang="en-US" sz="3158" u="none" cap="none" strike="noStrike">
                  <a:solidFill>
                    <a:srgbClr val="060631"/>
                  </a:solidFill>
                  <a:latin typeface="Lora"/>
                  <a:ea typeface="Lora"/>
                  <a:cs typeface="Lora"/>
                  <a:sym typeface="Lora"/>
                </a:rPr>
                <a:t>Tue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" name="Google Shape;156;p14"/>
          <p:cNvGrpSpPr/>
          <p:nvPr/>
        </p:nvGrpSpPr>
        <p:grpSpPr>
          <a:xfrm>
            <a:off x="5727128" y="8047385"/>
            <a:ext cx="2268598" cy="1031363"/>
            <a:chOff x="0" y="-169229"/>
            <a:chExt cx="3024798" cy="1375150"/>
          </a:xfrm>
        </p:grpSpPr>
        <p:grpSp>
          <p:nvGrpSpPr>
            <p:cNvPr id="157" name="Google Shape;157;p14"/>
            <p:cNvGrpSpPr/>
            <p:nvPr/>
          </p:nvGrpSpPr>
          <p:grpSpPr>
            <a:xfrm>
              <a:off x="0" y="-169229"/>
              <a:ext cx="3024798" cy="1375150"/>
              <a:chOff x="0" y="-38100"/>
              <a:chExt cx="681000" cy="309600"/>
            </a:xfrm>
          </p:grpSpPr>
          <p:sp>
            <p:nvSpPr>
              <p:cNvPr id="158" name="Google Shape;158;p14"/>
              <p:cNvSpPr/>
              <p:nvPr/>
            </p:nvSpPr>
            <p:spPr>
              <a:xfrm>
                <a:off x="0" y="0"/>
                <a:ext cx="680930" cy="271443"/>
              </a:xfrm>
              <a:custGeom>
                <a:rect b="b" l="l" r="r" t="t"/>
                <a:pathLst>
                  <a:path extrusionOk="0" h="271443" w="680930">
                    <a:moveTo>
                      <a:pt x="135721" y="0"/>
                    </a:moveTo>
                    <a:lnTo>
                      <a:pt x="545209" y="0"/>
                    </a:lnTo>
                    <a:cubicBezTo>
                      <a:pt x="581204" y="0"/>
                      <a:pt x="615726" y="14299"/>
                      <a:pt x="641178" y="39752"/>
                    </a:cubicBezTo>
                    <a:cubicBezTo>
                      <a:pt x="666631" y="65205"/>
                      <a:pt x="680930" y="99726"/>
                      <a:pt x="680930" y="135721"/>
                    </a:cubicBezTo>
                    <a:lnTo>
                      <a:pt x="680930" y="135721"/>
                    </a:lnTo>
                    <a:cubicBezTo>
                      <a:pt x="680930" y="171717"/>
                      <a:pt x="666631" y="206238"/>
                      <a:pt x="641178" y="231691"/>
                    </a:cubicBezTo>
                    <a:cubicBezTo>
                      <a:pt x="615726" y="257144"/>
                      <a:pt x="581204" y="271443"/>
                      <a:pt x="545209" y="271443"/>
                    </a:cubicBezTo>
                    <a:lnTo>
                      <a:pt x="135721" y="271443"/>
                    </a:lnTo>
                    <a:cubicBezTo>
                      <a:pt x="99726" y="271443"/>
                      <a:pt x="65205" y="257144"/>
                      <a:pt x="39752" y="231691"/>
                    </a:cubicBezTo>
                    <a:cubicBezTo>
                      <a:pt x="14299" y="206238"/>
                      <a:pt x="0" y="171717"/>
                      <a:pt x="0" y="135721"/>
                    </a:cubicBezTo>
                    <a:lnTo>
                      <a:pt x="0" y="135721"/>
                    </a:lnTo>
                    <a:cubicBezTo>
                      <a:pt x="0" y="99726"/>
                      <a:pt x="14299" y="65205"/>
                      <a:pt x="39752" y="39752"/>
                    </a:cubicBezTo>
                    <a:cubicBezTo>
                      <a:pt x="65205" y="14299"/>
                      <a:pt x="99726" y="0"/>
                      <a:pt x="1357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14"/>
              <p:cNvSpPr txBox="1"/>
              <p:nvPr/>
            </p:nvSpPr>
            <p:spPr>
              <a:xfrm>
                <a:off x="0" y="-38100"/>
                <a:ext cx="681000" cy="3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0" name="Google Shape;160;p14"/>
            <p:cNvSpPr txBox="1"/>
            <p:nvPr/>
          </p:nvSpPr>
          <p:spPr>
            <a:xfrm>
              <a:off x="223133" y="265776"/>
              <a:ext cx="2578200" cy="6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400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58"/>
                <a:buFont typeface="Arial"/>
                <a:buNone/>
              </a:pPr>
              <a:r>
                <a:rPr b="1" i="0" lang="en-US" sz="3158" u="none" cap="none" strike="noStrike">
                  <a:solidFill>
                    <a:srgbClr val="060631"/>
                  </a:solidFill>
                  <a:latin typeface="Lora"/>
                  <a:ea typeface="Lora"/>
                  <a:cs typeface="Lora"/>
                  <a:sym typeface="Lora"/>
                </a:rPr>
                <a:t>Wed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" name="Google Shape;161;p14"/>
          <p:cNvGrpSpPr/>
          <p:nvPr/>
        </p:nvGrpSpPr>
        <p:grpSpPr>
          <a:xfrm>
            <a:off x="8054163" y="8047385"/>
            <a:ext cx="2268598" cy="1031363"/>
            <a:chOff x="0" y="-169229"/>
            <a:chExt cx="3024798" cy="1375150"/>
          </a:xfrm>
        </p:grpSpPr>
        <p:grpSp>
          <p:nvGrpSpPr>
            <p:cNvPr id="162" name="Google Shape;162;p14"/>
            <p:cNvGrpSpPr/>
            <p:nvPr/>
          </p:nvGrpSpPr>
          <p:grpSpPr>
            <a:xfrm>
              <a:off x="0" y="-169229"/>
              <a:ext cx="3024798" cy="1375150"/>
              <a:chOff x="0" y="-38100"/>
              <a:chExt cx="681000" cy="309600"/>
            </a:xfrm>
          </p:grpSpPr>
          <p:sp>
            <p:nvSpPr>
              <p:cNvPr id="163" name="Google Shape;163;p14"/>
              <p:cNvSpPr/>
              <p:nvPr/>
            </p:nvSpPr>
            <p:spPr>
              <a:xfrm>
                <a:off x="0" y="0"/>
                <a:ext cx="680930" cy="271443"/>
              </a:xfrm>
              <a:custGeom>
                <a:rect b="b" l="l" r="r" t="t"/>
                <a:pathLst>
                  <a:path extrusionOk="0" h="271443" w="680930">
                    <a:moveTo>
                      <a:pt x="135721" y="0"/>
                    </a:moveTo>
                    <a:lnTo>
                      <a:pt x="545209" y="0"/>
                    </a:lnTo>
                    <a:cubicBezTo>
                      <a:pt x="581204" y="0"/>
                      <a:pt x="615726" y="14299"/>
                      <a:pt x="641178" y="39752"/>
                    </a:cubicBezTo>
                    <a:cubicBezTo>
                      <a:pt x="666631" y="65205"/>
                      <a:pt x="680930" y="99726"/>
                      <a:pt x="680930" y="135721"/>
                    </a:cubicBezTo>
                    <a:lnTo>
                      <a:pt x="680930" y="135721"/>
                    </a:lnTo>
                    <a:cubicBezTo>
                      <a:pt x="680930" y="171717"/>
                      <a:pt x="666631" y="206238"/>
                      <a:pt x="641178" y="231691"/>
                    </a:cubicBezTo>
                    <a:cubicBezTo>
                      <a:pt x="615726" y="257144"/>
                      <a:pt x="581204" y="271443"/>
                      <a:pt x="545209" y="271443"/>
                    </a:cubicBezTo>
                    <a:lnTo>
                      <a:pt x="135721" y="271443"/>
                    </a:lnTo>
                    <a:cubicBezTo>
                      <a:pt x="99726" y="271443"/>
                      <a:pt x="65205" y="257144"/>
                      <a:pt x="39752" y="231691"/>
                    </a:cubicBezTo>
                    <a:cubicBezTo>
                      <a:pt x="14299" y="206238"/>
                      <a:pt x="0" y="171717"/>
                      <a:pt x="0" y="135721"/>
                    </a:cubicBezTo>
                    <a:lnTo>
                      <a:pt x="0" y="135721"/>
                    </a:lnTo>
                    <a:cubicBezTo>
                      <a:pt x="0" y="99726"/>
                      <a:pt x="14299" y="65205"/>
                      <a:pt x="39752" y="39752"/>
                    </a:cubicBezTo>
                    <a:cubicBezTo>
                      <a:pt x="65205" y="14299"/>
                      <a:pt x="99726" y="0"/>
                      <a:pt x="1357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14"/>
              <p:cNvSpPr txBox="1"/>
              <p:nvPr/>
            </p:nvSpPr>
            <p:spPr>
              <a:xfrm>
                <a:off x="0" y="-38100"/>
                <a:ext cx="681000" cy="3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5" name="Google Shape;165;p14"/>
            <p:cNvSpPr txBox="1"/>
            <p:nvPr/>
          </p:nvSpPr>
          <p:spPr>
            <a:xfrm>
              <a:off x="223133" y="265776"/>
              <a:ext cx="2578200" cy="6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400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58"/>
                <a:buFont typeface="Arial"/>
                <a:buNone/>
              </a:pPr>
              <a:r>
                <a:rPr b="1" i="0" lang="en-US" sz="3158" u="none" cap="none" strike="noStrike">
                  <a:solidFill>
                    <a:srgbClr val="060631"/>
                  </a:solidFill>
                  <a:latin typeface="Lora"/>
                  <a:ea typeface="Lora"/>
                  <a:cs typeface="Lora"/>
                  <a:sym typeface="Lora"/>
                </a:rPr>
                <a:t>Thu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14"/>
          <p:cNvGrpSpPr/>
          <p:nvPr/>
        </p:nvGrpSpPr>
        <p:grpSpPr>
          <a:xfrm>
            <a:off x="10381198" y="8047385"/>
            <a:ext cx="2268598" cy="1031363"/>
            <a:chOff x="0" y="-169229"/>
            <a:chExt cx="3024798" cy="1375150"/>
          </a:xfrm>
        </p:grpSpPr>
        <p:grpSp>
          <p:nvGrpSpPr>
            <p:cNvPr id="167" name="Google Shape;167;p14"/>
            <p:cNvGrpSpPr/>
            <p:nvPr/>
          </p:nvGrpSpPr>
          <p:grpSpPr>
            <a:xfrm>
              <a:off x="0" y="-169229"/>
              <a:ext cx="3024798" cy="1375150"/>
              <a:chOff x="0" y="-38100"/>
              <a:chExt cx="681000" cy="309600"/>
            </a:xfrm>
          </p:grpSpPr>
          <p:sp>
            <p:nvSpPr>
              <p:cNvPr id="168" name="Google Shape;168;p14"/>
              <p:cNvSpPr/>
              <p:nvPr/>
            </p:nvSpPr>
            <p:spPr>
              <a:xfrm>
                <a:off x="0" y="0"/>
                <a:ext cx="680930" cy="271443"/>
              </a:xfrm>
              <a:custGeom>
                <a:rect b="b" l="l" r="r" t="t"/>
                <a:pathLst>
                  <a:path extrusionOk="0" h="271443" w="680930">
                    <a:moveTo>
                      <a:pt x="135721" y="0"/>
                    </a:moveTo>
                    <a:lnTo>
                      <a:pt x="545209" y="0"/>
                    </a:lnTo>
                    <a:cubicBezTo>
                      <a:pt x="581204" y="0"/>
                      <a:pt x="615726" y="14299"/>
                      <a:pt x="641178" y="39752"/>
                    </a:cubicBezTo>
                    <a:cubicBezTo>
                      <a:pt x="666631" y="65205"/>
                      <a:pt x="680930" y="99726"/>
                      <a:pt x="680930" y="135721"/>
                    </a:cubicBezTo>
                    <a:lnTo>
                      <a:pt x="680930" y="135721"/>
                    </a:lnTo>
                    <a:cubicBezTo>
                      <a:pt x="680930" y="171717"/>
                      <a:pt x="666631" y="206238"/>
                      <a:pt x="641178" y="231691"/>
                    </a:cubicBezTo>
                    <a:cubicBezTo>
                      <a:pt x="615726" y="257144"/>
                      <a:pt x="581204" y="271443"/>
                      <a:pt x="545209" y="271443"/>
                    </a:cubicBezTo>
                    <a:lnTo>
                      <a:pt x="135721" y="271443"/>
                    </a:lnTo>
                    <a:cubicBezTo>
                      <a:pt x="99726" y="271443"/>
                      <a:pt x="65205" y="257144"/>
                      <a:pt x="39752" y="231691"/>
                    </a:cubicBezTo>
                    <a:cubicBezTo>
                      <a:pt x="14299" y="206238"/>
                      <a:pt x="0" y="171717"/>
                      <a:pt x="0" y="135721"/>
                    </a:cubicBezTo>
                    <a:lnTo>
                      <a:pt x="0" y="135721"/>
                    </a:lnTo>
                    <a:cubicBezTo>
                      <a:pt x="0" y="99726"/>
                      <a:pt x="14299" y="65205"/>
                      <a:pt x="39752" y="39752"/>
                    </a:cubicBezTo>
                    <a:cubicBezTo>
                      <a:pt x="65205" y="14299"/>
                      <a:pt x="99726" y="0"/>
                      <a:pt x="1357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4"/>
              <p:cNvSpPr txBox="1"/>
              <p:nvPr/>
            </p:nvSpPr>
            <p:spPr>
              <a:xfrm>
                <a:off x="0" y="-38100"/>
                <a:ext cx="681000" cy="3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0" name="Google Shape;170;p14"/>
            <p:cNvSpPr txBox="1"/>
            <p:nvPr/>
          </p:nvSpPr>
          <p:spPr>
            <a:xfrm>
              <a:off x="223133" y="265776"/>
              <a:ext cx="2578200" cy="6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400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58"/>
                <a:buFont typeface="Arial"/>
                <a:buNone/>
              </a:pPr>
              <a:r>
                <a:rPr b="1" i="0" lang="en-US" sz="3158" u="none" cap="none" strike="noStrike">
                  <a:solidFill>
                    <a:srgbClr val="060631"/>
                  </a:solidFill>
                  <a:latin typeface="Lora"/>
                  <a:ea typeface="Lora"/>
                  <a:cs typeface="Lora"/>
                  <a:sym typeface="Lora"/>
                </a:rPr>
                <a:t>Fri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1" name="Google Shape;171;p14"/>
          <p:cNvCxnSpPr/>
          <p:nvPr/>
        </p:nvCxnSpPr>
        <p:spPr>
          <a:xfrm rot="10800000">
            <a:off x="12964815" y="3000567"/>
            <a:ext cx="0" cy="6078000"/>
          </a:xfrm>
          <a:prstGeom prst="straightConnector1">
            <a:avLst/>
          </a:prstGeom>
          <a:noFill/>
          <a:ln cap="flat" cmpd="sng" w="95250">
            <a:solidFill>
              <a:srgbClr val="D752B2"/>
            </a:solidFill>
            <a:prstDash val="lgDash"/>
            <a:round/>
            <a:headEnd len="sm" w="sm" type="none"/>
            <a:tailEnd len="sm" w="sm" type="none"/>
          </a:ln>
        </p:spPr>
      </p:cxnSp>
      <p:grpSp>
        <p:nvGrpSpPr>
          <p:cNvPr id="172" name="Google Shape;172;p14"/>
          <p:cNvGrpSpPr/>
          <p:nvPr/>
        </p:nvGrpSpPr>
        <p:grpSpPr>
          <a:xfrm>
            <a:off x="12708233" y="8047385"/>
            <a:ext cx="2268598" cy="1031363"/>
            <a:chOff x="0" y="-169229"/>
            <a:chExt cx="3024798" cy="1375150"/>
          </a:xfrm>
        </p:grpSpPr>
        <p:grpSp>
          <p:nvGrpSpPr>
            <p:cNvPr id="173" name="Google Shape;173;p14"/>
            <p:cNvGrpSpPr/>
            <p:nvPr/>
          </p:nvGrpSpPr>
          <p:grpSpPr>
            <a:xfrm>
              <a:off x="0" y="-169229"/>
              <a:ext cx="3024798" cy="1375150"/>
              <a:chOff x="0" y="-38100"/>
              <a:chExt cx="681000" cy="309600"/>
            </a:xfrm>
          </p:grpSpPr>
          <p:sp>
            <p:nvSpPr>
              <p:cNvPr id="174" name="Google Shape;174;p14"/>
              <p:cNvSpPr/>
              <p:nvPr/>
            </p:nvSpPr>
            <p:spPr>
              <a:xfrm>
                <a:off x="0" y="0"/>
                <a:ext cx="680930" cy="271443"/>
              </a:xfrm>
              <a:custGeom>
                <a:rect b="b" l="l" r="r" t="t"/>
                <a:pathLst>
                  <a:path extrusionOk="0" h="271443" w="680930">
                    <a:moveTo>
                      <a:pt x="135721" y="0"/>
                    </a:moveTo>
                    <a:lnTo>
                      <a:pt x="545209" y="0"/>
                    </a:lnTo>
                    <a:cubicBezTo>
                      <a:pt x="581204" y="0"/>
                      <a:pt x="615726" y="14299"/>
                      <a:pt x="641178" y="39752"/>
                    </a:cubicBezTo>
                    <a:cubicBezTo>
                      <a:pt x="666631" y="65205"/>
                      <a:pt x="680930" y="99726"/>
                      <a:pt x="680930" y="135721"/>
                    </a:cubicBezTo>
                    <a:lnTo>
                      <a:pt x="680930" y="135721"/>
                    </a:lnTo>
                    <a:cubicBezTo>
                      <a:pt x="680930" y="171717"/>
                      <a:pt x="666631" y="206238"/>
                      <a:pt x="641178" y="231691"/>
                    </a:cubicBezTo>
                    <a:cubicBezTo>
                      <a:pt x="615726" y="257144"/>
                      <a:pt x="581204" y="271443"/>
                      <a:pt x="545209" y="271443"/>
                    </a:cubicBezTo>
                    <a:lnTo>
                      <a:pt x="135721" y="271443"/>
                    </a:lnTo>
                    <a:cubicBezTo>
                      <a:pt x="99726" y="271443"/>
                      <a:pt x="65205" y="257144"/>
                      <a:pt x="39752" y="231691"/>
                    </a:cubicBezTo>
                    <a:cubicBezTo>
                      <a:pt x="14299" y="206238"/>
                      <a:pt x="0" y="171717"/>
                      <a:pt x="0" y="135721"/>
                    </a:cubicBezTo>
                    <a:lnTo>
                      <a:pt x="0" y="135721"/>
                    </a:lnTo>
                    <a:cubicBezTo>
                      <a:pt x="0" y="99726"/>
                      <a:pt x="14299" y="65205"/>
                      <a:pt x="39752" y="39752"/>
                    </a:cubicBezTo>
                    <a:cubicBezTo>
                      <a:pt x="65205" y="14299"/>
                      <a:pt x="99726" y="0"/>
                      <a:pt x="1357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14"/>
              <p:cNvSpPr txBox="1"/>
              <p:nvPr/>
            </p:nvSpPr>
            <p:spPr>
              <a:xfrm>
                <a:off x="0" y="-38100"/>
                <a:ext cx="681000" cy="3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6" name="Google Shape;176;p14"/>
            <p:cNvSpPr txBox="1"/>
            <p:nvPr/>
          </p:nvSpPr>
          <p:spPr>
            <a:xfrm>
              <a:off x="223133" y="265776"/>
              <a:ext cx="2578200" cy="6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400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58"/>
                <a:buFont typeface="Arial"/>
                <a:buNone/>
              </a:pPr>
              <a:r>
                <a:rPr b="1" i="0" lang="en-US" sz="3158" u="none" cap="none" strike="noStrike">
                  <a:solidFill>
                    <a:srgbClr val="060631"/>
                  </a:solidFill>
                  <a:latin typeface="Lora"/>
                  <a:ea typeface="Lora"/>
                  <a:cs typeface="Lora"/>
                  <a:sym typeface="Lora"/>
                </a:rPr>
                <a:t>Sat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" name="Google Shape;177;p14"/>
          <p:cNvGrpSpPr/>
          <p:nvPr/>
        </p:nvGrpSpPr>
        <p:grpSpPr>
          <a:xfrm>
            <a:off x="15035269" y="8047385"/>
            <a:ext cx="2268598" cy="1031363"/>
            <a:chOff x="0" y="-169229"/>
            <a:chExt cx="3024798" cy="1375150"/>
          </a:xfrm>
        </p:grpSpPr>
        <p:grpSp>
          <p:nvGrpSpPr>
            <p:cNvPr id="178" name="Google Shape;178;p14"/>
            <p:cNvGrpSpPr/>
            <p:nvPr/>
          </p:nvGrpSpPr>
          <p:grpSpPr>
            <a:xfrm>
              <a:off x="0" y="-169229"/>
              <a:ext cx="3024798" cy="1375150"/>
              <a:chOff x="0" y="-38100"/>
              <a:chExt cx="681000" cy="309600"/>
            </a:xfrm>
          </p:grpSpPr>
          <p:sp>
            <p:nvSpPr>
              <p:cNvPr id="179" name="Google Shape;179;p14"/>
              <p:cNvSpPr/>
              <p:nvPr/>
            </p:nvSpPr>
            <p:spPr>
              <a:xfrm>
                <a:off x="0" y="0"/>
                <a:ext cx="680930" cy="271443"/>
              </a:xfrm>
              <a:custGeom>
                <a:rect b="b" l="l" r="r" t="t"/>
                <a:pathLst>
                  <a:path extrusionOk="0" h="271443" w="680930">
                    <a:moveTo>
                      <a:pt x="135721" y="0"/>
                    </a:moveTo>
                    <a:lnTo>
                      <a:pt x="545209" y="0"/>
                    </a:lnTo>
                    <a:cubicBezTo>
                      <a:pt x="581204" y="0"/>
                      <a:pt x="615726" y="14299"/>
                      <a:pt x="641178" y="39752"/>
                    </a:cubicBezTo>
                    <a:cubicBezTo>
                      <a:pt x="666631" y="65205"/>
                      <a:pt x="680930" y="99726"/>
                      <a:pt x="680930" y="135721"/>
                    </a:cubicBezTo>
                    <a:lnTo>
                      <a:pt x="680930" y="135721"/>
                    </a:lnTo>
                    <a:cubicBezTo>
                      <a:pt x="680930" y="171717"/>
                      <a:pt x="666631" y="206238"/>
                      <a:pt x="641178" y="231691"/>
                    </a:cubicBezTo>
                    <a:cubicBezTo>
                      <a:pt x="615726" y="257144"/>
                      <a:pt x="581204" y="271443"/>
                      <a:pt x="545209" y="271443"/>
                    </a:cubicBezTo>
                    <a:lnTo>
                      <a:pt x="135721" y="271443"/>
                    </a:lnTo>
                    <a:cubicBezTo>
                      <a:pt x="99726" y="271443"/>
                      <a:pt x="65205" y="257144"/>
                      <a:pt x="39752" y="231691"/>
                    </a:cubicBezTo>
                    <a:cubicBezTo>
                      <a:pt x="14299" y="206238"/>
                      <a:pt x="0" y="171717"/>
                      <a:pt x="0" y="135721"/>
                    </a:cubicBezTo>
                    <a:lnTo>
                      <a:pt x="0" y="135721"/>
                    </a:lnTo>
                    <a:cubicBezTo>
                      <a:pt x="0" y="99726"/>
                      <a:pt x="14299" y="65205"/>
                      <a:pt x="39752" y="39752"/>
                    </a:cubicBezTo>
                    <a:cubicBezTo>
                      <a:pt x="65205" y="14299"/>
                      <a:pt x="99726" y="0"/>
                      <a:pt x="1357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14"/>
              <p:cNvSpPr txBox="1"/>
              <p:nvPr/>
            </p:nvSpPr>
            <p:spPr>
              <a:xfrm>
                <a:off x="0" y="-38100"/>
                <a:ext cx="681000" cy="3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1" name="Google Shape;181;p14"/>
            <p:cNvSpPr txBox="1"/>
            <p:nvPr/>
          </p:nvSpPr>
          <p:spPr>
            <a:xfrm>
              <a:off x="223133" y="265776"/>
              <a:ext cx="2578200" cy="6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400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58"/>
                <a:buFont typeface="Arial"/>
                <a:buNone/>
              </a:pPr>
              <a:r>
                <a:rPr b="1" i="0" lang="en-US" sz="3158" u="none" cap="none" strike="noStrike">
                  <a:solidFill>
                    <a:srgbClr val="060631"/>
                  </a:solidFill>
                  <a:latin typeface="Lora"/>
                  <a:ea typeface="Lora"/>
                  <a:cs typeface="Lora"/>
                  <a:sym typeface="Lora"/>
                </a:rPr>
                <a:t>Sun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" name="Google Shape;182;p14"/>
          <p:cNvGrpSpPr/>
          <p:nvPr/>
        </p:nvGrpSpPr>
        <p:grpSpPr>
          <a:xfrm>
            <a:off x="1120683" y="1454677"/>
            <a:ext cx="6874880" cy="1084877"/>
            <a:chOff x="0" y="-38100"/>
            <a:chExt cx="1810656" cy="285727"/>
          </a:xfrm>
        </p:grpSpPr>
        <p:sp>
          <p:nvSpPr>
            <p:cNvPr id="183" name="Google Shape;183;p14"/>
            <p:cNvSpPr/>
            <p:nvPr/>
          </p:nvSpPr>
          <p:spPr>
            <a:xfrm>
              <a:off x="0" y="0"/>
              <a:ext cx="1810656" cy="247627"/>
            </a:xfrm>
            <a:custGeom>
              <a:rect b="b" l="l" r="r" t="t"/>
              <a:pathLst>
                <a:path extrusionOk="0" h="247627" w="1810656">
                  <a:moveTo>
                    <a:pt x="1607456" y="0"/>
                  </a:moveTo>
                  <a:lnTo>
                    <a:pt x="0" y="0"/>
                  </a:lnTo>
                  <a:lnTo>
                    <a:pt x="0" y="247627"/>
                  </a:lnTo>
                  <a:lnTo>
                    <a:pt x="1607456" y="247627"/>
                  </a:lnTo>
                  <a:lnTo>
                    <a:pt x="1810656" y="123813"/>
                  </a:lnTo>
                  <a:lnTo>
                    <a:pt x="1607456" y="0"/>
                  </a:lnTo>
                  <a:close/>
                </a:path>
              </a:pathLst>
            </a:custGeom>
            <a:solidFill>
              <a:srgbClr val="735FE4"/>
            </a:solidFill>
            <a:ln>
              <a:noFill/>
            </a:ln>
          </p:spPr>
        </p:sp>
        <p:sp>
          <p:nvSpPr>
            <p:cNvPr id="184" name="Google Shape;184;p14"/>
            <p:cNvSpPr txBox="1"/>
            <p:nvPr/>
          </p:nvSpPr>
          <p:spPr>
            <a:xfrm>
              <a:off x="0" y="-38100"/>
              <a:ext cx="1696500" cy="28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14"/>
          <p:cNvGrpSpPr/>
          <p:nvPr/>
        </p:nvGrpSpPr>
        <p:grpSpPr>
          <a:xfrm>
            <a:off x="1179329" y="3065676"/>
            <a:ext cx="2220804" cy="603038"/>
            <a:chOff x="0" y="-38100"/>
            <a:chExt cx="953667" cy="258959"/>
          </a:xfrm>
        </p:grpSpPr>
        <p:sp>
          <p:nvSpPr>
            <p:cNvPr id="186" name="Google Shape;186;p14"/>
            <p:cNvSpPr/>
            <p:nvPr/>
          </p:nvSpPr>
          <p:spPr>
            <a:xfrm>
              <a:off x="0" y="0"/>
              <a:ext cx="953667" cy="220859"/>
            </a:xfrm>
            <a:custGeom>
              <a:rect b="b" l="l" r="r" t="t"/>
              <a:pathLst>
                <a:path extrusionOk="0" h="220859" w="953667">
                  <a:moveTo>
                    <a:pt x="750467" y="0"/>
                  </a:moveTo>
                  <a:lnTo>
                    <a:pt x="0" y="0"/>
                  </a:lnTo>
                  <a:lnTo>
                    <a:pt x="0" y="220859"/>
                  </a:lnTo>
                  <a:lnTo>
                    <a:pt x="750467" y="220859"/>
                  </a:lnTo>
                  <a:lnTo>
                    <a:pt x="953667" y="110429"/>
                  </a:lnTo>
                  <a:lnTo>
                    <a:pt x="750467" y="0"/>
                  </a:lnTo>
                  <a:close/>
                </a:path>
              </a:pathLst>
            </a:custGeom>
            <a:solidFill>
              <a:srgbClr val="735FE4"/>
            </a:solidFill>
            <a:ln>
              <a:noFill/>
            </a:ln>
          </p:spPr>
        </p:sp>
        <p:sp>
          <p:nvSpPr>
            <p:cNvPr id="187" name="Google Shape;187;p14"/>
            <p:cNvSpPr txBox="1"/>
            <p:nvPr/>
          </p:nvSpPr>
          <p:spPr>
            <a:xfrm>
              <a:off x="0" y="-38100"/>
              <a:ext cx="8394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14"/>
          <p:cNvGrpSpPr/>
          <p:nvPr/>
        </p:nvGrpSpPr>
        <p:grpSpPr>
          <a:xfrm>
            <a:off x="3341448" y="3579981"/>
            <a:ext cx="2220804" cy="603038"/>
            <a:chOff x="0" y="-38100"/>
            <a:chExt cx="953667" cy="258959"/>
          </a:xfrm>
        </p:grpSpPr>
        <p:sp>
          <p:nvSpPr>
            <p:cNvPr id="189" name="Google Shape;189;p14"/>
            <p:cNvSpPr/>
            <p:nvPr/>
          </p:nvSpPr>
          <p:spPr>
            <a:xfrm>
              <a:off x="0" y="0"/>
              <a:ext cx="953667" cy="220859"/>
            </a:xfrm>
            <a:custGeom>
              <a:rect b="b" l="l" r="r" t="t"/>
              <a:pathLst>
                <a:path extrusionOk="0" h="220859" w="953667">
                  <a:moveTo>
                    <a:pt x="750467" y="0"/>
                  </a:moveTo>
                  <a:lnTo>
                    <a:pt x="0" y="0"/>
                  </a:lnTo>
                  <a:lnTo>
                    <a:pt x="0" y="220859"/>
                  </a:lnTo>
                  <a:lnTo>
                    <a:pt x="750467" y="220859"/>
                  </a:lnTo>
                  <a:lnTo>
                    <a:pt x="953667" y="110429"/>
                  </a:lnTo>
                  <a:lnTo>
                    <a:pt x="750467" y="0"/>
                  </a:lnTo>
                  <a:close/>
                </a:path>
              </a:pathLst>
            </a:custGeom>
            <a:solidFill>
              <a:srgbClr val="735FE4"/>
            </a:solidFill>
            <a:ln>
              <a:noFill/>
            </a:ln>
          </p:spPr>
        </p:sp>
        <p:sp>
          <p:nvSpPr>
            <p:cNvPr id="190" name="Google Shape;190;p14"/>
            <p:cNvSpPr txBox="1"/>
            <p:nvPr/>
          </p:nvSpPr>
          <p:spPr>
            <a:xfrm>
              <a:off x="0" y="-38100"/>
              <a:ext cx="8394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14"/>
          <p:cNvGrpSpPr/>
          <p:nvPr/>
        </p:nvGrpSpPr>
        <p:grpSpPr>
          <a:xfrm>
            <a:off x="5774753" y="3972004"/>
            <a:ext cx="2220804" cy="603038"/>
            <a:chOff x="0" y="-38100"/>
            <a:chExt cx="953667" cy="258959"/>
          </a:xfrm>
        </p:grpSpPr>
        <p:sp>
          <p:nvSpPr>
            <p:cNvPr id="192" name="Google Shape;192;p14"/>
            <p:cNvSpPr/>
            <p:nvPr/>
          </p:nvSpPr>
          <p:spPr>
            <a:xfrm>
              <a:off x="0" y="0"/>
              <a:ext cx="953667" cy="220859"/>
            </a:xfrm>
            <a:custGeom>
              <a:rect b="b" l="l" r="r" t="t"/>
              <a:pathLst>
                <a:path extrusionOk="0" h="220859" w="953667">
                  <a:moveTo>
                    <a:pt x="750467" y="0"/>
                  </a:moveTo>
                  <a:lnTo>
                    <a:pt x="0" y="0"/>
                  </a:lnTo>
                  <a:lnTo>
                    <a:pt x="0" y="220859"/>
                  </a:lnTo>
                  <a:lnTo>
                    <a:pt x="750467" y="220859"/>
                  </a:lnTo>
                  <a:lnTo>
                    <a:pt x="953667" y="110429"/>
                  </a:lnTo>
                  <a:lnTo>
                    <a:pt x="750467" y="0"/>
                  </a:lnTo>
                  <a:close/>
                </a:path>
              </a:pathLst>
            </a:custGeom>
            <a:solidFill>
              <a:srgbClr val="735FE4"/>
            </a:solidFill>
            <a:ln>
              <a:noFill/>
            </a:ln>
          </p:spPr>
        </p:sp>
        <p:sp>
          <p:nvSpPr>
            <p:cNvPr id="193" name="Google Shape;193;p14"/>
            <p:cNvSpPr txBox="1"/>
            <p:nvPr/>
          </p:nvSpPr>
          <p:spPr>
            <a:xfrm>
              <a:off x="0" y="-38100"/>
              <a:ext cx="8394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" name="Google Shape;194;p14"/>
          <p:cNvGrpSpPr/>
          <p:nvPr/>
        </p:nvGrpSpPr>
        <p:grpSpPr>
          <a:xfrm>
            <a:off x="8136897" y="2043844"/>
            <a:ext cx="4512722" cy="1084877"/>
            <a:chOff x="0" y="-38100"/>
            <a:chExt cx="1188528" cy="285727"/>
          </a:xfrm>
        </p:grpSpPr>
        <p:sp>
          <p:nvSpPr>
            <p:cNvPr id="195" name="Google Shape;195;p14"/>
            <p:cNvSpPr/>
            <p:nvPr/>
          </p:nvSpPr>
          <p:spPr>
            <a:xfrm>
              <a:off x="0" y="0"/>
              <a:ext cx="1188528" cy="247627"/>
            </a:xfrm>
            <a:custGeom>
              <a:rect b="b" l="l" r="r" t="t"/>
              <a:pathLst>
                <a:path extrusionOk="0" h="247627" w="1188528">
                  <a:moveTo>
                    <a:pt x="985328" y="0"/>
                  </a:moveTo>
                  <a:lnTo>
                    <a:pt x="0" y="0"/>
                  </a:lnTo>
                  <a:lnTo>
                    <a:pt x="0" y="247627"/>
                  </a:lnTo>
                  <a:lnTo>
                    <a:pt x="985328" y="247627"/>
                  </a:lnTo>
                  <a:lnTo>
                    <a:pt x="1188528" y="123813"/>
                  </a:lnTo>
                  <a:lnTo>
                    <a:pt x="985328" y="0"/>
                  </a:lnTo>
                  <a:close/>
                </a:path>
              </a:pathLst>
            </a:custGeom>
            <a:solidFill>
              <a:srgbClr val="FDBD00"/>
            </a:solidFill>
            <a:ln>
              <a:noFill/>
            </a:ln>
          </p:spPr>
        </p:sp>
        <p:sp>
          <p:nvSpPr>
            <p:cNvPr id="196" name="Google Shape;196;p14"/>
            <p:cNvSpPr txBox="1"/>
            <p:nvPr/>
          </p:nvSpPr>
          <p:spPr>
            <a:xfrm>
              <a:off x="0" y="-38100"/>
              <a:ext cx="1074300" cy="28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14"/>
          <p:cNvGrpSpPr/>
          <p:nvPr/>
        </p:nvGrpSpPr>
        <p:grpSpPr>
          <a:xfrm>
            <a:off x="8266704" y="4156570"/>
            <a:ext cx="2220804" cy="603038"/>
            <a:chOff x="0" y="-38100"/>
            <a:chExt cx="953667" cy="258959"/>
          </a:xfrm>
        </p:grpSpPr>
        <p:sp>
          <p:nvSpPr>
            <p:cNvPr id="198" name="Google Shape;198;p14"/>
            <p:cNvSpPr/>
            <p:nvPr/>
          </p:nvSpPr>
          <p:spPr>
            <a:xfrm>
              <a:off x="0" y="0"/>
              <a:ext cx="953667" cy="220859"/>
            </a:xfrm>
            <a:custGeom>
              <a:rect b="b" l="l" r="r" t="t"/>
              <a:pathLst>
                <a:path extrusionOk="0" h="220859" w="953667">
                  <a:moveTo>
                    <a:pt x="750467" y="0"/>
                  </a:moveTo>
                  <a:lnTo>
                    <a:pt x="0" y="0"/>
                  </a:lnTo>
                  <a:lnTo>
                    <a:pt x="0" y="220859"/>
                  </a:lnTo>
                  <a:lnTo>
                    <a:pt x="750467" y="220859"/>
                  </a:lnTo>
                  <a:lnTo>
                    <a:pt x="953667" y="110429"/>
                  </a:lnTo>
                  <a:lnTo>
                    <a:pt x="750467" y="0"/>
                  </a:lnTo>
                  <a:close/>
                </a:path>
              </a:pathLst>
            </a:custGeom>
            <a:solidFill>
              <a:srgbClr val="FDBD00"/>
            </a:solidFill>
            <a:ln>
              <a:noFill/>
            </a:ln>
          </p:spPr>
        </p:sp>
        <p:sp>
          <p:nvSpPr>
            <p:cNvPr id="199" name="Google Shape;199;p14"/>
            <p:cNvSpPr txBox="1"/>
            <p:nvPr/>
          </p:nvSpPr>
          <p:spPr>
            <a:xfrm>
              <a:off x="0" y="-38100"/>
              <a:ext cx="8394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14"/>
          <p:cNvGrpSpPr/>
          <p:nvPr/>
        </p:nvGrpSpPr>
        <p:grpSpPr>
          <a:xfrm>
            <a:off x="10428823" y="4670875"/>
            <a:ext cx="2220804" cy="603038"/>
            <a:chOff x="0" y="-38100"/>
            <a:chExt cx="953667" cy="258959"/>
          </a:xfrm>
        </p:grpSpPr>
        <p:sp>
          <p:nvSpPr>
            <p:cNvPr id="201" name="Google Shape;201;p14"/>
            <p:cNvSpPr/>
            <p:nvPr/>
          </p:nvSpPr>
          <p:spPr>
            <a:xfrm>
              <a:off x="0" y="0"/>
              <a:ext cx="953667" cy="220859"/>
            </a:xfrm>
            <a:custGeom>
              <a:rect b="b" l="l" r="r" t="t"/>
              <a:pathLst>
                <a:path extrusionOk="0" h="220859" w="953667">
                  <a:moveTo>
                    <a:pt x="750467" y="0"/>
                  </a:moveTo>
                  <a:lnTo>
                    <a:pt x="0" y="0"/>
                  </a:lnTo>
                  <a:lnTo>
                    <a:pt x="0" y="220859"/>
                  </a:lnTo>
                  <a:lnTo>
                    <a:pt x="750467" y="220859"/>
                  </a:lnTo>
                  <a:lnTo>
                    <a:pt x="953667" y="110429"/>
                  </a:lnTo>
                  <a:lnTo>
                    <a:pt x="750467" y="0"/>
                  </a:lnTo>
                  <a:close/>
                </a:path>
              </a:pathLst>
            </a:custGeom>
            <a:solidFill>
              <a:srgbClr val="FDBD00"/>
            </a:solidFill>
            <a:ln>
              <a:noFill/>
            </a:ln>
          </p:spPr>
        </p:sp>
        <p:sp>
          <p:nvSpPr>
            <p:cNvPr id="202" name="Google Shape;202;p14"/>
            <p:cNvSpPr txBox="1"/>
            <p:nvPr/>
          </p:nvSpPr>
          <p:spPr>
            <a:xfrm>
              <a:off x="0" y="-38100"/>
              <a:ext cx="8394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14"/>
          <p:cNvGrpSpPr/>
          <p:nvPr/>
        </p:nvGrpSpPr>
        <p:grpSpPr>
          <a:xfrm>
            <a:off x="12906170" y="2495974"/>
            <a:ext cx="4512722" cy="1084877"/>
            <a:chOff x="0" y="-38100"/>
            <a:chExt cx="1188528" cy="285727"/>
          </a:xfrm>
        </p:grpSpPr>
        <p:sp>
          <p:nvSpPr>
            <p:cNvPr id="204" name="Google Shape;204;p14"/>
            <p:cNvSpPr/>
            <p:nvPr/>
          </p:nvSpPr>
          <p:spPr>
            <a:xfrm>
              <a:off x="0" y="0"/>
              <a:ext cx="1188528" cy="247627"/>
            </a:xfrm>
            <a:custGeom>
              <a:rect b="b" l="l" r="r" t="t"/>
              <a:pathLst>
                <a:path extrusionOk="0" h="247627" w="1188528">
                  <a:moveTo>
                    <a:pt x="985328" y="0"/>
                  </a:moveTo>
                  <a:lnTo>
                    <a:pt x="0" y="0"/>
                  </a:lnTo>
                  <a:lnTo>
                    <a:pt x="0" y="247627"/>
                  </a:lnTo>
                  <a:lnTo>
                    <a:pt x="985328" y="247627"/>
                  </a:lnTo>
                  <a:lnTo>
                    <a:pt x="1188528" y="123813"/>
                  </a:lnTo>
                  <a:lnTo>
                    <a:pt x="985328" y="0"/>
                  </a:lnTo>
                  <a:close/>
                </a:path>
              </a:pathLst>
            </a:custGeom>
            <a:solidFill>
              <a:srgbClr val="D752B2"/>
            </a:solidFill>
            <a:ln>
              <a:noFill/>
            </a:ln>
          </p:spPr>
        </p:sp>
        <p:sp>
          <p:nvSpPr>
            <p:cNvPr id="205" name="Google Shape;205;p14"/>
            <p:cNvSpPr txBox="1"/>
            <p:nvPr/>
          </p:nvSpPr>
          <p:spPr>
            <a:xfrm>
              <a:off x="0" y="-38100"/>
              <a:ext cx="1074300" cy="28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14"/>
          <p:cNvGrpSpPr/>
          <p:nvPr/>
        </p:nvGrpSpPr>
        <p:grpSpPr>
          <a:xfrm>
            <a:off x="13018423" y="5185180"/>
            <a:ext cx="4065305" cy="603038"/>
            <a:chOff x="0" y="-38100"/>
            <a:chExt cx="1745740" cy="258959"/>
          </a:xfrm>
        </p:grpSpPr>
        <p:sp>
          <p:nvSpPr>
            <p:cNvPr id="207" name="Google Shape;207;p14"/>
            <p:cNvSpPr/>
            <p:nvPr/>
          </p:nvSpPr>
          <p:spPr>
            <a:xfrm>
              <a:off x="0" y="0"/>
              <a:ext cx="1745740" cy="220859"/>
            </a:xfrm>
            <a:custGeom>
              <a:rect b="b" l="l" r="r" t="t"/>
              <a:pathLst>
                <a:path extrusionOk="0" h="220859" w="1745740">
                  <a:moveTo>
                    <a:pt x="1542540" y="0"/>
                  </a:moveTo>
                  <a:lnTo>
                    <a:pt x="0" y="0"/>
                  </a:lnTo>
                  <a:lnTo>
                    <a:pt x="0" y="220859"/>
                  </a:lnTo>
                  <a:lnTo>
                    <a:pt x="1542540" y="220859"/>
                  </a:lnTo>
                  <a:lnTo>
                    <a:pt x="1745740" y="110429"/>
                  </a:lnTo>
                  <a:lnTo>
                    <a:pt x="1542540" y="0"/>
                  </a:lnTo>
                  <a:close/>
                </a:path>
              </a:pathLst>
            </a:custGeom>
            <a:solidFill>
              <a:srgbClr val="D752B2"/>
            </a:solidFill>
            <a:ln>
              <a:noFill/>
            </a:ln>
          </p:spPr>
        </p:sp>
        <p:sp>
          <p:nvSpPr>
            <p:cNvPr id="208" name="Google Shape;208;p14"/>
            <p:cNvSpPr txBox="1"/>
            <p:nvPr/>
          </p:nvSpPr>
          <p:spPr>
            <a:xfrm>
              <a:off x="0" y="-38100"/>
              <a:ext cx="16314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63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63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1"/>
          <p:cNvGrpSpPr/>
          <p:nvPr/>
        </p:nvGrpSpPr>
        <p:grpSpPr>
          <a:xfrm>
            <a:off x="0" y="-872025"/>
            <a:ext cx="18288000" cy="7465056"/>
            <a:chOff x="0" y="-38100"/>
            <a:chExt cx="4816593" cy="1966105"/>
          </a:xfrm>
        </p:grpSpPr>
        <p:sp>
          <p:nvSpPr>
            <p:cNvPr id="214" name="Google Shape;214;p1"/>
            <p:cNvSpPr/>
            <p:nvPr/>
          </p:nvSpPr>
          <p:spPr>
            <a:xfrm>
              <a:off x="0" y="0"/>
              <a:ext cx="4816592" cy="1928005"/>
            </a:xfrm>
            <a:custGeom>
              <a:rect b="b" l="l" r="r" t="t"/>
              <a:pathLst>
                <a:path extrusionOk="0" h="1928005" w="4816592">
                  <a:moveTo>
                    <a:pt x="40217" y="0"/>
                  </a:moveTo>
                  <a:lnTo>
                    <a:pt x="4776376" y="0"/>
                  </a:lnTo>
                  <a:cubicBezTo>
                    <a:pt x="4787042" y="0"/>
                    <a:pt x="4797271" y="4237"/>
                    <a:pt x="4804813" y="11779"/>
                  </a:cubicBezTo>
                  <a:cubicBezTo>
                    <a:pt x="4812355" y="19321"/>
                    <a:pt x="4816592" y="29551"/>
                    <a:pt x="4816592" y="40217"/>
                  </a:cubicBezTo>
                  <a:lnTo>
                    <a:pt x="4816592" y="1887789"/>
                  </a:lnTo>
                  <a:cubicBezTo>
                    <a:pt x="4816592" y="1910000"/>
                    <a:pt x="4798587" y="1928005"/>
                    <a:pt x="4776376" y="1928005"/>
                  </a:cubicBezTo>
                  <a:lnTo>
                    <a:pt x="40217" y="1928005"/>
                  </a:lnTo>
                  <a:cubicBezTo>
                    <a:pt x="18006" y="1928005"/>
                    <a:pt x="0" y="1910000"/>
                    <a:pt x="0" y="1887789"/>
                  </a:cubicBezTo>
                  <a:lnTo>
                    <a:pt x="0" y="40217"/>
                  </a:lnTo>
                  <a:cubicBezTo>
                    <a:pt x="0" y="18006"/>
                    <a:pt x="18006" y="0"/>
                    <a:pt x="40217" y="0"/>
                  </a:cubicBezTo>
                  <a:close/>
                </a:path>
              </a:pathLst>
            </a:custGeom>
            <a:solidFill>
              <a:srgbClr val="FFE8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"/>
            <p:cNvSpPr txBox="1"/>
            <p:nvPr/>
          </p:nvSpPr>
          <p:spPr>
            <a:xfrm>
              <a:off x="0" y="-38100"/>
              <a:ext cx="4816593" cy="1966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1"/>
          <p:cNvGrpSpPr/>
          <p:nvPr/>
        </p:nvGrpSpPr>
        <p:grpSpPr>
          <a:xfrm>
            <a:off x="10377929" y="476404"/>
            <a:ext cx="5824254" cy="5824254"/>
            <a:chOff x="0" y="0"/>
            <a:chExt cx="812800" cy="812800"/>
          </a:xfrm>
        </p:grpSpPr>
        <p:sp>
          <p:nvSpPr>
            <p:cNvPr id="217" name="Google Shape;217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752B2"/>
            </a:solidFill>
            <a:ln>
              <a:noFill/>
            </a:ln>
          </p:spPr>
        </p:sp>
        <p:sp>
          <p:nvSpPr>
            <p:cNvPr id="218" name="Google Shape;218;p1"/>
            <p:cNvSpPr txBox="1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9" name="Google Shape;2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9926" y="1634270"/>
            <a:ext cx="9580252" cy="757538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"/>
          <p:cNvSpPr txBox="1"/>
          <p:nvPr/>
        </p:nvSpPr>
        <p:spPr>
          <a:xfrm>
            <a:off x="1028700" y="213880"/>
            <a:ext cx="8115300" cy="3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1"/>
              <a:buFont typeface="Arial"/>
              <a:buNone/>
            </a:pPr>
            <a:r>
              <a:rPr b="1" i="0" lang="en-US" sz="11901" u="none" cap="none" strike="noStrike">
                <a:solidFill>
                  <a:srgbClr val="735FE4"/>
                </a:solidFill>
                <a:latin typeface="Lora"/>
                <a:ea typeface="Lora"/>
                <a:cs typeface="Lora"/>
                <a:sym typeface="Lora"/>
              </a:rPr>
              <a:t>Escalation &amp; Recovery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"/>
          <p:cNvSpPr txBox="1"/>
          <p:nvPr/>
        </p:nvSpPr>
        <p:spPr>
          <a:xfrm>
            <a:off x="1028700" y="4505118"/>
            <a:ext cx="69663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60631"/>
                </a:solidFill>
                <a:latin typeface="Roboto"/>
                <a:ea typeface="Roboto"/>
                <a:cs typeface="Roboto"/>
                <a:sym typeface="Roboto"/>
              </a:rPr>
              <a:t>Stabilizing a Peak-Traffic Search Outage Under Pressure</a:t>
            </a:r>
            <a:endParaRPr b="0" i="0" sz="2400" u="none" cap="none" strike="noStrike">
              <a:solidFill>
                <a:srgbClr val="06063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1"/>
          <p:cNvSpPr txBox="1"/>
          <p:nvPr/>
        </p:nvSpPr>
        <p:spPr>
          <a:xfrm>
            <a:off x="1028700" y="7569604"/>
            <a:ext cx="2530954" cy="433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2799" u="none" cap="none" strike="noStrike">
                <a:solidFill>
                  <a:srgbClr val="735FE4"/>
                </a:solidFill>
                <a:latin typeface="Lora"/>
                <a:ea typeface="Lora"/>
                <a:cs typeface="Lora"/>
                <a:sym typeface="Lora"/>
              </a:rPr>
              <a:t>Presented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"/>
          <p:cNvSpPr txBox="1"/>
          <p:nvPr/>
        </p:nvSpPr>
        <p:spPr>
          <a:xfrm>
            <a:off x="1028700" y="8186025"/>
            <a:ext cx="28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Ariele Silva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683cc5795_0_0"/>
          <p:cNvSpPr txBox="1"/>
          <p:nvPr/>
        </p:nvSpPr>
        <p:spPr>
          <a:xfrm>
            <a:off x="2561090" y="431625"/>
            <a:ext cx="13165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Scenario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f683cc5795_0_0"/>
          <p:cNvSpPr/>
          <p:nvPr/>
        </p:nvSpPr>
        <p:spPr>
          <a:xfrm>
            <a:off x="1149750" y="2124640"/>
            <a:ext cx="15988500" cy="1896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735F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f683cc5795_0_0"/>
          <p:cNvSpPr txBox="1"/>
          <p:nvPr/>
        </p:nvSpPr>
        <p:spPr>
          <a:xfrm>
            <a:off x="1748125" y="2285987"/>
            <a:ext cx="16539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Coppel</a:t>
            </a:r>
            <a:endParaRPr b="1" i="0" sz="3200" u="none" cap="none" strike="noStrik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1" name="Google Shape;231;g3f683cc5795_0_0"/>
          <p:cNvSpPr txBox="1"/>
          <p:nvPr/>
        </p:nvSpPr>
        <p:spPr>
          <a:xfrm>
            <a:off x="1680900" y="2971888"/>
            <a:ext cx="14926200" cy="9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large LATAM eCommerce customer, mid-peak on a live Hot Sale event, Buen Fin, the country’s biggest online shopping event of the year. Search-driven browsing accounts for the majority of their session-to-cart path.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g3f683cc5795_0_0"/>
          <p:cNvSpPr/>
          <p:nvPr/>
        </p:nvSpPr>
        <p:spPr>
          <a:xfrm>
            <a:off x="1149750" y="4858875"/>
            <a:ext cx="4506900" cy="1896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D752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f683cc5795_0_0"/>
          <p:cNvSpPr/>
          <p:nvPr/>
        </p:nvSpPr>
        <p:spPr>
          <a:xfrm>
            <a:off x="6890550" y="4858875"/>
            <a:ext cx="4506900" cy="1896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D752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f683cc5795_0_0"/>
          <p:cNvSpPr/>
          <p:nvPr/>
        </p:nvSpPr>
        <p:spPr>
          <a:xfrm>
            <a:off x="12631350" y="4858875"/>
            <a:ext cx="4506900" cy="1896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D752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f683cc5795_0_0"/>
          <p:cNvSpPr txBox="1"/>
          <p:nvPr/>
        </p:nvSpPr>
        <p:spPr>
          <a:xfrm>
            <a:off x="2576250" y="5221913"/>
            <a:ext cx="16539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D752B2"/>
                </a:solidFill>
                <a:latin typeface="Lora"/>
                <a:ea typeface="Lora"/>
                <a:cs typeface="Lora"/>
                <a:sym typeface="Lora"/>
              </a:rPr>
              <a:t>3.4x</a:t>
            </a:r>
            <a:endParaRPr b="1" i="0" sz="3200" u="none" cap="none" strike="noStrike">
              <a:solidFill>
                <a:srgbClr val="D752B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6" name="Google Shape;236;g3f683cc5795_0_0"/>
          <p:cNvSpPr txBox="1"/>
          <p:nvPr/>
        </p:nvSpPr>
        <p:spPr>
          <a:xfrm>
            <a:off x="1368150" y="5782324"/>
            <a:ext cx="40701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normal peak traffic, sustained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g3f683cc5795_0_0"/>
          <p:cNvSpPr txBox="1"/>
          <p:nvPr/>
        </p:nvSpPr>
        <p:spPr>
          <a:xfrm>
            <a:off x="8317050" y="5244363"/>
            <a:ext cx="16539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D752B2"/>
                </a:solidFill>
                <a:latin typeface="Lora"/>
                <a:ea typeface="Lora"/>
                <a:cs typeface="Lora"/>
                <a:sym typeface="Lora"/>
              </a:rPr>
              <a:t>~18%</a:t>
            </a:r>
            <a:endParaRPr b="1" i="0" sz="3200" u="none" cap="none" strike="noStrike">
              <a:solidFill>
                <a:srgbClr val="D752B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8" name="Google Shape;238;g3f683cc5795_0_0"/>
          <p:cNvSpPr txBox="1"/>
          <p:nvPr/>
        </p:nvSpPr>
        <p:spPr>
          <a:xfrm>
            <a:off x="7108950" y="5804774"/>
            <a:ext cx="40701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 search queries timing out or erroring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g3f683cc5795_0_0"/>
          <p:cNvSpPr txBox="1"/>
          <p:nvPr/>
        </p:nvSpPr>
        <p:spPr>
          <a:xfrm>
            <a:off x="12849750" y="5244375"/>
            <a:ext cx="40701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D752B2"/>
                </a:solidFill>
                <a:latin typeface="Lora"/>
                <a:ea typeface="Lora"/>
                <a:cs typeface="Lora"/>
                <a:sym typeface="Lora"/>
              </a:rPr>
              <a:t>MX$3.5M / hr</a:t>
            </a:r>
            <a:endParaRPr b="1" i="0" sz="3200" u="none" cap="none" strike="noStrike">
              <a:solidFill>
                <a:srgbClr val="D752B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0" name="Google Shape;240;g3f683cc5795_0_0"/>
          <p:cNvSpPr txBox="1"/>
          <p:nvPr/>
        </p:nvSpPr>
        <p:spPr>
          <a:xfrm>
            <a:off x="12849750" y="5804774"/>
            <a:ext cx="40701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estimated at-risk revenue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g3f683cc5795_0_0"/>
          <p:cNvSpPr txBox="1"/>
          <p:nvPr/>
        </p:nvSpPr>
        <p:spPr>
          <a:xfrm>
            <a:off x="1680900" y="7597674"/>
            <a:ext cx="14926200" cy="13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</a:pP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Issue: intermittent search timeouts and failed results pages → not a full outage</a:t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</a:pP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Business is already feeling it: support tickets climbing, and the customer’s own leadership has asked for direct updates.</a:t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69104deff_0_0"/>
          <p:cNvSpPr txBox="1"/>
          <p:nvPr/>
        </p:nvSpPr>
        <p:spPr>
          <a:xfrm>
            <a:off x="94128" y="485413"/>
            <a:ext cx="18126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lang="en-US" sz="80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Response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f69104deff_0_0"/>
          <p:cNvSpPr/>
          <p:nvPr/>
        </p:nvSpPr>
        <p:spPr>
          <a:xfrm>
            <a:off x="661925" y="2615450"/>
            <a:ext cx="5390700" cy="636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735F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69104deff_0_0"/>
          <p:cNvSpPr txBox="1"/>
          <p:nvPr/>
        </p:nvSpPr>
        <p:spPr>
          <a:xfrm>
            <a:off x="973475" y="3170669"/>
            <a:ext cx="47676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800">
                <a:solidFill>
                  <a:srgbClr val="735FE4"/>
                </a:solidFill>
                <a:latin typeface="Lora"/>
                <a:ea typeface="Lora"/>
                <a:cs typeface="Lora"/>
                <a:sym typeface="Lora"/>
              </a:rPr>
              <a:t>Root Cause Analysis</a:t>
            </a:r>
            <a:endParaRPr b="1" i="0" sz="2800" u="none" cap="none" strike="noStrike">
              <a:solidFill>
                <a:srgbClr val="735FE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9" name="Google Shape;249;g3f69104deff_0_0"/>
          <p:cNvSpPr txBox="1"/>
          <p:nvPr/>
        </p:nvSpPr>
        <p:spPr>
          <a:xfrm>
            <a:off x="1218190" y="4209665"/>
            <a:ext cx="4278300" cy="4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b="1" lang="en-US" sz="1700">
                <a:solidFill>
                  <a:srgbClr val="735FE4"/>
                </a:solidFill>
                <a:latin typeface="Roboto"/>
                <a:ea typeface="Roboto"/>
                <a:cs typeface="Roboto"/>
                <a:sym typeface="Roboto"/>
              </a:rPr>
              <a:t>Reconstruct the timeline first</a:t>
            </a:r>
            <a:r>
              <a:rPr lang="en-U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→ errors vs. traffic curves, deploys, scheduled jobs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b="1" lang="en-US" sz="1700">
                <a:solidFill>
                  <a:srgbClr val="735FE4"/>
                </a:solidFill>
                <a:latin typeface="Roboto"/>
                <a:ea typeface="Roboto"/>
                <a:cs typeface="Roboto"/>
                <a:sym typeface="Roboto"/>
              </a:rPr>
              <a:t>Pull from real logging</a:t>
            </a:r>
            <a:r>
              <a:rPr lang="en-U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→ Search API codes, pipeline logs, usage vs. licensed limits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b="1" lang="en-US" sz="1700">
                <a:solidFill>
                  <a:srgbClr val="735FE4"/>
                </a:solidFill>
                <a:latin typeface="Roboto"/>
                <a:ea typeface="Roboto"/>
                <a:cs typeface="Roboto"/>
                <a:sym typeface="Roboto"/>
              </a:rPr>
              <a:t>Confirm, don’t guess</a:t>
            </a:r>
            <a:r>
              <a:rPr lang="en-U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→ nothing is “root cause” until it’s evidenced in data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b="1" lang="en-US" sz="1700">
                <a:solidFill>
                  <a:srgbClr val="735FE4"/>
                </a:solidFill>
                <a:latin typeface="Roboto"/>
                <a:ea typeface="Roboto"/>
                <a:cs typeface="Roboto"/>
                <a:sym typeface="Roboto"/>
              </a:rPr>
              <a:t>Top hypothesis: organization quota exhaustion</a:t>
            </a:r>
            <a:r>
              <a:rPr lang="en-U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→ fastest to confirm, grounded in Coveo’s own documented limits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g3f69104deff_0_0"/>
          <p:cNvSpPr/>
          <p:nvPr/>
        </p:nvSpPr>
        <p:spPr>
          <a:xfrm>
            <a:off x="6462075" y="2615450"/>
            <a:ext cx="5390700" cy="636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D752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f69104deff_0_0"/>
          <p:cNvSpPr txBox="1"/>
          <p:nvPr/>
        </p:nvSpPr>
        <p:spPr>
          <a:xfrm>
            <a:off x="6773625" y="3170669"/>
            <a:ext cx="47676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800">
                <a:solidFill>
                  <a:srgbClr val="D752B2"/>
                </a:solidFill>
                <a:latin typeface="Lora"/>
                <a:ea typeface="Lora"/>
                <a:cs typeface="Lora"/>
                <a:sym typeface="Lora"/>
              </a:rPr>
              <a:t>Short Term Remediation</a:t>
            </a:r>
            <a:endParaRPr b="1" i="0" sz="2800" u="none" cap="none" strike="noStrike">
              <a:solidFill>
                <a:srgbClr val="D752B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2" name="Google Shape;252;g3f69104deff_0_0"/>
          <p:cNvSpPr txBox="1"/>
          <p:nvPr/>
        </p:nvSpPr>
        <p:spPr>
          <a:xfrm>
            <a:off x="7018340" y="4209665"/>
            <a:ext cx="4278300" cy="4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b="1" lang="en-US" sz="1700">
                <a:solidFill>
                  <a:srgbClr val="D752B2"/>
                </a:solidFill>
                <a:latin typeface="Roboto"/>
                <a:ea typeface="Roboto"/>
                <a:cs typeface="Roboto"/>
                <a:sym typeface="Roboto"/>
              </a:rPr>
              <a:t>Shed cost per query</a:t>
            </a:r>
            <a:r>
              <a:rPr lang="en-U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→ disable generative answering / personalization under load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b="1" lang="en-US" sz="1700">
                <a:solidFill>
                  <a:srgbClr val="D752B2"/>
                </a:solidFill>
                <a:latin typeface="Roboto"/>
                <a:ea typeface="Roboto"/>
                <a:cs typeface="Roboto"/>
                <a:sym typeface="Roboto"/>
              </a:rPr>
              <a:t>Request emergency quota headroom</a:t>
            </a:r>
            <a:r>
              <a:rPr lang="en-U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→ cheap to try, fast to reverse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b="1" lang="en-US" sz="1700">
                <a:solidFill>
                  <a:srgbClr val="D752B2"/>
                </a:solidFill>
                <a:latin typeface="Roboto"/>
                <a:ea typeface="Roboto"/>
                <a:cs typeface="Roboto"/>
                <a:sym typeface="Roboto"/>
              </a:rPr>
              <a:t>Cut self-inflicted load</a:t>
            </a:r>
            <a:r>
              <a:rPr lang="en-U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→ debounce/throttle on the customer’s client side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b="1" lang="en-US" sz="1700">
                <a:solidFill>
                  <a:srgbClr val="D752B2"/>
                </a:solidFill>
                <a:latin typeface="Roboto"/>
                <a:ea typeface="Roboto"/>
                <a:cs typeface="Roboto"/>
                <a:sym typeface="Roboto"/>
              </a:rPr>
              <a:t>Defer competing jobs</a:t>
            </a:r>
            <a:r>
              <a:rPr lang="en-U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→ pause index rebuilds/model retrains until traffic normalizes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g3f69104deff_0_0"/>
          <p:cNvSpPr/>
          <p:nvPr/>
        </p:nvSpPr>
        <p:spPr>
          <a:xfrm>
            <a:off x="12262225" y="2615450"/>
            <a:ext cx="5390700" cy="636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FE8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80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f69104deff_0_0"/>
          <p:cNvSpPr txBox="1"/>
          <p:nvPr/>
        </p:nvSpPr>
        <p:spPr>
          <a:xfrm>
            <a:off x="12573775" y="3116869"/>
            <a:ext cx="47676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800">
                <a:solidFill>
                  <a:srgbClr val="FE802E"/>
                </a:solidFill>
                <a:latin typeface="Lora"/>
                <a:ea typeface="Lora"/>
                <a:cs typeface="Lora"/>
                <a:sym typeface="Lora"/>
              </a:rPr>
              <a:t>Executive Comms</a:t>
            </a:r>
            <a:endParaRPr b="1" sz="2800">
              <a:solidFill>
                <a:srgbClr val="FE802E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sz="2500">
              <a:solidFill>
                <a:srgbClr val="D752B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5" name="Google Shape;255;g3f69104deff_0_0"/>
          <p:cNvSpPr txBox="1"/>
          <p:nvPr/>
        </p:nvSpPr>
        <p:spPr>
          <a:xfrm>
            <a:off x="12818490" y="4209665"/>
            <a:ext cx="4278300" cy="4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b="1" lang="en-US" sz="1700">
                <a:solidFill>
                  <a:srgbClr val="FE802E"/>
                </a:solidFill>
                <a:latin typeface="Roboto"/>
                <a:ea typeface="Roboto"/>
                <a:cs typeface="Roboto"/>
                <a:sym typeface="Roboto"/>
              </a:rPr>
              <a:t>Internal: IC owns it</a:t>
            </a:r>
            <a:r>
              <a:rPr lang="en-U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→ update every 15-30 min with impact, hypothesis status, next update time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b="1" lang="en-US" sz="1700">
                <a:solidFill>
                  <a:srgbClr val="FE802E"/>
                </a:solidFill>
                <a:latin typeface="Roboto"/>
                <a:ea typeface="Roboto"/>
                <a:cs typeface="Roboto"/>
                <a:sym typeface="Roboto"/>
              </a:rPr>
              <a:t>Customer-facing:</a:t>
            </a:r>
            <a:r>
              <a:rPr lang="en-U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owned by CS/Account leadership → business-impact-first, no speculation stated as fact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-U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Both always end with a concrete next-update time and a pointer to </a:t>
            </a:r>
            <a:r>
              <a:rPr b="1" lang="en-US" sz="1700">
                <a:solidFill>
                  <a:srgbClr val="FE802E"/>
                </a:solidFill>
                <a:latin typeface="Roboto"/>
                <a:ea typeface="Roboto"/>
                <a:cs typeface="Roboto"/>
                <a:sym typeface="Roboto"/>
              </a:rPr>
              <a:t>status.cloud.coveo.com</a:t>
            </a:r>
            <a:endParaRPr b="1" sz="1700">
              <a:solidFill>
                <a:srgbClr val="FE802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69104deff_0_16"/>
          <p:cNvSpPr txBox="1"/>
          <p:nvPr/>
        </p:nvSpPr>
        <p:spPr>
          <a:xfrm>
            <a:off x="2561090" y="431625"/>
            <a:ext cx="13165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lang="en-US" sz="80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Scaling Prevention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f69104deff_0_16"/>
          <p:cNvSpPr txBox="1"/>
          <p:nvPr/>
        </p:nvSpPr>
        <p:spPr>
          <a:xfrm>
            <a:off x="1680900" y="2635709"/>
            <a:ext cx="14926200" cy="13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Coppel’s incident traces to a specific, well-understood risk: peak traffic colliding with organization limits, expensive ML features, and scheduled jobs. That risk isn’t unique to Coppel → it’s latent on every account with a comparable traffic profile and a calendared high-traffic event. Fixing it once, for one customer, leaves the same failure mode live everywhere else.</a:t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g3f69104deff_0_16"/>
          <p:cNvSpPr/>
          <p:nvPr/>
        </p:nvSpPr>
        <p:spPr>
          <a:xfrm>
            <a:off x="1703300" y="4944019"/>
            <a:ext cx="4558500" cy="3379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735F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f69104deff_0_16"/>
          <p:cNvSpPr txBox="1"/>
          <p:nvPr/>
        </p:nvSpPr>
        <p:spPr>
          <a:xfrm>
            <a:off x="1795304" y="5316463"/>
            <a:ext cx="37683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735FE4"/>
                </a:solidFill>
                <a:latin typeface="Lora"/>
                <a:ea typeface="Lora"/>
                <a:cs typeface="Lora"/>
                <a:sym typeface="Lora"/>
              </a:rPr>
              <a:t>Identify</a:t>
            </a:r>
            <a:endParaRPr b="1" i="0" sz="2500" u="none" cap="none" strike="noStrike">
              <a:solidFill>
                <a:srgbClr val="735FE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4" name="Google Shape;264;g3f69104deff_0_16"/>
          <p:cNvSpPr txBox="1"/>
          <p:nvPr/>
        </p:nvSpPr>
        <p:spPr>
          <a:xfrm>
            <a:off x="2029248" y="6209469"/>
            <a:ext cx="40308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735FE4"/>
                </a:solidFill>
                <a:latin typeface="Roboto"/>
                <a:ea typeface="Roboto"/>
                <a:cs typeface="Roboto"/>
                <a:sym typeface="Roboto"/>
              </a:rPr>
              <a:t>Run the same audit</a:t>
            </a: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→ quota/headroom, ML feature load, scheduled-job timing across every account above a size or traffic threshold, not just the one that had the incident.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g3f69104deff_0_16"/>
          <p:cNvSpPr/>
          <p:nvPr/>
        </p:nvSpPr>
        <p:spPr>
          <a:xfrm>
            <a:off x="2070034" y="5328725"/>
            <a:ext cx="640080" cy="59740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735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f69104deff_0_16"/>
          <p:cNvSpPr txBox="1"/>
          <p:nvPr/>
        </p:nvSpPr>
        <p:spPr>
          <a:xfrm>
            <a:off x="1565450" y="5291665"/>
            <a:ext cx="16539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b="1" i="0" sz="3000" u="none" cap="none" strike="noStrike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7" name="Google Shape;267;g3f69104deff_0_16"/>
          <p:cNvSpPr/>
          <p:nvPr/>
        </p:nvSpPr>
        <p:spPr>
          <a:xfrm>
            <a:off x="6763875" y="4944019"/>
            <a:ext cx="4558500" cy="3379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D752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f69104deff_0_16"/>
          <p:cNvSpPr txBox="1"/>
          <p:nvPr/>
        </p:nvSpPr>
        <p:spPr>
          <a:xfrm>
            <a:off x="6855879" y="5316463"/>
            <a:ext cx="37683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D752B2"/>
                </a:solidFill>
                <a:latin typeface="Lora"/>
                <a:ea typeface="Lora"/>
                <a:cs typeface="Lora"/>
                <a:sym typeface="Lora"/>
              </a:rPr>
              <a:t>Prioritize</a:t>
            </a:r>
            <a:endParaRPr b="1" i="0" sz="2500" u="none" cap="none" strike="noStrike">
              <a:solidFill>
                <a:srgbClr val="D752B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9" name="Google Shape;269;g3f69104deff_0_16"/>
          <p:cNvSpPr txBox="1"/>
          <p:nvPr/>
        </p:nvSpPr>
        <p:spPr>
          <a:xfrm>
            <a:off x="7089823" y="6209469"/>
            <a:ext cx="40308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D752B2"/>
                </a:solidFill>
                <a:latin typeface="Roboto"/>
                <a:ea typeface="Roboto"/>
                <a:cs typeface="Roboto"/>
                <a:sym typeface="Roboto"/>
              </a:rPr>
              <a:t>Flag accounts with a known upcoming peak event first</a:t>
            </a: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→ Black Friday/Cyber Monday, Singles’ Day, Diwali sales, Buen Fin/Hot Sale, etc. so the fix lands before their turn comes, not after.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g3f69104deff_0_16"/>
          <p:cNvSpPr/>
          <p:nvPr/>
        </p:nvSpPr>
        <p:spPr>
          <a:xfrm>
            <a:off x="7130609" y="5328725"/>
            <a:ext cx="640080" cy="59740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D752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f69104deff_0_16"/>
          <p:cNvSpPr txBox="1"/>
          <p:nvPr/>
        </p:nvSpPr>
        <p:spPr>
          <a:xfrm>
            <a:off x="6626025" y="5291665"/>
            <a:ext cx="16539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b="1" i="0" sz="3000" u="none" cap="none" strike="noStrike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2" name="Google Shape;272;g3f69104deff_0_16"/>
          <p:cNvSpPr/>
          <p:nvPr/>
        </p:nvSpPr>
        <p:spPr>
          <a:xfrm>
            <a:off x="12164050" y="4877544"/>
            <a:ext cx="4558500" cy="3379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FE8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f69104deff_0_16"/>
          <p:cNvSpPr txBox="1"/>
          <p:nvPr/>
        </p:nvSpPr>
        <p:spPr>
          <a:xfrm>
            <a:off x="12282948" y="5249988"/>
            <a:ext cx="37683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FE802E"/>
                </a:solidFill>
                <a:latin typeface="Lora"/>
                <a:ea typeface="Lora"/>
                <a:cs typeface="Lora"/>
                <a:sym typeface="Lora"/>
              </a:rPr>
              <a:t>Remediate</a:t>
            </a:r>
            <a:endParaRPr b="1" i="0" sz="2500" u="none" cap="none" strike="noStrike">
              <a:solidFill>
                <a:srgbClr val="FE802E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4" name="Google Shape;274;g3f69104deff_0_16"/>
          <p:cNvSpPr txBox="1"/>
          <p:nvPr/>
        </p:nvSpPr>
        <p:spPr>
          <a:xfrm>
            <a:off x="12489998" y="6142994"/>
            <a:ext cx="40308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Ship the same graceful-degradation and alerting fix as a platform-wide change, not a one-off patch to a single account’s configuration.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g3f69104deff_0_16"/>
          <p:cNvSpPr/>
          <p:nvPr/>
        </p:nvSpPr>
        <p:spPr>
          <a:xfrm>
            <a:off x="12530784" y="5262250"/>
            <a:ext cx="640080" cy="59740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E8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f69104deff_0_16"/>
          <p:cNvSpPr txBox="1"/>
          <p:nvPr/>
        </p:nvSpPr>
        <p:spPr>
          <a:xfrm>
            <a:off x="12026200" y="5225190"/>
            <a:ext cx="16539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b="1" i="0" sz="3000" u="none" cap="none" strike="noStrike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69104deff_0_54"/>
          <p:cNvSpPr txBox="1"/>
          <p:nvPr/>
        </p:nvSpPr>
        <p:spPr>
          <a:xfrm>
            <a:off x="1149750" y="431625"/>
            <a:ext cx="15988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lang="en-US" sz="80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RC Prevention by Owner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f69104deff_0_54"/>
          <p:cNvSpPr/>
          <p:nvPr/>
        </p:nvSpPr>
        <p:spPr>
          <a:xfrm>
            <a:off x="833731" y="3050250"/>
            <a:ext cx="3898500" cy="5717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735F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f69104deff_0_54"/>
          <p:cNvSpPr txBox="1"/>
          <p:nvPr/>
        </p:nvSpPr>
        <p:spPr>
          <a:xfrm>
            <a:off x="898831" y="4240272"/>
            <a:ext cx="37683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735FE4"/>
                </a:solidFill>
                <a:latin typeface="Lora"/>
                <a:ea typeface="Lora"/>
                <a:cs typeface="Lora"/>
                <a:sym typeface="Lora"/>
              </a:rPr>
              <a:t>Forward Deployed Engineer (FDE)</a:t>
            </a:r>
            <a:endParaRPr b="1" sz="2500">
              <a:solidFill>
                <a:srgbClr val="735FE4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sz="2500">
              <a:solidFill>
                <a:srgbClr val="735FE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4" name="Google Shape;284;g3f69104deff_0_54"/>
          <p:cNvSpPr txBox="1"/>
          <p:nvPr/>
        </p:nvSpPr>
        <p:spPr>
          <a:xfrm>
            <a:off x="1083475" y="5351800"/>
            <a:ext cx="3434700" cy="30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Peak-readiness audit 2-4 weeks before every known event, checking usage directly against licensed limits → Buen Fin-style peaks are calendared, not surprises.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Load test against the account’s own real peak curve with the customer’s technical team → a generic load profile misses the query patterns that actually spike.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g3f69104deff_0_54"/>
          <p:cNvSpPr/>
          <p:nvPr/>
        </p:nvSpPr>
        <p:spPr>
          <a:xfrm>
            <a:off x="1200456" y="3462250"/>
            <a:ext cx="640080" cy="64008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735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f69104deff_0_54"/>
          <p:cNvSpPr txBox="1"/>
          <p:nvPr/>
        </p:nvSpPr>
        <p:spPr>
          <a:xfrm>
            <a:off x="695871" y="3451363"/>
            <a:ext cx="16539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b="1" i="0" sz="3000" u="none" cap="none" strike="noStrike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7" name="Google Shape;287;g3f69104deff_0_54"/>
          <p:cNvSpPr/>
          <p:nvPr/>
        </p:nvSpPr>
        <p:spPr>
          <a:xfrm>
            <a:off x="5105431" y="3050250"/>
            <a:ext cx="3898500" cy="5717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FDBD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f69104deff_0_54"/>
          <p:cNvSpPr txBox="1"/>
          <p:nvPr/>
        </p:nvSpPr>
        <p:spPr>
          <a:xfrm>
            <a:off x="5166031" y="4240275"/>
            <a:ext cx="37683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FDBD00"/>
                </a:solidFill>
                <a:latin typeface="Lora"/>
                <a:ea typeface="Lora"/>
                <a:cs typeface="Lora"/>
                <a:sym typeface="Lora"/>
              </a:rPr>
              <a:t>Cloud Ops / Platform Engineering</a:t>
            </a:r>
            <a:endParaRPr b="1" sz="2500">
              <a:solidFill>
                <a:srgbClr val="FDBD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9" name="Google Shape;289;g3f69104deff_0_54"/>
          <p:cNvSpPr txBox="1"/>
          <p:nvPr/>
        </p:nvSpPr>
        <p:spPr>
          <a:xfrm>
            <a:off x="5396125" y="5351800"/>
            <a:ext cx="3434700" cy="26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Proactive quota/headroom alerting, not just enforcement → built and owned by Platform Engineering, routed to both the FDE and the account team.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Built-in graceful degradation at a defined threshold, shipped as a product capability → </a:t>
            </a:r>
            <a:r>
              <a:rPr lang="en-US" sz="16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</a:t>
            </a: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 manual call improvised under pressure.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g3f69104deff_0_54"/>
          <p:cNvSpPr/>
          <p:nvPr/>
        </p:nvSpPr>
        <p:spPr>
          <a:xfrm>
            <a:off x="5472156" y="3462250"/>
            <a:ext cx="640080" cy="64008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DB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f69104deff_0_54"/>
          <p:cNvSpPr txBox="1"/>
          <p:nvPr/>
        </p:nvSpPr>
        <p:spPr>
          <a:xfrm>
            <a:off x="4967571" y="3451363"/>
            <a:ext cx="16539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b="1" i="0" sz="3000" u="none" cap="none" strike="noStrike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2" name="Google Shape;292;g3f69104deff_0_54"/>
          <p:cNvSpPr/>
          <p:nvPr/>
        </p:nvSpPr>
        <p:spPr>
          <a:xfrm>
            <a:off x="9368131" y="3050250"/>
            <a:ext cx="3898500" cy="5717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D752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f69104deff_0_54"/>
          <p:cNvSpPr txBox="1"/>
          <p:nvPr/>
        </p:nvSpPr>
        <p:spPr>
          <a:xfrm>
            <a:off x="9437731" y="4240275"/>
            <a:ext cx="37683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D752B2"/>
                </a:solidFill>
                <a:latin typeface="Lora"/>
                <a:ea typeface="Lora"/>
                <a:cs typeface="Lora"/>
                <a:sym typeface="Lora"/>
              </a:rPr>
              <a:t>Product / R&amp;D</a:t>
            </a:r>
            <a:endParaRPr b="1" i="0" sz="2500" u="none" cap="none" strike="noStrike">
              <a:solidFill>
                <a:srgbClr val="D752B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4" name="Google Shape;294;g3f69104deff_0_54"/>
          <p:cNvSpPr txBox="1"/>
          <p:nvPr/>
        </p:nvSpPr>
        <p:spPr>
          <a:xfrm>
            <a:off x="9698575" y="5351801"/>
            <a:ext cx="3246600" cy="29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Peak-event scheduling awareness built in, so index rebuilds and model retrains stop competing with a calendared sale window.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Self-serve usage-vs-limit visibility in-product, fed by Platform Engineering’s telemetry → not checked for the first time mid-incident.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g3f69104deff_0_54"/>
          <p:cNvSpPr/>
          <p:nvPr/>
        </p:nvSpPr>
        <p:spPr>
          <a:xfrm>
            <a:off x="9734856" y="3462250"/>
            <a:ext cx="640080" cy="64008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D752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f69104deff_0_54"/>
          <p:cNvSpPr txBox="1"/>
          <p:nvPr/>
        </p:nvSpPr>
        <p:spPr>
          <a:xfrm>
            <a:off x="9230271" y="3451363"/>
            <a:ext cx="16539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b="1" i="0" sz="3000" u="none" cap="none" strike="noStrike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7" name="Google Shape;297;g3f69104deff_0_54"/>
          <p:cNvSpPr/>
          <p:nvPr/>
        </p:nvSpPr>
        <p:spPr>
          <a:xfrm>
            <a:off x="13639831" y="3050250"/>
            <a:ext cx="3898500" cy="5717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FE8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f69104deff_0_54"/>
          <p:cNvSpPr txBox="1"/>
          <p:nvPr/>
        </p:nvSpPr>
        <p:spPr>
          <a:xfrm>
            <a:off x="13709431" y="4240275"/>
            <a:ext cx="37683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FE802E"/>
                </a:solidFill>
                <a:latin typeface="Lora"/>
                <a:ea typeface="Lora"/>
                <a:cs typeface="Lora"/>
                <a:sym typeface="Lora"/>
              </a:rPr>
              <a:t>Customer Success / Account </a:t>
            </a:r>
            <a:r>
              <a:rPr b="1" lang="en-US" sz="2500">
                <a:solidFill>
                  <a:srgbClr val="FE802E"/>
                </a:solidFill>
                <a:latin typeface="Lora"/>
                <a:ea typeface="Lora"/>
                <a:cs typeface="Lora"/>
                <a:sym typeface="Lora"/>
              </a:rPr>
              <a:t>Management</a:t>
            </a:r>
            <a:endParaRPr b="1" sz="2500">
              <a:solidFill>
                <a:srgbClr val="FE802E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9" name="Google Shape;299;g3f69104deff_0_54"/>
          <p:cNvSpPr txBox="1"/>
          <p:nvPr/>
        </p:nvSpPr>
        <p:spPr>
          <a:xfrm>
            <a:off x="13911975" y="5351800"/>
            <a:ext cx="3434700" cy="29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Peak-readiness checklist rolled out account by account → every account with a calendared peak (Black Friday, Singles’ Day, Diwali, Buen Fin) gets it before their date.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Postmortem output includes a base-wide flag list of accounts with the same risk signature, turned into proactive outreach by CS.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g3f69104deff_0_54"/>
          <p:cNvSpPr/>
          <p:nvPr/>
        </p:nvSpPr>
        <p:spPr>
          <a:xfrm>
            <a:off x="14006556" y="3462250"/>
            <a:ext cx="640080" cy="64008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E8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f69104deff_0_54"/>
          <p:cNvSpPr txBox="1"/>
          <p:nvPr/>
        </p:nvSpPr>
        <p:spPr>
          <a:xfrm>
            <a:off x="13501971" y="3451363"/>
            <a:ext cx="16539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 b="1" i="0" sz="3000" u="none" cap="none" strike="noStrike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69104deff_0_78"/>
          <p:cNvSpPr txBox="1"/>
          <p:nvPr/>
        </p:nvSpPr>
        <p:spPr>
          <a:xfrm>
            <a:off x="2561090" y="431625"/>
            <a:ext cx="13165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lang="en-US" sz="80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Customer </a:t>
            </a:r>
            <a:r>
              <a:rPr b="1" lang="en-US" sz="80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Visibility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f69104deff_0_78"/>
          <p:cNvSpPr txBox="1"/>
          <p:nvPr/>
        </p:nvSpPr>
        <p:spPr>
          <a:xfrm>
            <a:off x="1680900" y="2635709"/>
            <a:ext cx="14926200" cy="13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gap this incident exposed:</a:t>
            </a:r>
            <a:r>
              <a:rPr lang="en-US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Coppel found out through their own leadership asking us for an update → not through a channel given to them. A shared, always-on dashboard closes that gap.</a:t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g3f69104deff_0_78"/>
          <p:cNvSpPr/>
          <p:nvPr/>
        </p:nvSpPr>
        <p:spPr>
          <a:xfrm>
            <a:off x="754700" y="4341229"/>
            <a:ext cx="4030800" cy="179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735F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f69104deff_0_78"/>
          <p:cNvSpPr txBox="1"/>
          <p:nvPr/>
        </p:nvSpPr>
        <p:spPr>
          <a:xfrm>
            <a:off x="1104066" y="4485070"/>
            <a:ext cx="33321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735FE4"/>
                </a:solidFill>
                <a:latin typeface="Lora"/>
                <a:ea typeface="Lora"/>
                <a:cs typeface="Lora"/>
                <a:sym typeface="Lora"/>
              </a:rPr>
              <a:t>Query error rate</a:t>
            </a:r>
            <a:endParaRPr b="1" sz="2500">
              <a:solidFill>
                <a:srgbClr val="735FE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10" name="Google Shape;310;g3f69104deff_0_78"/>
          <p:cNvSpPr txBox="1"/>
          <p:nvPr/>
        </p:nvSpPr>
        <p:spPr>
          <a:xfrm>
            <a:off x="1042917" y="5073278"/>
            <a:ext cx="35643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5-min rolling window, from Search API response codes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rgbClr val="735F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g3f69104deff_0_78"/>
          <p:cNvSpPr/>
          <p:nvPr/>
        </p:nvSpPr>
        <p:spPr>
          <a:xfrm>
            <a:off x="5003975" y="4341229"/>
            <a:ext cx="4030800" cy="179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D752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f69104deff_0_78"/>
          <p:cNvSpPr txBox="1"/>
          <p:nvPr/>
        </p:nvSpPr>
        <p:spPr>
          <a:xfrm>
            <a:off x="5328815" y="4528982"/>
            <a:ext cx="33321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D752B2"/>
                </a:solidFill>
                <a:latin typeface="Lora"/>
                <a:ea typeface="Lora"/>
                <a:cs typeface="Lora"/>
                <a:sym typeface="Lora"/>
              </a:rPr>
              <a:t>Quota headroom</a:t>
            </a:r>
            <a:endParaRPr b="1" sz="2500">
              <a:solidFill>
                <a:srgbClr val="D752B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13" name="Google Shape;313;g3f69104deff_0_78"/>
          <p:cNvSpPr txBox="1"/>
          <p:nvPr/>
        </p:nvSpPr>
        <p:spPr>
          <a:xfrm>
            <a:off x="5298238" y="5150778"/>
            <a:ext cx="35643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GQPM &amp; query volume vs. licensed limit, via the Usage Analytics API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g3f69104deff_0_78"/>
          <p:cNvSpPr/>
          <p:nvPr/>
        </p:nvSpPr>
        <p:spPr>
          <a:xfrm>
            <a:off x="9253250" y="4341229"/>
            <a:ext cx="4006200" cy="179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FE8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f69104deff_0_78"/>
          <p:cNvSpPr txBox="1"/>
          <p:nvPr/>
        </p:nvSpPr>
        <p:spPr>
          <a:xfrm>
            <a:off x="9600485" y="4485070"/>
            <a:ext cx="33117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FE802E"/>
                </a:solidFill>
                <a:latin typeface="Lora"/>
                <a:ea typeface="Lora"/>
                <a:cs typeface="Lora"/>
                <a:sym typeface="Lora"/>
              </a:rPr>
              <a:t>P95 latency</a:t>
            </a:r>
            <a:endParaRPr b="1" sz="2500">
              <a:solidFill>
                <a:srgbClr val="FE802E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16" name="Google Shape;316;g3f69104deff_0_78"/>
          <p:cNvSpPr txBox="1"/>
          <p:nvPr/>
        </p:nvSpPr>
        <p:spPr>
          <a:xfrm>
            <a:off x="9539710" y="5073278"/>
            <a:ext cx="35424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Search API response time, trended against baseline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rgbClr val="735F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g3f69104deff_0_78"/>
          <p:cNvSpPr/>
          <p:nvPr/>
        </p:nvSpPr>
        <p:spPr>
          <a:xfrm>
            <a:off x="13527103" y="4341229"/>
            <a:ext cx="4006200" cy="179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FDBD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f69104deff_0_78"/>
          <p:cNvSpPr txBox="1"/>
          <p:nvPr/>
        </p:nvSpPr>
        <p:spPr>
          <a:xfrm>
            <a:off x="13587025" y="4528979"/>
            <a:ext cx="39003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FDBD00"/>
                </a:solidFill>
                <a:latin typeface="Lora"/>
                <a:ea typeface="Lora"/>
                <a:cs typeface="Lora"/>
                <a:sym typeface="Lora"/>
              </a:rPr>
              <a:t>Traffic vs. peak baseline</a:t>
            </a:r>
            <a:endParaRPr b="1" sz="2500">
              <a:solidFill>
                <a:srgbClr val="FDBD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19" name="Google Shape;319;g3f69104deff_0_78"/>
          <p:cNvSpPr txBox="1"/>
          <p:nvPr/>
        </p:nvSpPr>
        <p:spPr>
          <a:xfrm>
            <a:off x="13819561" y="5150778"/>
            <a:ext cx="35424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Current volume vs. the account’s own last comparable event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g3f69104deff_0_78"/>
          <p:cNvSpPr/>
          <p:nvPr/>
        </p:nvSpPr>
        <p:spPr>
          <a:xfrm>
            <a:off x="1264025" y="7173028"/>
            <a:ext cx="14926200" cy="1728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735F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f69104deff_0_78"/>
          <p:cNvSpPr txBox="1"/>
          <p:nvPr/>
        </p:nvSpPr>
        <p:spPr>
          <a:xfrm>
            <a:off x="1574075" y="7374657"/>
            <a:ext cx="14926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735FE4"/>
                </a:solidFill>
                <a:latin typeface="Roboto"/>
                <a:ea typeface="Roboto"/>
                <a:cs typeface="Roboto"/>
                <a:sym typeface="Roboto"/>
              </a:rPr>
              <a:t>Example alert rule:</a:t>
            </a:r>
            <a:br>
              <a:rPr b="1" lang="en-US" sz="2100">
                <a:solidFill>
                  <a:srgbClr val="735FE4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Error rate &gt; 5% sustained 5 min, or quota headroom &lt; 10% → fires simultaneously to Coppel’s on-call Slack and Coveo’s account team. Same signal, same moment, both sides -- not Coveo finding out first, or the customer finding out last.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683cc5795_0_270"/>
          <p:cNvSpPr txBox="1"/>
          <p:nvPr/>
        </p:nvSpPr>
        <p:spPr>
          <a:xfrm>
            <a:off x="1149750" y="431625"/>
            <a:ext cx="15988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Key Takeaways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f683cc5795_0_270"/>
          <p:cNvSpPr txBox="1"/>
          <p:nvPr/>
        </p:nvSpPr>
        <p:spPr>
          <a:xfrm>
            <a:off x="887497" y="2911390"/>
            <a:ext cx="13836900" cy="50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</a:pPr>
            <a:r>
              <a:rPr b="1" i="0" lang="en-US" sz="2100" u="none" cap="none" strike="noStrike">
                <a:solidFill>
                  <a:srgbClr val="735FE4"/>
                </a:solidFill>
                <a:latin typeface="Roboto"/>
                <a:ea typeface="Roboto"/>
                <a:cs typeface="Roboto"/>
                <a:sym typeface="Roboto"/>
              </a:rPr>
              <a:t>Structure comes before diagnosis</a:t>
            </a: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→ severity, ownership, and a stabilize/investigate split are decided in the first minutes, not discovered along the way</a:t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</a:pPr>
            <a:r>
              <a:rPr b="1" i="0" lang="en-US" sz="2100" u="none" cap="none" strike="noStrike">
                <a:solidFill>
                  <a:srgbClr val="FDBD00"/>
                </a:solidFill>
                <a:latin typeface="Roboto"/>
                <a:ea typeface="Roboto"/>
                <a:cs typeface="Roboto"/>
                <a:sym typeface="Roboto"/>
              </a:rPr>
              <a:t>Stabilization and root-cause analysis run in parallel, not in sequence</a:t>
            </a: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→ the customer doesn’t wait on a confirmed cause to get relief</a:t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</a:pPr>
            <a:r>
              <a:rPr b="1" i="0" lang="en-US" sz="2100" u="none" cap="none" strike="noStrike">
                <a:solidFill>
                  <a:srgbClr val="D752B2"/>
                </a:solidFill>
                <a:latin typeface="Roboto"/>
                <a:ea typeface="Roboto"/>
                <a:cs typeface="Roboto"/>
                <a:sym typeface="Roboto"/>
              </a:rPr>
              <a:t>One set of facts, two honest deliveries</a:t>
            </a: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→ internal and customer-facing updates diverge in tone and detail, never in truth</a:t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</a:pPr>
            <a:r>
              <a:rPr b="1" i="0" lang="en-US" sz="2100" u="none" cap="none" strike="noStrike">
                <a:solidFill>
                  <a:srgbClr val="FE802E"/>
                </a:solidFill>
                <a:latin typeface="Roboto"/>
                <a:ea typeface="Roboto"/>
                <a:cs typeface="Roboto"/>
                <a:sym typeface="Roboto"/>
              </a:rPr>
              <a:t>The incident isn’t over when the error rate drops</a:t>
            </a: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→ it’s over when the postmortem, the engineering fix, and the customer follow-through are all closed</a:t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g3f683cc5795_0_270"/>
          <p:cNvSpPr/>
          <p:nvPr/>
        </p:nvSpPr>
        <p:spPr>
          <a:xfrm>
            <a:off x="13721177" y="6158749"/>
            <a:ext cx="4297841" cy="3907129"/>
          </a:xfrm>
          <a:custGeom>
            <a:rect b="b" l="l" r="r" t="t"/>
            <a:pathLst>
              <a:path extrusionOk="0" h="1825761" w="2008337">
                <a:moveTo>
                  <a:pt x="0" y="0"/>
                </a:moveTo>
                <a:lnTo>
                  <a:pt x="2008337" y="0"/>
                </a:lnTo>
                <a:lnTo>
                  <a:pt x="2008337" y="1825761"/>
                </a:lnTo>
                <a:lnTo>
                  <a:pt x="0" y="18257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683cc5795_0_276"/>
          <p:cNvSpPr/>
          <p:nvPr/>
        </p:nvSpPr>
        <p:spPr>
          <a:xfrm>
            <a:off x="5405707" y="3738284"/>
            <a:ext cx="7395900" cy="1748100"/>
          </a:xfrm>
          <a:prstGeom prst="roundRect">
            <a:avLst>
              <a:gd fmla="val 16667" name="adj"/>
            </a:avLst>
          </a:prstGeom>
          <a:solidFill>
            <a:srgbClr val="FDBD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DBD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f683cc5795_0_276"/>
          <p:cNvSpPr txBox="1"/>
          <p:nvPr/>
        </p:nvSpPr>
        <p:spPr>
          <a:xfrm>
            <a:off x="80703" y="3941313"/>
            <a:ext cx="18126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Thank you 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