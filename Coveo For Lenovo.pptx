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Russo One"/>
      <p:regular r:id="rId13"/>
    </p:embeddedFon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Z8jTByaMrolFP6kqvu7iFNxM0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ussoOne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673f2796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673f2796f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673f2796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f673f2796f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Lenovo sells heavily into government and public-sector accounts :  federal, state, and international agencies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that channel typically requires vendors, and their vendors' vendors, to demonstrate NIST-aligned security practices before a SaaS tool can touch any part of the customer or support experience.</a:t>
            </a:r>
            <a:endParaRPr/>
          </a:p>
        </p:txBody>
      </p:sp>
      <p:sp>
        <p:nvSpPr>
          <p:cNvPr id="178" name="Google Shape;1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673f2796f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f673f2796f_0_2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idx="1" type="subTitle"/>
          </p:nvPr>
        </p:nvSpPr>
        <p:spPr>
          <a:xfrm>
            <a:off x="1879300" y="515662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1" name="Google Shape;1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3"/>
          <p:cNvSpPr/>
          <p:nvPr/>
        </p:nvSpPr>
        <p:spPr>
          <a:xfrm>
            <a:off x="1259565" y="572753"/>
            <a:ext cx="441042" cy="441042"/>
          </a:xfrm>
          <a:custGeom>
            <a:rect b="b" l="l" r="r" t="t"/>
            <a:pathLst>
              <a:path extrusionOk="0" h="441042" w="441042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" name="Google Shape;13;p23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3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3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3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3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3"/>
          <p:cNvSpPr txBox="1"/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i="0" sz="7000" u="none" cap="none" strike="noStrik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70875" y="-3150875"/>
            <a:ext cx="28688051" cy="2868802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4"/>
          <p:cNvSpPr txBox="1"/>
          <p:nvPr>
            <p:ph idx="1" type="body"/>
          </p:nvPr>
        </p:nvSpPr>
        <p:spPr>
          <a:xfrm>
            <a:off x="1565550" y="43361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2" name="Google Shape;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4"/>
          <p:cNvSpPr/>
          <p:nvPr/>
        </p:nvSpPr>
        <p:spPr>
          <a:xfrm>
            <a:off x="1259565" y="572753"/>
            <a:ext cx="441042" cy="441042"/>
          </a:xfrm>
          <a:custGeom>
            <a:rect b="b" l="l" r="r" t="t"/>
            <a:pathLst>
              <a:path extrusionOk="0" h="441042" w="441042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" name="Google Shape;24;p24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4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4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4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4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4"/>
          <p:cNvSpPr txBox="1"/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i="0" sz="7000" u="none" cap="none" strike="noStrik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0074" y="-4409076"/>
            <a:ext cx="28184550" cy="2818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5"/>
          <p:cNvSpPr txBox="1"/>
          <p:nvPr>
            <p:ph idx="1" type="body"/>
          </p:nvPr>
        </p:nvSpPr>
        <p:spPr>
          <a:xfrm>
            <a:off x="1879288" y="65596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pic>
        <p:nvPicPr>
          <p:cNvPr id="33" name="Google Shape;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5"/>
          <p:cNvSpPr/>
          <p:nvPr/>
        </p:nvSpPr>
        <p:spPr>
          <a:xfrm>
            <a:off x="1259565" y="572753"/>
            <a:ext cx="441042" cy="441042"/>
          </a:xfrm>
          <a:custGeom>
            <a:rect b="b" l="l" r="r" t="t"/>
            <a:pathLst>
              <a:path extrusionOk="0" h="441042" w="441042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" name="Google Shape;35;p25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5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5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5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5"/>
          <p:cNvSpPr txBox="1"/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i="0" sz="7000" u="none" cap="none" strike="noStrik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08950" y="-2310825"/>
            <a:ext cx="20102175" cy="2032047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6"/>
          <p:cNvSpPr txBox="1"/>
          <p:nvPr>
            <p:ph idx="1" type="body"/>
          </p:nvPr>
        </p:nvSpPr>
        <p:spPr>
          <a:xfrm>
            <a:off x="2333350" y="5034975"/>
            <a:ext cx="61650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2" type="body"/>
          </p:nvPr>
        </p:nvSpPr>
        <p:spPr>
          <a:xfrm>
            <a:off x="8730922" y="5034975"/>
            <a:ext cx="61650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pic>
        <p:nvPicPr>
          <p:cNvPr id="45" name="Google Shape;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6"/>
          <p:cNvSpPr/>
          <p:nvPr/>
        </p:nvSpPr>
        <p:spPr>
          <a:xfrm>
            <a:off x="1259565" y="572753"/>
            <a:ext cx="441042" cy="441042"/>
          </a:xfrm>
          <a:custGeom>
            <a:rect b="b" l="l" r="r" t="t"/>
            <a:pathLst>
              <a:path extrusionOk="0" h="441042" w="441042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" name="Google Shape;47;p26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6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6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6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6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6"/>
          <p:cNvSpPr txBox="1"/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i="0" sz="7000" u="none" cap="none" strike="noStrik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idx="1" type="body"/>
          </p:nvPr>
        </p:nvSpPr>
        <p:spPr>
          <a:xfrm>
            <a:off x="2207625" y="4468500"/>
            <a:ext cx="57864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2" type="body"/>
          </p:nvPr>
        </p:nvSpPr>
        <p:spPr>
          <a:xfrm>
            <a:off x="8205511" y="4468500"/>
            <a:ext cx="5788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pic>
        <p:nvPicPr>
          <p:cNvPr id="56" name="Google Shape;5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7"/>
          <p:cNvSpPr/>
          <p:nvPr/>
        </p:nvSpPr>
        <p:spPr>
          <a:xfrm>
            <a:off x="1259565" y="572753"/>
            <a:ext cx="441042" cy="441042"/>
          </a:xfrm>
          <a:custGeom>
            <a:rect b="b" l="l" r="r" t="t"/>
            <a:pathLst>
              <a:path extrusionOk="0" h="441042" w="441042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" name="Google Shape;58;p27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7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7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7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7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7"/>
          <p:cNvSpPr txBox="1"/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i="0" sz="7000" u="none" cap="none" strike="noStrik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64" name="Google Shape;6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76125" y="5358673"/>
            <a:ext cx="8614049" cy="8303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8"/>
          <p:cNvSpPr/>
          <p:nvPr/>
        </p:nvSpPr>
        <p:spPr>
          <a:xfrm>
            <a:off x="1259565" y="572753"/>
            <a:ext cx="441042" cy="441042"/>
          </a:xfrm>
          <a:custGeom>
            <a:rect b="b" l="l" r="r" t="t"/>
            <a:pathLst>
              <a:path extrusionOk="0" h="441042" w="441042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" name="Google Shape;68;p28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8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8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8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8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8"/>
          <p:cNvSpPr txBox="1"/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i="0" sz="7000" u="none" cap="none" strike="noStrik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74" name="Google Shape;7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31575" y="6301500"/>
            <a:ext cx="8625637" cy="820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9"/>
          <p:cNvSpPr txBox="1"/>
          <p:nvPr>
            <p:ph idx="1" type="body"/>
          </p:nvPr>
        </p:nvSpPr>
        <p:spPr>
          <a:xfrm>
            <a:off x="7954175" y="4468500"/>
            <a:ext cx="65619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2" type="body"/>
          </p:nvPr>
        </p:nvSpPr>
        <p:spPr>
          <a:xfrm>
            <a:off x="1700600" y="4468500"/>
            <a:ext cx="61152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79" name="Google Shape;79;p29"/>
          <p:cNvSpPr/>
          <p:nvPr/>
        </p:nvSpPr>
        <p:spPr>
          <a:xfrm>
            <a:off x="1259565" y="572753"/>
            <a:ext cx="441042" cy="441042"/>
          </a:xfrm>
          <a:custGeom>
            <a:rect b="b" l="l" r="r" t="t"/>
            <a:pathLst>
              <a:path extrusionOk="0" h="441042" w="441042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" name="Google Shape;80;p29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9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9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9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9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9"/>
          <p:cNvSpPr txBox="1"/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i="0" sz="7000" u="none" cap="none" strike="noStrik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86" name="Google Shape;8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88550" y="5358678"/>
            <a:ext cx="8483351" cy="8068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60775" y="-3402775"/>
            <a:ext cx="26150651" cy="261506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0"/>
          <p:cNvSpPr/>
          <p:nvPr>
            <p:ph idx="2" type="pic"/>
          </p:nvPr>
        </p:nvSpPr>
        <p:spPr>
          <a:xfrm>
            <a:off x="9830651" y="4158050"/>
            <a:ext cx="6267600" cy="47004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30"/>
          <p:cNvSpPr txBox="1"/>
          <p:nvPr>
            <p:ph idx="1" type="body"/>
          </p:nvPr>
        </p:nvSpPr>
        <p:spPr>
          <a:xfrm>
            <a:off x="1503613" y="47410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pic>
        <p:nvPicPr>
          <p:cNvPr id="91" name="Google Shape;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0"/>
          <p:cNvSpPr/>
          <p:nvPr/>
        </p:nvSpPr>
        <p:spPr>
          <a:xfrm>
            <a:off x="1259565" y="572753"/>
            <a:ext cx="441042" cy="441042"/>
          </a:xfrm>
          <a:custGeom>
            <a:rect b="b" l="l" r="r" t="t"/>
            <a:pathLst>
              <a:path extrusionOk="0" h="441042" w="441042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30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0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0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0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0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0"/>
          <p:cNvSpPr txBox="1"/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i="0" sz="7000" u="none" cap="none" strike="noStrik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b="0" i="0" sz="7000" u="none" cap="none" strike="noStrik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5029200" y="43999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b="0" i="0" sz="24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–"/>
              <a:defRPr b="0" i="0" sz="24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b="0" i="0" sz="24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–"/>
              <a:defRPr b="0" i="0" sz="24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»"/>
              <a:defRPr b="0" i="0" sz="24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b="0" i="0" sz="24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b="0" i="0" sz="24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b="0" i="0" sz="24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b="0" i="0" sz="24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9" Type="http://schemas.openxmlformats.org/officeDocument/2006/relationships/image" Target="../media/image24.png"/><Relationship Id="rId5" Type="http://schemas.openxmlformats.org/officeDocument/2006/relationships/image" Target="../media/image3.png"/><Relationship Id="rId6" Type="http://schemas.openxmlformats.org/officeDocument/2006/relationships/hyperlink" Target="http://lenovo.com" TargetMode="External"/><Relationship Id="rId7" Type="http://schemas.openxmlformats.org/officeDocument/2006/relationships/image" Target="../media/image15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8.png"/><Relationship Id="rId10" Type="http://schemas.openxmlformats.org/officeDocument/2006/relationships/image" Target="../media/image15.png"/><Relationship Id="rId9" Type="http://schemas.openxmlformats.org/officeDocument/2006/relationships/image" Target="../media/image24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9650" y="-3895751"/>
            <a:ext cx="29739448" cy="2973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1375" y="-1244732"/>
            <a:ext cx="19135124" cy="18938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341225" y="-4409075"/>
            <a:ext cx="10068601" cy="976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7150" y="1452769"/>
            <a:ext cx="7819976" cy="846293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 txBox="1"/>
          <p:nvPr/>
        </p:nvSpPr>
        <p:spPr>
          <a:xfrm>
            <a:off x="1028700" y="2869111"/>
            <a:ext cx="74577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7"/>
              <a:buFont typeface="Arial"/>
              <a:buNone/>
            </a:pPr>
            <a:r>
              <a:rPr lang="en-US" sz="5757">
                <a:solidFill>
                  <a:srgbClr val="01294F"/>
                </a:solidFill>
                <a:latin typeface="Russo One"/>
                <a:ea typeface="Russo One"/>
                <a:cs typeface="Russo One"/>
                <a:sym typeface="Russo One"/>
              </a:rPr>
              <a:t>Coveo for: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7"/>
              <a:buFont typeface="Arial"/>
              <a:buNone/>
            </a:pPr>
            <a:r>
              <a:rPr lang="en-US" sz="5757">
                <a:solidFill>
                  <a:srgbClr val="FF3737"/>
                </a:solidFill>
                <a:latin typeface="Russo One"/>
                <a:ea typeface="Russo One"/>
                <a:cs typeface="Russo One"/>
                <a:sym typeface="Russo One"/>
              </a:rPr>
              <a:t>Lenovo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1"/>
          <p:cNvGrpSpPr/>
          <p:nvPr/>
        </p:nvGrpSpPr>
        <p:grpSpPr>
          <a:xfrm>
            <a:off x="437050" y="8815925"/>
            <a:ext cx="2938266" cy="970488"/>
            <a:chOff x="0" y="-28576"/>
            <a:chExt cx="1299600" cy="255600"/>
          </a:xfrm>
        </p:grpSpPr>
        <p:sp>
          <p:nvSpPr>
            <p:cNvPr id="109" name="Google Shape;109;p1"/>
            <p:cNvSpPr/>
            <p:nvPr/>
          </p:nvSpPr>
          <p:spPr>
            <a:xfrm>
              <a:off x="0" y="0"/>
              <a:ext cx="1299567" cy="226918"/>
            </a:xfrm>
            <a:custGeom>
              <a:rect b="b" l="l" r="r" t="t"/>
              <a:pathLst>
                <a:path extrusionOk="0" h="226918" w="1299567">
                  <a:moveTo>
                    <a:pt x="80019" y="0"/>
                  </a:moveTo>
                  <a:lnTo>
                    <a:pt x="1219548" y="0"/>
                  </a:lnTo>
                  <a:cubicBezTo>
                    <a:pt x="1263741" y="0"/>
                    <a:pt x="1299567" y="35826"/>
                    <a:pt x="1299567" y="80019"/>
                  </a:cubicBezTo>
                  <a:lnTo>
                    <a:pt x="1299567" y="146899"/>
                  </a:lnTo>
                  <a:cubicBezTo>
                    <a:pt x="1299567" y="191092"/>
                    <a:pt x="1263741" y="226918"/>
                    <a:pt x="1219548" y="226918"/>
                  </a:cubicBezTo>
                  <a:lnTo>
                    <a:pt x="80019" y="226918"/>
                  </a:lnTo>
                  <a:cubicBezTo>
                    <a:pt x="35826" y="226918"/>
                    <a:pt x="0" y="191092"/>
                    <a:pt x="0" y="146899"/>
                  </a:cubicBezTo>
                  <a:lnTo>
                    <a:pt x="0" y="80019"/>
                  </a:lnTo>
                  <a:cubicBezTo>
                    <a:pt x="0" y="35826"/>
                    <a:pt x="35826" y="0"/>
                    <a:pt x="80019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 txBox="1"/>
            <p:nvPr/>
          </p:nvSpPr>
          <p:spPr>
            <a:xfrm>
              <a:off x="0" y="-28576"/>
              <a:ext cx="12996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Ariele Silva</a:t>
              </a:r>
              <a:endParaRPr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1" name="Google Shape;111;p1"/>
          <p:cNvGrpSpPr/>
          <p:nvPr/>
        </p:nvGrpSpPr>
        <p:grpSpPr>
          <a:xfrm>
            <a:off x="16380841" y="2431178"/>
            <a:ext cx="427770" cy="331779"/>
            <a:chOff x="0" y="-28575"/>
            <a:chExt cx="112664" cy="87382"/>
          </a:xfrm>
        </p:grpSpPr>
        <p:sp>
          <p:nvSpPr>
            <p:cNvPr id="112" name="Google Shape;112;p1"/>
            <p:cNvSpPr/>
            <p:nvPr/>
          </p:nvSpPr>
          <p:spPr>
            <a:xfrm>
              <a:off x="0" y="0"/>
              <a:ext cx="112664" cy="58807"/>
            </a:xfrm>
            <a:custGeom>
              <a:rect b="b" l="l" r="r" t="t"/>
              <a:pathLst>
                <a:path extrusionOk="0" h="58807" w="112664">
                  <a:moveTo>
                    <a:pt x="0" y="0"/>
                  </a:moveTo>
                  <a:lnTo>
                    <a:pt x="112664" y="0"/>
                  </a:lnTo>
                  <a:lnTo>
                    <a:pt x="112664" y="58807"/>
                  </a:lnTo>
                  <a:lnTo>
                    <a:pt x="0" y="588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0" y="-28575"/>
              <a:ext cx="112664" cy="873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"/>
          <p:cNvGrpSpPr/>
          <p:nvPr/>
        </p:nvGrpSpPr>
        <p:grpSpPr>
          <a:xfrm>
            <a:off x="17140922" y="3150592"/>
            <a:ext cx="427770" cy="331779"/>
            <a:chOff x="0" y="-28575"/>
            <a:chExt cx="112664" cy="87382"/>
          </a:xfrm>
        </p:grpSpPr>
        <p:sp>
          <p:nvSpPr>
            <p:cNvPr id="115" name="Google Shape;115;p1"/>
            <p:cNvSpPr/>
            <p:nvPr/>
          </p:nvSpPr>
          <p:spPr>
            <a:xfrm>
              <a:off x="0" y="0"/>
              <a:ext cx="112664" cy="58807"/>
            </a:xfrm>
            <a:custGeom>
              <a:rect b="b" l="l" r="r" t="t"/>
              <a:pathLst>
                <a:path extrusionOk="0" h="58807" w="112664">
                  <a:moveTo>
                    <a:pt x="0" y="0"/>
                  </a:moveTo>
                  <a:lnTo>
                    <a:pt x="112664" y="0"/>
                  </a:lnTo>
                  <a:lnTo>
                    <a:pt x="112664" y="58807"/>
                  </a:lnTo>
                  <a:lnTo>
                    <a:pt x="0" y="588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1"/>
            <p:cNvSpPr txBox="1"/>
            <p:nvPr/>
          </p:nvSpPr>
          <p:spPr>
            <a:xfrm>
              <a:off x="0" y="-28575"/>
              <a:ext cx="112664" cy="873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"/>
          <p:cNvSpPr txBox="1"/>
          <p:nvPr/>
        </p:nvSpPr>
        <p:spPr>
          <a:xfrm>
            <a:off x="1028700" y="5672746"/>
            <a:ext cx="74577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3"/>
              <a:buFont typeface="Arial"/>
              <a:buNone/>
            </a:pPr>
            <a:r>
              <a:rPr lang="en-US" sz="1803">
                <a:solidFill>
                  <a:srgbClr val="33252B"/>
                </a:solidFill>
                <a:latin typeface="Open Sans"/>
                <a:ea typeface="Open Sans"/>
                <a:cs typeface="Open Sans"/>
                <a:sym typeface="Open Sans"/>
              </a:rPr>
              <a:t>A AI Relevance Platform Built for What Lenovo Does Next</a:t>
            </a:r>
            <a:endParaRPr sz="1803">
              <a:solidFill>
                <a:srgbClr val="3325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8" name="Google Shape;11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354821" y="5262699"/>
            <a:ext cx="1271528" cy="175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7438" y="328971"/>
            <a:ext cx="285750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f673f2796f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96828" y="-292092"/>
            <a:ext cx="4209176" cy="3982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f673f2796f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62337" y="5358675"/>
            <a:ext cx="10693749" cy="10804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f673f2796f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341225" y="-4409075"/>
            <a:ext cx="10068601" cy="97677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g3f673f2796f_0_34"/>
          <p:cNvGrpSpPr/>
          <p:nvPr/>
        </p:nvGrpSpPr>
        <p:grpSpPr>
          <a:xfrm>
            <a:off x="7568088" y="2517944"/>
            <a:ext cx="2976390" cy="2476338"/>
            <a:chOff x="5385550" y="7176044"/>
            <a:chExt cx="2976390" cy="2476338"/>
          </a:xfrm>
        </p:grpSpPr>
        <p:grpSp>
          <p:nvGrpSpPr>
            <p:cNvPr id="128" name="Google Shape;128;g3f673f2796f_0_34"/>
            <p:cNvGrpSpPr/>
            <p:nvPr/>
          </p:nvGrpSpPr>
          <p:grpSpPr>
            <a:xfrm>
              <a:off x="5385550" y="7176044"/>
              <a:ext cx="2976390" cy="2476338"/>
              <a:chOff x="0" y="-28575"/>
              <a:chExt cx="783900" cy="652200"/>
            </a:xfrm>
          </p:grpSpPr>
          <p:sp>
            <p:nvSpPr>
              <p:cNvPr id="129" name="Google Shape;129;g3f673f2796f_0_34"/>
              <p:cNvSpPr/>
              <p:nvPr/>
            </p:nvSpPr>
            <p:spPr>
              <a:xfrm>
                <a:off x="0" y="0"/>
                <a:ext cx="783761" cy="623573"/>
              </a:xfrm>
              <a:custGeom>
                <a:rect b="b" l="l" r="r" t="t"/>
                <a:pathLst>
                  <a:path extrusionOk="0" h="623573" w="783761">
                    <a:moveTo>
                      <a:pt x="132681" y="0"/>
                    </a:moveTo>
                    <a:lnTo>
                      <a:pt x="651080" y="0"/>
                    </a:lnTo>
                    <a:cubicBezTo>
                      <a:pt x="686269" y="0"/>
                      <a:pt x="720017" y="13979"/>
                      <a:pt x="744900" y="38861"/>
                    </a:cubicBezTo>
                    <a:cubicBezTo>
                      <a:pt x="769782" y="63744"/>
                      <a:pt x="783761" y="97492"/>
                      <a:pt x="783761" y="132681"/>
                    </a:cubicBezTo>
                    <a:lnTo>
                      <a:pt x="783761" y="490892"/>
                    </a:lnTo>
                    <a:cubicBezTo>
                      <a:pt x="783761" y="526081"/>
                      <a:pt x="769782" y="559829"/>
                      <a:pt x="744900" y="584712"/>
                    </a:cubicBezTo>
                    <a:cubicBezTo>
                      <a:pt x="720017" y="609594"/>
                      <a:pt x="686269" y="623573"/>
                      <a:pt x="651080" y="623573"/>
                    </a:cubicBezTo>
                    <a:lnTo>
                      <a:pt x="132681" y="623573"/>
                    </a:lnTo>
                    <a:cubicBezTo>
                      <a:pt x="97492" y="623573"/>
                      <a:pt x="63744" y="609594"/>
                      <a:pt x="38861" y="584712"/>
                    </a:cubicBezTo>
                    <a:cubicBezTo>
                      <a:pt x="13979" y="559829"/>
                      <a:pt x="0" y="526081"/>
                      <a:pt x="0" y="490892"/>
                    </a:cubicBezTo>
                    <a:lnTo>
                      <a:pt x="0" y="132681"/>
                    </a:lnTo>
                    <a:cubicBezTo>
                      <a:pt x="0" y="97492"/>
                      <a:pt x="13979" y="63744"/>
                      <a:pt x="38861" y="38861"/>
                    </a:cubicBezTo>
                    <a:cubicBezTo>
                      <a:pt x="63744" y="13979"/>
                      <a:pt x="97492" y="0"/>
                      <a:pt x="132681" y="0"/>
                    </a:cubicBezTo>
                    <a:close/>
                  </a:path>
                </a:pathLst>
              </a:custGeom>
              <a:solidFill>
                <a:srgbClr val="FF37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g3f673f2796f_0_34"/>
              <p:cNvSpPr txBox="1"/>
              <p:nvPr/>
            </p:nvSpPr>
            <p:spPr>
              <a:xfrm>
                <a:off x="0" y="-28575"/>
                <a:ext cx="783900" cy="65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g3f673f2796f_0_34"/>
            <p:cNvSpPr/>
            <p:nvPr/>
          </p:nvSpPr>
          <p:spPr>
            <a:xfrm>
              <a:off x="6057457" y="7722691"/>
              <a:ext cx="1608745" cy="1669452"/>
            </a:xfrm>
            <a:custGeom>
              <a:rect b="b" l="l" r="r" t="t"/>
              <a:pathLst>
                <a:path extrusionOk="0" h="1669452" w="1608745">
                  <a:moveTo>
                    <a:pt x="0" y="0"/>
                  </a:moveTo>
                  <a:lnTo>
                    <a:pt x="1608745" y="0"/>
                  </a:lnTo>
                  <a:lnTo>
                    <a:pt x="1608745" y="1669452"/>
                  </a:lnTo>
                  <a:lnTo>
                    <a:pt x="0" y="166945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2" name="Google Shape;132;g3f673f2796f_0_34"/>
          <p:cNvSpPr txBox="1"/>
          <p:nvPr/>
        </p:nvSpPr>
        <p:spPr>
          <a:xfrm>
            <a:off x="1119482" y="794767"/>
            <a:ext cx="12058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Lenovo Today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673f2796f_0_34"/>
          <p:cNvSpPr txBox="1"/>
          <p:nvPr/>
        </p:nvSpPr>
        <p:spPr>
          <a:xfrm>
            <a:off x="2413165" y="5103196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180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673f2796f_0_34"/>
          <p:cNvSpPr txBox="1"/>
          <p:nvPr/>
        </p:nvSpPr>
        <p:spPr>
          <a:xfrm>
            <a:off x="11949535" y="5117947"/>
            <a:ext cx="403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500K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673f2796f_0_34"/>
          <p:cNvSpPr txBox="1"/>
          <p:nvPr/>
        </p:nvSpPr>
        <p:spPr>
          <a:xfrm>
            <a:off x="7120840" y="5156980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60+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673f2796f_0_34"/>
          <p:cNvSpPr txBox="1"/>
          <p:nvPr/>
        </p:nvSpPr>
        <p:spPr>
          <a:xfrm>
            <a:off x="2413165" y="5615544"/>
            <a:ext cx="38709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>
                <a:latin typeface="Open Sans"/>
                <a:ea typeface="Open Sans"/>
                <a:cs typeface="Open Sans"/>
                <a:sym typeface="Open Sans"/>
              </a:rPr>
              <a:t>markets served on lenovo.com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673f2796f_0_34"/>
          <p:cNvSpPr txBox="1"/>
          <p:nvPr/>
        </p:nvSpPr>
        <p:spPr>
          <a:xfrm>
            <a:off x="11949538" y="5664313"/>
            <a:ext cx="40329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>
                <a:latin typeface="Open Sans"/>
                <a:ea typeface="Open Sans"/>
                <a:cs typeface="Open Sans"/>
                <a:sym typeface="Open Sans"/>
              </a:rPr>
              <a:t>records reindexed every 12 hours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673f2796f_0_34"/>
          <p:cNvSpPr txBox="1"/>
          <p:nvPr/>
        </p:nvSpPr>
        <p:spPr>
          <a:xfrm>
            <a:off x="7192237" y="5649570"/>
            <a:ext cx="37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>
                <a:latin typeface="Open Sans"/>
                <a:ea typeface="Open Sans"/>
                <a:cs typeface="Open Sans"/>
                <a:sym typeface="Open Sans"/>
              </a:rPr>
              <a:t>languages in play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673f2796f_0_34"/>
          <p:cNvSpPr txBox="1"/>
          <p:nvPr/>
        </p:nvSpPr>
        <p:spPr>
          <a:xfrm>
            <a:off x="484100" y="7235075"/>
            <a:ext cx="16647600" cy="24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093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2399"/>
              <a:buFont typeface="Open Sans"/>
              <a:buChar char="●"/>
            </a:pPr>
            <a:r>
              <a:rPr lang="en-US" sz="2399">
                <a:latin typeface="Open Sans"/>
                <a:ea typeface="Open Sans"/>
                <a:cs typeface="Open Sans"/>
                <a:sym typeface="Open Sans"/>
              </a:rPr>
              <a:t>A catalog spanning laptops and PCs to supercomputers, phones, and data-center gear. Plus a support portal serving that entire installed base</a:t>
            </a:r>
            <a:endParaRPr sz="2399">
              <a:latin typeface="Open Sans"/>
              <a:ea typeface="Open Sans"/>
              <a:cs typeface="Open Sans"/>
              <a:sym typeface="Open Sans"/>
            </a:endParaRPr>
          </a:p>
          <a:p>
            <a:pPr indent="-38093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2399"/>
              <a:buFont typeface="Open Sans"/>
              <a:buChar char="●"/>
            </a:pPr>
            <a:r>
              <a:rPr lang="en-US" sz="2399">
                <a:latin typeface="Open Sans"/>
                <a:ea typeface="Open Sans"/>
                <a:cs typeface="Open Sans"/>
                <a:sym typeface="Open Sans"/>
              </a:rPr>
              <a:t>Search has been a huge focus proving a 95% lift in revenue attributed to search in its first full year, and a 55% relevancy gain after adding behavioral signal tuning (signals beacon).</a:t>
            </a:r>
            <a:endParaRPr sz="2399">
              <a:latin typeface="Open Sans"/>
              <a:ea typeface="Open Sans"/>
              <a:cs typeface="Open Sans"/>
              <a:sym typeface="Open Sans"/>
            </a:endParaRPr>
          </a:p>
          <a:p>
            <a:pPr indent="-38093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2399"/>
              <a:buFont typeface="Open Sans"/>
              <a:buChar char="●"/>
            </a:pPr>
            <a:r>
              <a:rPr lang="en-US" sz="2399">
                <a:latin typeface="Open Sans"/>
                <a:ea typeface="Open Sans"/>
                <a:cs typeface="Open Sans"/>
                <a:sym typeface="Open Sans"/>
              </a:rPr>
              <a:t>Currently it’s a high-traffic operation thats already delivering real results</a:t>
            </a:r>
            <a:endParaRPr sz="2399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40" name="Google Shape;140;g3f673f2796f_0_34"/>
          <p:cNvGrpSpPr/>
          <p:nvPr/>
        </p:nvGrpSpPr>
        <p:grpSpPr>
          <a:xfrm>
            <a:off x="2860413" y="2517940"/>
            <a:ext cx="2976390" cy="2476338"/>
            <a:chOff x="1028700" y="3741615"/>
            <a:chExt cx="2976390" cy="2476338"/>
          </a:xfrm>
        </p:grpSpPr>
        <p:grpSp>
          <p:nvGrpSpPr>
            <p:cNvPr id="141" name="Google Shape;141;g3f673f2796f_0_34"/>
            <p:cNvGrpSpPr/>
            <p:nvPr/>
          </p:nvGrpSpPr>
          <p:grpSpPr>
            <a:xfrm>
              <a:off x="1028700" y="3741615"/>
              <a:ext cx="2976390" cy="2476338"/>
              <a:chOff x="0" y="-28575"/>
              <a:chExt cx="783900" cy="652200"/>
            </a:xfrm>
          </p:grpSpPr>
          <p:sp>
            <p:nvSpPr>
              <p:cNvPr id="142" name="Google Shape;142;g3f673f2796f_0_34"/>
              <p:cNvSpPr/>
              <p:nvPr/>
            </p:nvSpPr>
            <p:spPr>
              <a:xfrm>
                <a:off x="0" y="0"/>
                <a:ext cx="783761" cy="623573"/>
              </a:xfrm>
              <a:custGeom>
                <a:rect b="b" l="l" r="r" t="t"/>
                <a:pathLst>
                  <a:path extrusionOk="0" h="623573" w="783761">
                    <a:moveTo>
                      <a:pt x="132681" y="0"/>
                    </a:moveTo>
                    <a:lnTo>
                      <a:pt x="651080" y="0"/>
                    </a:lnTo>
                    <a:cubicBezTo>
                      <a:pt x="686269" y="0"/>
                      <a:pt x="720017" y="13979"/>
                      <a:pt x="744900" y="38861"/>
                    </a:cubicBezTo>
                    <a:cubicBezTo>
                      <a:pt x="769782" y="63744"/>
                      <a:pt x="783761" y="97492"/>
                      <a:pt x="783761" y="132681"/>
                    </a:cubicBezTo>
                    <a:lnTo>
                      <a:pt x="783761" y="490892"/>
                    </a:lnTo>
                    <a:cubicBezTo>
                      <a:pt x="783761" y="526081"/>
                      <a:pt x="769782" y="559829"/>
                      <a:pt x="744900" y="584712"/>
                    </a:cubicBezTo>
                    <a:cubicBezTo>
                      <a:pt x="720017" y="609594"/>
                      <a:pt x="686269" y="623573"/>
                      <a:pt x="651080" y="623573"/>
                    </a:cubicBezTo>
                    <a:lnTo>
                      <a:pt x="132681" y="623573"/>
                    </a:lnTo>
                    <a:cubicBezTo>
                      <a:pt x="97492" y="623573"/>
                      <a:pt x="63744" y="609594"/>
                      <a:pt x="38861" y="584712"/>
                    </a:cubicBezTo>
                    <a:cubicBezTo>
                      <a:pt x="13979" y="559829"/>
                      <a:pt x="0" y="526081"/>
                      <a:pt x="0" y="490892"/>
                    </a:cubicBezTo>
                    <a:lnTo>
                      <a:pt x="0" y="132681"/>
                    </a:lnTo>
                    <a:cubicBezTo>
                      <a:pt x="0" y="97492"/>
                      <a:pt x="13979" y="63744"/>
                      <a:pt x="38861" y="38861"/>
                    </a:cubicBezTo>
                    <a:cubicBezTo>
                      <a:pt x="63744" y="13979"/>
                      <a:pt x="97492" y="0"/>
                      <a:pt x="132681" y="0"/>
                    </a:cubicBezTo>
                    <a:close/>
                  </a:path>
                </a:pathLst>
              </a:custGeom>
              <a:solidFill>
                <a:srgbClr val="FF37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g3f673f2796f_0_34"/>
              <p:cNvSpPr txBox="1"/>
              <p:nvPr/>
            </p:nvSpPr>
            <p:spPr>
              <a:xfrm>
                <a:off x="0" y="-28575"/>
                <a:ext cx="783900" cy="65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44" name="Google Shape;144;g3f673f2796f_0_3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738426" y="4335264"/>
              <a:ext cx="1556375" cy="1394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" name="Google Shape;145;g3f673f2796f_0_34"/>
          <p:cNvGrpSpPr/>
          <p:nvPr/>
        </p:nvGrpSpPr>
        <p:grpSpPr>
          <a:xfrm>
            <a:off x="12477800" y="2517940"/>
            <a:ext cx="2976390" cy="2476338"/>
            <a:chOff x="8941462" y="3741615"/>
            <a:chExt cx="2976390" cy="2476338"/>
          </a:xfrm>
        </p:grpSpPr>
        <p:grpSp>
          <p:nvGrpSpPr>
            <p:cNvPr id="146" name="Google Shape;146;g3f673f2796f_0_34"/>
            <p:cNvGrpSpPr/>
            <p:nvPr/>
          </p:nvGrpSpPr>
          <p:grpSpPr>
            <a:xfrm>
              <a:off x="8941462" y="3741615"/>
              <a:ext cx="2976390" cy="2476338"/>
              <a:chOff x="0" y="-28575"/>
              <a:chExt cx="783900" cy="652200"/>
            </a:xfrm>
          </p:grpSpPr>
          <p:sp>
            <p:nvSpPr>
              <p:cNvPr id="147" name="Google Shape;147;g3f673f2796f_0_34"/>
              <p:cNvSpPr/>
              <p:nvPr/>
            </p:nvSpPr>
            <p:spPr>
              <a:xfrm>
                <a:off x="0" y="0"/>
                <a:ext cx="783761" cy="623573"/>
              </a:xfrm>
              <a:custGeom>
                <a:rect b="b" l="l" r="r" t="t"/>
                <a:pathLst>
                  <a:path extrusionOk="0" h="623573" w="783761">
                    <a:moveTo>
                      <a:pt x="132681" y="0"/>
                    </a:moveTo>
                    <a:lnTo>
                      <a:pt x="651080" y="0"/>
                    </a:lnTo>
                    <a:cubicBezTo>
                      <a:pt x="686269" y="0"/>
                      <a:pt x="720017" y="13979"/>
                      <a:pt x="744900" y="38861"/>
                    </a:cubicBezTo>
                    <a:cubicBezTo>
                      <a:pt x="769782" y="63744"/>
                      <a:pt x="783761" y="97492"/>
                      <a:pt x="783761" y="132681"/>
                    </a:cubicBezTo>
                    <a:lnTo>
                      <a:pt x="783761" y="490892"/>
                    </a:lnTo>
                    <a:cubicBezTo>
                      <a:pt x="783761" y="526081"/>
                      <a:pt x="769782" y="559829"/>
                      <a:pt x="744900" y="584712"/>
                    </a:cubicBezTo>
                    <a:cubicBezTo>
                      <a:pt x="720017" y="609594"/>
                      <a:pt x="686269" y="623573"/>
                      <a:pt x="651080" y="623573"/>
                    </a:cubicBezTo>
                    <a:lnTo>
                      <a:pt x="132681" y="623573"/>
                    </a:lnTo>
                    <a:cubicBezTo>
                      <a:pt x="97492" y="623573"/>
                      <a:pt x="63744" y="609594"/>
                      <a:pt x="38861" y="584712"/>
                    </a:cubicBezTo>
                    <a:cubicBezTo>
                      <a:pt x="13979" y="559829"/>
                      <a:pt x="0" y="526081"/>
                      <a:pt x="0" y="490892"/>
                    </a:cubicBezTo>
                    <a:lnTo>
                      <a:pt x="0" y="132681"/>
                    </a:lnTo>
                    <a:cubicBezTo>
                      <a:pt x="0" y="97492"/>
                      <a:pt x="13979" y="63744"/>
                      <a:pt x="38861" y="38861"/>
                    </a:cubicBezTo>
                    <a:cubicBezTo>
                      <a:pt x="63744" y="13979"/>
                      <a:pt x="97492" y="0"/>
                      <a:pt x="132681" y="0"/>
                    </a:cubicBezTo>
                    <a:close/>
                  </a:path>
                </a:pathLst>
              </a:custGeom>
              <a:solidFill>
                <a:srgbClr val="FF37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g3f673f2796f_0_34"/>
              <p:cNvSpPr txBox="1"/>
              <p:nvPr/>
            </p:nvSpPr>
            <p:spPr>
              <a:xfrm>
                <a:off x="0" y="-28575"/>
                <a:ext cx="783900" cy="65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49" name="Google Shape;149;g3f673f2796f_0_3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591837" y="4172404"/>
              <a:ext cx="1708802" cy="1703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f673f2796f_0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0625" y="7657725"/>
            <a:ext cx="2924500" cy="20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f673f2796f_0_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76125" y="5358673"/>
            <a:ext cx="8614049" cy="8303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f673f2796f_0_1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8348" y="4055728"/>
            <a:ext cx="7053074" cy="5494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f673f2796f_0_1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6341225" y="-4409075"/>
            <a:ext cx="10068601" cy="97677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g3f673f2796f_0_113"/>
          <p:cNvGrpSpPr/>
          <p:nvPr/>
        </p:nvGrpSpPr>
        <p:grpSpPr>
          <a:xfrm>
            <a:off x="3353137" y="2436562"/>
            <a:ext cx="4584620" cy="6940125"/>
            <a:chOff x="0" y="-28575"/>
            <a:chExt cx="1469100" cy="2223900"/>
          </a:xfrm>
        </p:grpSpPr>
        <p:sp>
          <p:nvSpPr>
            <p:cNvPr id="159" name="Google Shape;159;g3f673f2796f_0_113"/>
            <p:cNvSpPr/>
            <p:nvPr/>
          </p:nvSpPr>
          <p:spPr>
            <a:xfrm>
              <a:off x="0" y="0"/>
              <a:ext cx="1468995" cy="2195231"/>
            </a:xfrm>
            <a:custGeom>
              <a:rect b="b" l="l" r="r" t="t"/>
              <a:pathLst>
                <a:path extrusionOk="0" h="2195231" w="1468995">
                  <a:moveTo>
                    <a:pt x="70790" y="0"/>
                  </a:moveTo>
                  <a:lnTo>
                    <a:pt x="1398205" y="0"/>
                  </a:lnTo>
                  <a:cubicBezTo>
                    <a:pt x="1437302" y="0"/>
                    <a:pt x="1468995" y="31694"/>
                    <a:pt x="1468995" y="70790"/>
                  </a:cubicBezTo>
                  <a:lnTo>
                    <a:pt x="1468995" y="2124441"/>
                  </a:lnTo>
                  <a:cubicBezTo>
                    <a:pt x="1468995" y="2163538"/>
                    <a:pt x="1437302" y="2195231"/>
                    <a:pt x="1398205" y="2195231"/>
                  </a:cubicBezTo>
                  <a:lnTo>
                    <a:pt x="70790" y="2195231"/>
                  </a:lnTo>
                  <a:cubicBezTo>
                    <a:pt x="31694" y="2195231"/>
                    <a:pt x="0" y="2163538"/>
                    <a:pt x="0" y="2124441"/>
                  </a:cubicBezTo>
                  <a:lnTo>
                    <a:pt x="0" y="70790"/>
                  </a:lnTo>
                  <a:cubicBezTo>
                    <a:pt x="0" y="31694"/>
                    <a:pt x="31694" y="0"/>
                    <a:pt x="70790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anchorCtr="0" anchor="ctr" bIns="75150" lIns="75150" spcFirstLastPara="1" rIns="75150" wrap="square" tIns="75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1"/>
                <a:buFont typeface="Arial"/>
                <a:buNone/>
              </a:pPr>
              <a:r>
                <a:t/>
              </a:r>
              <a:endParaRPr b="0" i="0" sz="11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f673f2796f_0_113"/>
            <p:cNvSpPr txBox="1"/>
            <p:nvPr/>
          </p:nvSpPr>
          <p:spPr>
            <a:xfrm>
              <a:off x="0" y="-28575"/>
              <a:ext cx="1469100" cy="22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9"/>
                <a:buFont typeface="Arial"/>
                <a:buNone/>
              </a:pPr>
              <a:r>
                <a:t/>
              </a:r>
              <a:endParaRPr b="0" i="0" sz="14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g3f673f2796f_0_113"/>
          <p:cNvSpPr txBox="1"/>
          <p:nvPr/>
        </p:nvSpPr>
        <p:spPr>
          <a:xfrm>
            <a:off x="3480200" y="2690610"/>
            <a:ext cx="4356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3"/>
              <a:buFont typeface="Arial"/>
              <a:buNone/>
            </a:pPr>
            <a:r>
              <a:rPr lang="en-US" sz="4753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Owning</a:t>
            </a:r>
            <a:endParaRPr sz="4753">
              <a:solidFill>
                <a:srgbClr val="FFFFFF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3"/>
              <a:buFont typeface="Arial"/>
              <a:buNone/>
            </a:pPr>
            <a:r>
              <a:rPr lang="en-US" sz="4753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the Stack</a:t>
            </a:r>
            <a:endParaRPr b="0" i="0" sz="1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f673f2796f_0_113"/>
          <p:cNvSpPr txBox="1"/>
          <p:nvPr/>
        </p:nvSpPr>
        <p:spPr>
          <a:xfrm>
            <a:off x="12045968" y="2155618"/>
            <a:ext cx="2973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Vision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673f2796f_0_113"/>
          <p:cNvSpPr txBox="1"/>
          <p:nvPr/>
        </p:nvSpPr>
        <p:spPr>
          <a:xfrm>
            <a:off x="3480200" y="5825238"/>
            <a:ext cx="42090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750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Open Sans"/>
              <a:buChar char="●"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Search runs on a self-hosted Solr/Spark platform. Lenovo’s team owns the cluster: capacity, upgrades, uptime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750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Open Sans"/>
              <a:buChar char="●"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Relevance is tuned by hand: business rules plus a custom signal pipeline to stay fresh across 180 markets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750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Open Sans"/>
              <a:buChar char="●"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Every new market, language, or traffic spike is infrastructure work before it’s a relevance win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g3f673f2796f_0_113"/>
          <p:cNvSpPr txBox="1"/>
          <p:nvPr/>
        </p:nvSpPr>
        <p:spPr>
          <a:xfrm>
            <a:off x="10982029" y="5544523"/>
            <a:ext cx="49533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Vision is the guiding force that propels us forward, illuminating the path towards our aspirations and goals. It is the clear image of what we wish to achieve, a beacon of hope in times of uncertainty. With a strong vision, we are able to set our sights on the horizon, pushing beyond obstacles.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g3f673f2796f_0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82363" y="2382775"/>
            <a:ext cx="2924500" cy="20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f673f2796f_0_1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695035" y="3548523"/>
            <a:ext cx="1527275" cy="153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f673f2796f_0_1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15572" y="4383716"/>
            <a:ext cx="859734" cy="8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673f2796f_0_113"/>
          <p:cNvSpPr txBox="1"/>
          <p:nvPr/>
        </p:nvSpPr>
        <p:spPr>
          <a:xfrm>
            <a:off x="1119472" y="794775"/>
            <a:ext cx="16711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Whats Getting Harder to Scale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g3f673f2796f_0_113"/>
          <p:cNvGrpSpPr/>
          <p:nvPr/>
        </p:nvGrpSpPr>
        <p:grpSpPr>
          <a:xfrm>
            <a:off x="10350250" y="2436562"/>
            <a:ext cx="4584620" cy="6940125"/>
            <a:chOff x="0" y="-28575"/>
            <a:chExt cx="1469100" cy="2223900"/>
          </a:xfrm>
        </p:grpSpPr>
        <p:sp>
          <p:nvSpPr>
            <p:cNvPr id="170" name="Google Shape;170;g3f673f2796f_0_113"/>
            <p:cNvSpPr/>
            <p:nvPr/>
          </p:nvSpPr>
          <p:spPr>
            <a:xfrm>
              <a:off x="0" y="0"/>
              <a:ext cx="1468995" cy="2195231"/>
            </a:xfrm>
            <a:custGeom>
              <a:rect b="b" l="l" r="r" t="t"/>
              <a:pathLst>
                <a:path extrusionOk="0" h="2195231" w="1468995">
                  <a:moveTo>
                    <a:pt x="70790" y="0"/>
                  </a:moveTo>
                  <a:lnTo>
                    <a:pt x="1398205" y="0"/>
                  </a:lnTo>
                  <a:cubicBezTo>
                    <a:pt x="1437302" y="0"/>
                    <a:pt x="1468995" y="31694"/>
                    <a:pt x="1468995" y="70790"/>
                  </a:cubicBezTo>
                  <a:lnTo>
                    <a:pt x="1468995" y="2124441"/>
                  </a:lnTo>
                  <a:cubicBezTo>
                    <a:pt x="1468995" y="2163538"/>
                    <a:pt x="1437302" y="2195231"/>
                    <a:pt x="1398205" y="2195231"/>
                  </a:cubicBezTo>
                  <a:lnTo>
                    <a:pt x="70790" y="2195231"/>
                  </a:lnTo>
                  <a:cubicBezTo>
                    <a:pt x="31694" y="2195231"/>
                    <a:pt x="0" y="2163538"/>
                    <a:pt x="0" y="2124441"/>
                  </a:cubicBezTo>
                  <a:lnTo>
                    <a:pt x="0" y="70790"/>
                  </a:lnTo>
                  <a:cubicBezTo>
                    <a:pt x="0" y="31694"/>
                    <a:pt x="31694" y="0"/>
                    <a:pt x="70790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anchorCtr="0" anchor="ctr" bIns="75150" lIns="75150" spcFirstLastPara="1" rIns="75150" wrap="square" tIns="75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1"/>
                <a:buFont typeface="Arial"/>
                <a:buNone/>
              </a:pPr>
              <a:r>
                <a:t/>
              </a:r>
              <a:endParaRPr b="0" i="0" sz="11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f673f2796f_0_113"/>
            <p:cNvSpPr txBox="1"/>
            <p:nvPr/>
          </p:nvSpPr>
          <p:spPr>
            <a:xfrm>
              <a:off x="0" y="-28575"/>
              <a:ext cx="1469100" cy="22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9"/>
                <a:buFont typeface="Arial"/>
                <a:buNone/>
              </a:pPr>
              <a:r>
                <a:t/>
              </a:r>
              <a:endParaRPr b="0" i="0" sz="14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g3f673f2796f_0_113"/>
          <p:cNvSpPr txBox="1"/>
          <p:nvPr/>
        </p:nvSpPr>
        <p:spPr>
          <a:xfrm>
            <a:off x="10477313" y="2690610"/>
            <a:ext cx="4356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3"/>
              <a:buFont typeface="Arial"/>
              <a:buNone/>
            </a:pPr>
            <a:r>
              <a:rPr lang="en-US" sz="4753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Meeting the AI Bar</a:t>
            </a:r>
            <a:endParaRPr b="0" i="0" sz="1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673f2796f_0_113"/>
          <p:cNvSpPr txBox="1"/>
          <p:nvPr/>
        </p:nvSpPr>
        <p:spPr>
          <a:xfrm>
            <a:off x="10481813" y="5451288"/>
            <a:ext cx="4356900" cy="3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750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Open Sans"/>
              <a:buChar char="●"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Customers now expect a direct, cited answer, not a ranked list of links to click through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750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Open Sans"/>
              <a:buChar char="●"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Lenovo’s own team has already described the goal: natural-language questions, answered with personalization by buyer type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750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Open Sans"/>
              <a:buChar char="●"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Reaching that with a hand-built pipeline means adding a generative-AI layer on top of infrastructure that already needs constant care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g3f673f2796f_0_113"/>
          <p:cNvSpPr/>
          <p:nvPr/>
        </p:nvSpPr>
        <p:spPr>
          <a:xfrm>
            <a:off x="12104489" y="4170418"/>
            <a:ext cx="1027068" cy="1009809"/>
          </a:xfrm>
          <a:custGeom>
            <a:rect b="b" l="l" r="r" t="t"/>
            <a:pathLst>
              <a:path extrusionOk="0" h="1479574" w="1643309">
                <a:moveTo>
                  <a:pt x="0" y="0"/>
                </a:moveTo>
                <a:lnTo>
                  <a:pt x="1643309" y="0"/>
                </a:lnTo>
                <a:lnTo>
                  <a:pt x="1643309" y="1479574"/>
                </a:lnTo>
                <a:lnTo>
                  <a:pt x="0" y="1479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g3f673f2796f_0_113"/>
          <p:cNvSpPr/>
          <p:nvPr/>
        </p:nvSpPr>
        <p:spPr>
          <a:xfrm>
            <a:off x="12092933" y="4170418"/>
            <a:ext cx="1027068" cy="1009809"/>
          </a:xfrm>
          <a:custGeom>
            <a:rect b="b" l="l" r="r" t="t"/>
            <a:pathLst>
              <a:path extrusionOk="0" h="1479574" w="1643309">
                <a:moveTo>
                  <a:pt x="0" y="0"/>
                </a:moveTo>
                <a:lnTo>
                  <a:pt x="1643309" y="0"/>
                </a:lnTo>
                <a:lnTo>
                  <a:pt x="1643309" y="1479574"/>
                </a:lnTo>
                <a:lnTo>
                  <a:pt x="0" y="1479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8950" y="-2310825"/>
            <a:ext cx="20102175" cy="2032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87287" y="1525598"/>
            <a:ext cx="6603219" cy="8711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341225" y="-440907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 txBox="1"/>
          <p:nvPr/>
        </p:nvSpPr>
        <p:spPr>
          <a:xfrm>
            <a:off x="990100" y="431183"/>
            <a:ext cx="15557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The Coveo 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4236713" y="5676773"/>
            <a:ext cx="458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Lenovo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4236699" y="1933038"/>
            <a:ext cx="517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hlink"/>
                </a:solidFill>
                <a:uFill>
                  <a:noFill/>
                </a:uFill>
                <a:latin typeface="Russo One"/>
                <a:ea typeface="Russo One"/>
                <a:cs typeface="Russo One"/>
                <a:sym typeface="Russo One"/>
                <a:hlinkClick r:id="rId6"/>
              </a:rPr>
              <a:t>lenovo.com</a:t>
            </a:r>
            <a:r>
              <a:rPr lang="en-US" sz="3200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 Commerce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4236700" y="2466788"/>
            <a:ext cx="8107800" cy="21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Built-in ML relevance across a 500K+ record catalog → no dedicated data-science team required to keep it tuned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Generative product guidance for natural-language questions like "best laptop for remote work"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Personalization by buyer type: gamer, student, workers, etc.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4236700" y="6227300"/>
            <a:ext cx="6736200" cy="3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Coveo Relevance Generative Answering (RGA) turns troubleshooting searches into cited, direct answers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Same index, same relevance engine as commerce → one platform instead of two tuned separately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Runs on Coveo Relevance Cloud: multi-tenant SaaS, “ready to use models”, 99.9%+ uptime, ISO 27001 / NIST-aligned security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531159" y="1842797"/>
            <a:ext cx="2975843" cy="2476124"/>
            <a:chOff x="0" y="-28575"/>
            <a:chExt cx="783761" cy="652148"/>
          </a:xfrm>
        </p:grpSpPr>
        <p:sp>
          <p:nvSpPr>
            <p:cNvPr id="189" name="Google Shape;189;p4"/>
            <p:cNvSpPr/>
            <p:nvPr/>
          </p:nvSpPr>
          <p:spPr>
            <a:xfrm>
              <a:off x="0" y="0"/>
              <a:ext cx="783761" cy="623573"/>
            </a:xfrm>
            <a:custGeom>
              <a:rect b="b" l="l" r="r" t="t"/>
              <a:pathLst>
                <a:path extrusionOk="0" h="623573" w="783761">
                  <a:moveTo>
                    <a:pt x="132681" y="0"/>
                  </a:moveTo>
                  <a:lnTo>
                    <a:pt x="651080" y="0"/>
                  </a:lnTo>
                  <a:cubicBezTo>
                    <a:pt x="686269" y="0"/>
                    <a:pt x="720017" y="13979"/>
                    <a:pt x="744900" y="38861"/>
                  </a:cubicBezTo>
                  <a:cubicBezTo>
                    <a:pt x="769782" y="63744"/>
                    <a:pt x="783761" y="97492"/>
                    <a:pt x="783761" y="132681"/>
                  </a:cubicBezTo>
                  <a:lnTo>
                    <a:pt x="783761" y="490892"/>
                  </a:lnTo>
                  <a:cubicBezTo>
                    <a:pt x="783761" y="526081"/>
                    <a:pt x="769782" y="559829"/>
                    <a:pt x="744900" y="584712"/>
                  </a:cubicBezTo>
                  <a:cubicBezTo>
                    <a:pt x="720017" y="609594"/>
                    <a:pt x="686269" y="623573"/>
                    <a:pt x="651080" y="623573"/>
                  </a:cubicBezTo>
                  <a:lnTo>
                    <a:pt x="132681" y="623573"/>
                  </a:lnTo>
                  <a:cubicBezTo>
                    <a:pt x="97492" y="623573"/>
                    <a:pt x="63744" y="609594"/>
                    <a:pt x="38861" y="584712"/>
                  </a:cubicBezTo>
                  <a:cubicBezTo>
                    <a:pt x="13979" y="559829"/>
                    <a:pt x="0" y="526081"/>
                    <a:pt x="0" y="490892"/>
                  </a:cubicBezTo>
                  <a:lnTo>
                    <a:pt x="0" y="132681"/>
                  </a:lnTo>
                  <a:cubicBezTo>
                    <a:pt x="0" y="97492"/>
                    <a:pt x="13979" y="63744"/>
                    <a:pt x="38861" y="38861"/>
                  </a:cubicBezTo>
                  <a:cubicBezTo>
                    <a:pt x="63744" y="13979"/>
                    <a:pt x="97492" y="0"/>
                    <a:pt x="132681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0" y="-28575"/>
              <a:ext cx="783761" cy="652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1" name="Google Shape;19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0897" y="2383839"/>
            <a:ext cx="1556375" cy="139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586377" y="837828"/>
            <a:ext cx="2444475" cy="1991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4"/>
          <p:cNvGrpSpPr/>
          <p:nvPr/>
        </p:nvGrpSpPr>
        <p:grpSpPr>
          <a:xfrm>
            <a:off x="531159" y="5361269"/>
            <a:ext cx="2975862" cy="2476141"/>
            <a:chOff x="0" y="-28575"/>
            <a:chExt cx="783761" cy="652148"/>
          </a:xfrm>
        </p:grpSpPr>
        <p:sp>
          <p:nvSpPr>
            <p:cNvPr id="194" name="Google Shape;194;p4"/>
            <p:cNvSpPr/>
            <p:nvPr/>
          </p:nvSpPr>
          <p:spPr>
            <a:xfrm>
              <a:off x="0" y="0"/>
              <a:ext cx="783761" cy="623573"/>
            </a:xfrm>
            <a:custGeom>
              <a:rect b="b" l="l" r="r" t="t"/>
              <a:pathLst>
                <a:path extrusionOk="0" h="623573" w="783761">
                  <a:moveTo>
                    <a:pt x="132681" y="0"/>
                  </a:moveTo>
                  <a:lnTo>
                    <a:pt x="651080" y="0"/>
                  </a:lnTo>
                  <a:cubicBezTo>
                    <a:pt x="686269" y="0"/>
                    <a:pt x="720017" y="13979"/>
                    <a:pt x="744900" y="38861"/>
                  </a:cubicBezTo>
                  <a:cubicBezTo>
                    <a:pt x="769782" y="63744"/>
                    <a:pt x="783761" y="97492"/>
                    <a:pt x="783761" y="132681"/>
                  </a:cubicBezTo>
                  <a:lnTo>
                    <a:pt x="783761" y="490892"/>
                  </a:lnTo>
                  <a:cubicBezTo>
                    <a:pt x="783761" y="526081"/>
                    <a:pt x="769782" y="559829"/>
                    <a:pt x="744900" y="584712"/>
                  </a:cubicBezTo>
                  <a:cubicBezTo>
                    <a:pt x="720017" y="609594"/>
                    <a:pt x="686269" y="623573"/>
                    <a:pt x="651080" y="623573"/>
                  </a:cubicBezTo>
                  <a:lnTo>
                    <a:pt x="132681" y="623573"/>
                  </a:lnTo>
                  <a:cubicBezTo>
                    <a:pt x="97492" y="623573"/>
                    <a:pt x="63744" y="609594"/>
                    <a:pt x="38861" y="584712"/>
                  </a:cubicBezTo>
                  <a:cubicBezTo>
                    <a:pt x="13979" y="559829"/>
                    <a:pt x="0" y="526081"/>
                    <a:pt x="0" y="490892"/>
                  </a:cubicBezTo>
                  <a:lnTo>
                    <a:pt x="0" y="132681"/>
                  </a:lnTo>
                  <a:cubicBezTo>
                    <a:pt x="0" y="97492"/>
                    <a:pt x="13979" y="63744"/>
                    <a:pt x="38861" y="38861"/>
                  </a:cubicBezTo>
                  <a:cubicBezTo>
                    <a:pt x="63744" y="13979"/>
                    <a:pt x="97492" y="0"/>
                    <a:pt x="132681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"/>
            <p:cNvSpPr txBox="1"/>
            <p:nvPr/>
          </p:nvSpPr>
          <p:spPr>
            <a:xfrm>
              <a:off x="0" y="-28575"/>
              <a:ext cx="783761" cy="652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4"/>
          <p:cNvSpPr/>
          <p:nvPr/>
        </p:nvSpPr>
        <p:spPr>
          <a:xfrm>
            <a:off x="1309326" y="5830892"/>
            <a:ext cx="1419526" cy="1536889"/>
          </a:xfrm>
          <a:custGeom>
            <a:rect b="b" l="l" r="r" t="t"/>
            <a:pathLst>
              <a:path extrusionOk="0" h="1536889" w="1419526">
                <a:moveTo>
                  <a:pt x="0" y="0"/>
                </a:moveTo>
                <a:lnTo>
                  <a:pt x="1419527" y="0"/>
                </a:lnTo>
                <a:lnTo>
                  <a:pt x="1419527" y="1536889"/>
                </a:lnTo>
                <a:lnTo>
                  <a:pt x="0" y="1536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5700" y="-4288075"/>
            <a:ext cx="28688051" cy="2868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5549" y="1585708"/>
            <a:ext cx="9341550" cy="8701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341225" y="-440907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"/>
          <p:cNvSpPr txBox="1"/>
          <p:nvPr/>
        </p:nvSpPr>
        <p:spPr>
          <a:xfrm>
            <a:off x="1453186" y="508398"/>
            <a:ext cx="5870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Why Coveo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633278" y="2354400"/>
            <a:ext cx="7509900" cy="5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No infrastructure to run → Coveo Relevance Cloud is fully managed multi-tenant SaaS, so the engineering hours currently spent operating and scaling a Solr/Spark cluster across 180 markets go back to the storefront and support experience instead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Relevance and generative answering built-in → reaching the natural-language, personalized experience Lenovo has already described, doesn’t require assembling a custom signals-and-rules pipeline by hand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Proven at comparable scale: large technology companies piloting Coveo’s generative answering saw customer search time drop ~40% and support-escalation sessions drop 20%+, self-service success rise 43%, and a projected cost-to-serve reduction of up to 25% for a typical large tech company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3f673f2796f_0_2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0625" y="7657725"/>
            <a:ext cx="2924500" cy="20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f673f2796f_0_2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76125" y="5358673"/>
            <a:ext cx="8614049" cy="8303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f673f2796f_0_2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8348" y="4055728"/>
            <a:ext cx="7053074" cy="5494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f673f2796f_0_2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6341225" y="-440907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f673f2796f_0_220"/>
          <p:cNvSpPr/>
          <p:nvPr/>
        </p:nvSpPr>
        <p:spPr>
          <a:xfrm>
            <a:off x="1119473" y="2525725"/>
            <a:ext cx="6816137" cy="6849121"/>
          </a:xfrm>
          <a:custGeom>
            <a:rect b="b" l="l" r="r" t="t"/>
            <a:pathLst>
              <a:path extrusionOk="0" h="2195231" w="1468995">
                <a:moveTo>
                  <a:pt x="70790" y="0"/>
                </a:moveTo>
                <a:lnTo>
                  <a:pt x="1398205" y="0"/>
                </a:lnTo>
                <a:cubicBezTo>
                  <a:pt x="1437302" y="0"/>
                  <a:pt x="1468995" y="31694"/>
                  <a:pt x="1468995" y="70790"/>
                </a:cubicBezTo>
                <a:lnTo>
                  <a:pt x="1468995" y="2124441"/>
                </a:lnTo>
                <a:cubicBezTo>
                  <a:pt x="1468995" y="2163538"/>
                  <a:pt x="1437302" y="2195231"/>
                  <a:pt x="1398205" y="2195231"/>
                </a:cubicBezTo>
                <a:lnTo>
                  <a:pt x="70790" y="2195231"/>
                </a:lnTo>
                <a:cubicBezTo>
                  <a:pt x="31694" y="2195231"/>
                  <a:pt x="0" y="2163538"/>
                  <a:pt x="0" y="2124441"/>
                </a:cubicBezTo>
                <a:lnTo>
                  <a:pt x="0" y="70790"/>
                </a:lnTo>
                <a:cubicBezTo>
                  <a:pt x="0" y="31694"/>
                  <a:pt x="31694" y="0"/>
                  <a:pt x="70790" y="0"/>
                </a:cubicBezTo>
                <a:close/>
              </a:path>
            </a:pathLst>
          </a:custGeom>
          <a:solidFill>
            <a:srgbClr val="FF3737"/>
          </a:solidFill>
          <a:ln>
            <a:noFill/>
          </a:ln>
        </p:spPr>
        <p:txBody>
          <a:bodyPr anchorCtr="0" anchor="ctr" bIns="75150" lIns="75150" spcFirstLastPara="1" rIns="75150" wrap="square" tIns="75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1"/>
              <a:buFont typeface="Arial"/>
              <a:buNone/>
            </a:pPr>
            <a:r>
              <a:t/>
            </a:r>
            <a:endParaRPr b="0" i="0" sz="11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f673f2796f_0_220"/>
          <p:cNvSpPr txBox="1"/>
          <p:nvPr/>
        </p:nvSpPr>
        <p:spPr>
          <a:xfrm>
            <a:off x="2349088" y="3067129"/>
            <a:ext cx="4356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3"/>
              <a:buFont typeface="Arial"/>
              <a:buNone/>
            </a:pPr>
            <a:r>
              <a:rPr lang="en-US" sz="4753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Support</a:t>
            </a:r>
            <a:endParaRPr b="0" i="0" sz="1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f673f2796f_0_220"/>
          <p:cNvSpPr txBox="1"/>
          <p:nvPr/>
        </p:nvSpPr>
        <p:spPr>
          <a:xfrm>
            <a:off x="12045968" y="2155618"/>
            <a:ext cx="2973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Vision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f673f2796f_0_220"/>
          <p:cNvSpPr txBox="1"/>
          <p:nvPr/>
        </p:nvSpPr>
        <p:spPr>
          <a:xfrm>
            <a:off x="1526250" y="6081465"/>
            <a:ext cx="59637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 My ThinkPad hinge is loose ! is this covered under warranty? "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Instead of a list of documents to sort through, the customer gets a direct, cited answer pulled from Lenovo’s own support content.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g3f673f2796f_0_220"/>
          <p:cNvSpPr txBox="1"/>
          <p:nvPr/>
        </p:nvSpPr>
        <p:spPr>
          <a:xfrm>
            <a:off x="10982029" y="5544523"/>
            <a:ext cx="49533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Vision is the guiding force that propels us forward, illuminating the path towards our aspirations and goals. It is the clear image of what we wish to achieve, a beacon of hope in times of uncertainty. With a strong vision, we are able to set our sights on the horizon, pushing beyond obstacles.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g3f673f2796f_0_2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82363" y="2382775"/>
            <a:ext cx="2924500" cy="20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f673f2796f_0_2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695035" y="3548523"/>
            <a:ext cx="1527275" cy="15333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f673f2796f_0_220"/>
          <p:cNvSpPr txBox="1"/>
          <p:nvPr/>
        </p:nvSpPr>
        <p:spPr>
          <a:xfrm>
            <a:off x="1119472" y="794775"/>
            <a:ext cx="16711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What this looks like for Lenovo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673f2796f_0_220"/>
          <p:cNvSpPr txBox="1"/>
          <p:nvPr/>
        </p:nvSpPr>
        <p:spPr>
          <a:xfrm>
            <a:off x="10477313" y="2690610"/>
            <a:ext cx="4356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3"/>
              <a:buFont typeface="Arial"/>
              <a:buNone/>
            </a:pPr>
            <a:r>
              <a:rPr lang="en-US" sz="4753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Commerce</a:t>
            </a:r>
            <a:endParaRPr b="0" i="0" sz="1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673f2796f_0_220"/>
          <p:cNvSpPr txBox="1"/>
          <p:nvPr/>
        </p:nvSpPr>
        <p:spPr>
          <a:xfrm>
            <a:off x="10481813" y="5451288"/>
            <a:ext cx="4356900" cy="3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750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Open Sans"/>
              <a:buChar char="●"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Customers now expect a direct, cited answer, not a ranked list of links to click through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750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Open Sans"/>
              <a:buChar char="●"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Lenovo’s own team has already described the goal: natural-language questions, answered with personalization by buyer type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750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Open Sans"/>
              <a:buChar char="●"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Reaching that with a hand-built pipeline means adding a generative-AI layer on tp of infrastructure that already needs constant care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g3f673f2796f_0_220"/>
          <p:cNvSpPr/>
          <p:nvPr/>
        </p:nvSpPr>
        <p:spPr>
          <a:xfrm>
            <a:off x="12104489" y="4170418"/>
            <a:ext cx="1027068" cy="1009809"/>
          </a:xfrm>
          <a:custGeom>
            <a:rect b="b" l="l" r="r" t="t"/>
            <a:pathLst>
              <a:path extrusionOk="0" h="1479574" w="1643309">
                <a:moveTo>
                  <a:pt x="0" y="0"/>
                </a:moveTo>
                <a:lnTo>
                  <a:pt x="1643309" y="0"/>
                </a:lnTo>
                <a:lnTo>
                  <a:pt x="1643309" y="1479574"/>
                </a:lnTo>
                <a:lnTo>
                  <a:pt x="0" y="1479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g3f673f2796f_0_220"/>
          <p:cNvSpPr/>
          <p:nvPr/>
        </p:nvSpPr>
        <p:spPr>
          <a:xfrm>
            <a:off x="12092933" y="4170418"/>
            <a:ext cx="1027068" cy="1009809"/>
          </a:xfrm>
          <a:custGeom>
            <a:rect b="b" l="l" r="r" t="t"/>
            <a:pathLst>
              <a:path extrusionOk="0" h="1479574" w="1643309">
                <a:moveTo>
                  <a:pt x="0" y="0"/>
                </a:moveTo>
                <a:lnTo>
                  <a:pt x="1643309" y="0"/>
                </a:lnTo>
                <a:lnTo>
                  <a:pt x="1643309" y="1479574"/>
                </a:lnTo>
                <a:lnTo>
                  <a:pt x="0" y="1479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g3f673f2796f_0_220"/>
          <p:cNvSpPr/>
          <p:nvPr/>
        </p:nvSpPr>
        <p:spPr>
          <a:xfrm>
            <a:off x="4014734" y="4373279"/>
            <a:ext cx="1025608" cy="1148825"/>
          </a:xfrm>
          <a:custGeom>
            <a:rect b="b" l="l" r="r" t="t"/>
            <a:pathLst>
              <a:path extrusionOk="0" h="1536889" w="1419526">
                <a:moveTo>
                  <a:pt x="0" y="0"/>
                </a:moveTo>
                <a:lnTo>
                  <a:pt x="1419527" y="0"/>
                </a:lnTo>
                <a:lnTo>
                  <a:pt x="1419527" y="1536889"/>
                </a:lnTo>
                <a:lnTo>
                  <a:pt x="0" y="1536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g3f673f2796f_0_220"/>
          <p:cNvSpPr/>
          <p:nvPr/>
        </p:nvSpPr>
        <p:spPr>
          <a:xfrm>
            <a:off x="9198398" y="2525725"/>
            <a:ext cx="6816137" cy="6849121"/>
          </a:xfrm>
          <a:custGeom>
            <a:rect b="b" l="l" r="r" t="t"/>
            <a:pathLst>
              <a:path extrusionOk="0" h="2195231" w="1468995">
                <a:moveTo>
                  <a:pt x="70790" y="0"/>
                </a:moveTo>
                <a:lnTo>
                  <a:pt x="1398205" y="0"/>
                </a:lnTo>
                <a:cubicBezTo>
                  <a:pt x="1437302" y="0"/>
                  <a:pt x="1468995" y="31694"/>
                  <a:pt x="1468995" y="70790"/>
                </a:cubicBezTo>
                <a:lnTo>
                  <a:pt x="1468995" y="2124441"/>
                </a:lnTo>
                <a:cubicBezTo>
                  <a:pt x="1468995" y="2163538"/>
                  <a:pt x="1437302" y="2195231"/>
                  <a:pt x="1398205" y="2195231"/>
                </a:cubicBezTo>
                <a:lnTo>
                  <a:pt x="70790" y="2195231"/>
                </a:lnTo>
                <a:cubicBezTo>
                  <a:pt x="31694" y="2195231"/>
                  <a:pt x="0" y="2163538"/>
                  <a:pt x="0" y="2124441"/>
                </a:cubicBezTo>
                <a:lnTo>
                  <a:pt x="0" y="70790"/>
                </a:lnTo>
                <a:cubicBezTo>
                  <a:pt x="0" y="31694"/>
                  <a:pt x="31694" y="0"/>
                  <a:pt x="70790" y="0"/>
                </a:cubicBezTo>
                <a:close/>
              </a:path>
            </a:pathLst>
          </a:custGeom>
          <a:solidFill>
            <a:srgbClr val="FF3737"/>
          </a:solidFill>
          <a:ln>
            <a:noFill/>
          </a:ln>
        </p:spPr>
        <p:txBody>
          <a:bodyPr anchorCtr="0" anchor="ctr" bIns="75150" lIns="75150" spcFirstLastPara="1" rIns="75150" wrap="square" tIns="75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1"/>
              <a:buFont typeface="Arial"/>
              <a:buNone/>
            </a:pPr>
            <a:r>
              <a:t/>
            </a:r>
            <a:endParaRPr b="0" i="0" sz="11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f673f2796f_0_220"/>
          <p:cNvSpPr txBox="1"/>
          <p:nvPr/>
        </p:nvSpPr>
        <p:spPr>
          <a:xfrm>
            <a:off x="10428013" y="3074735"/>
            <a:ext cx="4356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3"/>
              <a:buFont typeface="Arial"/>
              <a:buNone/>
            </a:pPr>
            <a:r>
              <a:rPr lang="en-US" sz="4753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Commerce</a:t>
            </a:r>
            <a:endParaRPr b="0" i="0" sz="1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f673f2796f_0_220"/>
          <p:cNvSpPr txBox="1"/>
          <p:nvPr/>
        </p:nvSpPr>
        <p:spPr>
          <a:xfrm>
            <a:off x="9678425" y="5928650"/>
            <a:ext cx="59637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 What’s the best laptop for remote work? "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exact example Lenovo’s own search team has cited as their goal, answered across the full catalog, personalized to whether the shopper looks like a student, a gamer, or an IT buyer, without a hand-built rules pipeline behind it.</a:t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0" name="Google Shape;230;g3f673f2796f_0_2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965152" y="4292986"/>
            <a:ext cx="1282619" cy="11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88550" y="5358678"/>
            <a:ext cx="8483351" cy="8068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341225" y="-440907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 txBox="1"/>
          <p:nvPr/>
        </p:nvSpPr>
        <p:spPr>
          <a:xfrm>
            <a:off x="5267700" y="4434618"/>
            <a:ext cx="7752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Thank you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modity Trading Risk Management  - Consulting Toolkit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FF3737"/>
      </a:lt2>
      <a:accent1>
        <a:srgbClr val="01294F"/>
      </a:accent1>
      <a:accent2>
        <a:srgbClr val="1D2947"/>
      </a:accent2>
      <a:accent3>
        <a:srgbClr val="33252B"/>
      </a:accent3>
      <a:accent4>
        <a:srgbClr val="888888"/>
      </a:accent4>
      <a:accent5>
        <a:srgbClr val="FF3737"/>
      </a:accent5>
      <a:accent6>
        <a:srgbClr val="01294F"/>
      </a:accent6>
      <a:hlink>
        <a:srgbClr val="1D294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