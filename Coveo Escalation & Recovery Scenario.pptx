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Roboto"/>
      <p:regular r:id="rId17"/>
      <p:bold r:id="rId18"/>
      <p:italic r:id="rId19"/>
      <p:boldItalic r:id="rId20"/>
    </p:embeddedFont>
    <p:embeddedFont>
      <p:font typeface="Lora"/>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gBjwUYn2dLqaR/zlEpMfjHvm9i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Lora-bold.fntdata"/><Relationship Id="rId21" Type="http://schemas.openxmlformats.org/officeDocument/2006/relationships/font" Target="fonts/Lora-regular.fntdata"/><Relationship Id="rId24" Type="http://schemas.openxmlformats.org/officeDocument/2006/relationships/font" Target="fonts/Lora-boldItalic.fntdata"/><Relationship Id="rId23" Type="http://schemas.openxmlformats.org/officeDocument/2006/relationships/font" Target="fonts/Lor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683cc57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683cc57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683cc5795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f683cc579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683cc5795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f683cc579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683cc5795_0_2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f683cc5795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f683cc5795_0_2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f683cc5795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683cc5795_0_2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f683cc5795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683cc5795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f683cc5795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683cc5795_0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f683cc5795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5" name="Shape 15"/>
        <p:cNvGrpSpPr/>
        <p:nvPr/>
      </p:nvGrpSpPr>
      <p:grpSpPr>
        <a:xfrm>
          <a:off x="0" y="0"/>
          <a:ext cx="0" cy="0"/>
          <a:chOff x="0" y="0"/>
          <a:chExt cx="0" cy="0"/>
        </a:xfrm>
      </p:grpSpPr>
      <p:sp>
        <p:nvSpPr>
          <p:cNvPr id="16" name="Google Shape;16;p1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17" name="Google Shape;17;p10"/>
          <p:cNvGrpSpPr/>
          <p:nvPr/>
        </p:nvGrpSpPr>
        <p:grpSpPr>
          <a:xfrm>
            <a:off x="0" y="-872026"/>
            <a:ext cx="18288118" cy="7465465"/>
            <a:chOff x="0" y="-38100"/>
            <a:chExt cx="4816592" cy="1966200"/>
          </a:xfrm>
        </p:grpSpPr>
        <p:sp>
          <p:nvSpPr>
            <p:cNvPr id="18" name="Google Shape;18;p10"/>
            <p:cNvSpPr/>
            <p:nvPr/>
          </p:nvSpPr>
          <p:spPr>
            <a:xfrm>
              <a:off x="0" y="0"/>
              <a:ext cx="4816592" cy="1928005"/>
            </a:xfrm>
            <a:custGeom>
              <a:rect b="b" l="l" r="r" t="t"/>
              <a:pathLst>
                <a:path extrusionOk="0" h="1928005" w="4816592">
                  <a:moveTo>
                    <a:pt x="40217" y="0"/>
                  </a:moveTo>
                  <a:lnTo>
                    <a:pt x="4776376" y="0"/>
                  </a:lnTo>
                  <a:cubicBezTo>
                    <a:pt x="4787042" y="0"/>
                    <a:pt x="4797271" y="4237"/>
                    <a:pt x="4804813" y="11779"/>
                  </a:cubicBezTo>
                  <a:cubicBezTo>
                    <a:pt x="4812355" y="19321"/>
                    <a:pt x="4816592" y="29551"/>
                    <a:pt x="4816592" y="40217"/>
                  </a:cubicBezTo>
                  <a:lnTo>
                    <a:pt x="4816592" y="1887789"/>
                  </a:lnTo>
                  <a:cubicBezTo>
                    <a:pt x="4816592" y="1910000"/>
                    <a:pt x="4798587" y="1928005"/>
                    <a:pt x="4776376" y="1928005"/>
                  </a:cubicBezTo>
                  <a:lnTo>
                    <a:pt x="40217" y="1928005"/>
                  </a:lnTo>
                  <a:cubicBezTo>
                    <a:pt x="18006" y="1928005"/>
                    <a:pt x="0" y="1910000"/>
                    <a:pt x="0" y="1887789"/>
                  </a:cubicBezTo>
                  <a:lnTo>
                    <a:pt x="0" y="40217"/>
                  </a:lnTo>
                  <a:cubicBezTo>
                    <a:pt x="0" y="18006"/>
                    <a:pt x="18006" y="0"/>
                    <a:pt x="40217" y="0"/>
                  </a:cubicBezTo>
                  <a:close/>
                </a:path>
              </a:pathLst>
            </a:custGeom>
            <a:solidFill>
              <a:srgbClr val="FFE8A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0"/>
            <p:cNvSpPr txBox="1"/>
            <p:nvPr/>
          </p:nvSpPr>
          <p:spPr>
            <a:xfrm>
              <a:off x="0" y="-38100"/>
              <a:ext cx="4816500" cy="19662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 name="Google Shape;20;p10"/>
          <p:cNvGrpSpPr/>
          <p:nvPr/>
        </p:nvGrpSpPr>
        <p:grpSpPr>
          <a:xfrm>
            <a:off x="10377929" y="476404"/>
            <a:ext cx="5824281" cy="5824281"/>
            <a:chOff x="0" y="0"/>
            <a:chExt cx="812800" cy="812800"/>
          </a:xfrm>
        </p:grpSpPr>
        <p:sp>
          <p:nvSpPr>
            <p:cNvPr id="21" name="Google Shape;21;p10"/>
            <p:cNvSpPr/>
            <p:nvPr/>
          </p:nvSpPr>
          <p:spPr>
            <a:xfrm>
              <a:off x="0" y="0"/>
              <a:ext cx="812800" cy="812800"/>
            </a:xfrm>
            <a:custGeom>
              <a:rect b="b" l="l" r="r" t="t"/>
              <a:pathLst>
                <a:path extrusionOk="0"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D752B2"/>
            </a:solidFill>
            <a:ln>
              <a:noFill/>
            </a:ln>
          </p:spPr>
        </p:sp>
        <p:sp>
          <p:nvSpPr>
            <p:cNvPr id="22" name="Google Shape;22;p10"/>
            <p:cNvSpPr txBox="1"/>
            <p:nvPr/>
          </p:nvSpPr>
          <p:spPr>
            <a:xfrm>
              <a:off x="127000" y="88900"/>
              <a:ext cx="558900" cy="597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3" name="Google Shape;23;p10"/>
          <p:cNvPicPr preferRelativeResize="0"/>
          <p:nvPr/>
        </p:nvPicPr>
        <p:blipFill rotWithShape="1">
          <a:blip r:embed="rId2">
            <a:alphaModFix/>
          </a:blip>
          <a:srcRect b="0" l="0" r="0" t="0"/>
          <a:stretch/>
        </p:blipFill>
        <p:spPr>
          <a:xfrm>
            <a:off x="8499926" y="1634270"/>
            <a:ext cx="9580252" cy="757538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4" name="Shape 24"/>
        <p:cNvGrpSpPr/>
        <p:nvPr/>
      </p:nvGrpSpPr>
      <p:grpSpPr>
        <a:xfrm>
          <a:off x="0" y="0"/>
          <a:ext cx="0" cy="0"/>
          <a:chOff x="0" y="0"/>
          <a:chExt cx="0" cy="0"/>
        </a:xfrm>
      </p:grpSpPr>
      <p:grpSp>
        <p:nvGrpSpPr>
          <p:cNvPr id="25" name="Google Shape;25;p11"/>
          <p:cNvGrpSpPr/>
          <p:nvPr/>
        </p:nvGrpSpPr>
        <p:grpSpPr>
          <a:xfrm>
            <a:off x="889597" y="2810824"/>
            <a:ext cx="3599647" cy="3599647"/>
            <a:chOff x="0" y="0"/>
            <a:chExt cx="812800" cy="812800"/>
          </a:xfrm>
        </p:grpSpPr>
        <p:sp>
          <p:nvSpPr>
            <p:cNvPr id="26" name="Google Shape;26;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200025">
              <a:solidFill>
                <a:srgbClr val="735FE4"/>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 name="Google Shape;28;p11"/>
          <p:cNvGrpSpPr/>
          <p:nvPr/>
        </p:nvGrpSpPr>
        <p:grpSpPr>
          <a:xfrm>
            <a:off x="5192653" y="2810824"/>
            <a:ext cx="3599647" cy="3599647"/>
            <a:chOff x="0" y="0"/>
            <a:chExt cx="812800" cy="812800"/>
          </a:xfrm>
        </p:grpSpPr>
        <p:sp>
          <p:nvSpPr>
            <p:cNvPr id="29" name="Google Shape;29;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200025">
              <a:solidFill>
                <a:srgbClr val="FDBD00"/>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 name="Google Shape;31;p11"/>
          <p:cNvGrpSpPr/>
          <p:nvPr/>
        </p:nvGrpSpPr>
        <p:grpSpPr>
          <a:xfrm>
            <a:off x="9495708" y="2810824"/>
            <a:ext cx="3599647" cy="3599647"/>
            <a:chOff x="0" y="0"/>
            <a:chExt cx="812800" cy="812800"/>
          </a:xfrm>
        </p:grpSpPr>
        <p:sp>
          <p:nvSpPr>
            <p:cNvPr id="32" name="Google Shape;32;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200025">
              <a:solidFill>
                <a:srgbClr val="FE802E"/>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 name="Google Shape;34;p11"/>
          <p:cNvGrpSpPr/>
          <p:nvPr/>
        </p:nvGrpSpPr>
        <p:grpSpPr>
          <a:xfrm>
            <a:off x="13798763" y="2810824"/>
            <a:ext cx="3599647" cy="3599647"/>
            <a:chOff x="0" y="0"/>
            <a:chExt cx="812800" cy="812800"/>
          </a:xfrm>
        </p:grpSpPr>
        <p:sp>
          <p:nvSpPr>
            <p:cNvPr id="35" name="Google Shape;35;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200025">
              <a:solidFill>
                <a:srgbClr val="D752B2"/>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 name="Google Shape;37;p11"/>
          <p:cNvGrpSpPr/>
          <p:nvPr/>
        </p:nvGrpSpPr>
        <p:grpSpPr>
          <a:xfrm>
            <a:off x="4093368" y="4041071"/>
            <a:ext cx="1495141" cy="1139160"/>
            <a:chOff x="-15" y="0"/>
            <a:chExt cx="1993521" cy="1518879"/>
          </a:xfrm>
        </p:grpSpPr>
        <p:grpSp>
          <p:nvGrpSpPr>
            <p:cNvPr id="38" name="Google Shape;38;p11"/>
            <p:cNvGrpSpPr/>
            <p:nvPr/>
          </p:nvGrpSpPr>
          <p:grpSpPr>
            <a:xfrm rot="5400000">
              <a:off x="-94945" y="94930"/>
              <a:ext cx="1518879" cy="1329019"/>
              <a:chOff x="0" y="0"/>
              <a:chExt cx="812800" cy="711200"/>
            </a:xfrm>
          </p:grpSpPr>
          <p:sp>
            <p:nvSpPr>
              <p:cNvPr id="39" name="Google Shape;39;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40" name="Google Shape;40;p11"/>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 name="Google Shape;41;p11"/>
            <p:cNvGrpSpPr/>
            <p:nvPr/>
          </p:nvGrpSpPr>
          <p:grpSpPr>
            <a:xfrm rot="5400000">
              <a:off x="569557" y="94930"/>
              <a:ext cx="1518879" cy="1329019"/>
              <a:chOff x="0" y="0"/>
              <a:chExt cx="812800" cy="711200"/>
            </a:xfrm>
          </p:grpSpPr>
          <p:sp>
            <p:nvSpPr>
              <p:cNvPr id="42" name="Google Shape;42;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43" name="Google Shape;43;p11"/>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4" name="Google Shape;44;p11"/>
          <p:cNvGrpSpPr/>
          <p:nvPr/>
        </p:nvGrpSpPr>
        <p:grpSpPr>
          <a:xfrm>
            <a:off x="8396423" y="4041071"/>
            <a:ext cx="1495141" cy="1139160"/>
            <a:chOff x="-15" y="0"/>
            <a:chExt cx="1993521" cy="1518879"/>
          </a:xfrm>
        </p:grpSpPr>
        <p:grpSp>
          <p:nvGrpSpPr>
            <p:cNvPr id="45" name="Google Shape;45;p11"/>
            <p:cNvGrpSpPr/>
            <p:nvPr/>
          </p:nvGrpSpPr>
          <p:grpSpPr>
            <a:xfrm rot="5400000">
              <a:off x="-94945" y="94930"/>
              <a:ext cx="1518879" cy="1329019"/>
              <a:chOff x="0" y="0"/>
              <a:chExt cx="812800" cy="711200"/>
            </a:xfrm>
          </p:grpSpPr>
          <p:sp>
            <p:nvSpPr>
              <p:cNvPr id="46" name="Google Shape;46;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47" name="Google Shape;47;p11"/>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 name="Google Shape;48;p11"/>
            <p:cNvGrpSpPr/>
            <p:nvPr/>
          </p:nvGrpSpPr>
          <p:grpSpPr>
            <a:xfrm rot="5400000">
              <a:off x="569557" y="94930"/>
              <a:ext cx="1518879" cy="1329019"/>
              <a:chOff x="0" y="0"/>
              <a:chExt cx="812800" cy="711200"/>
            </a:xfrm>
          </p:grpSpPr>
          <p:sp>
            <p:nvSpPr>
              <p:cNvPr id="49" name="Google Shape;49;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50" name="Google Shape;50;p11"/>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51" name="Google Shape;51;p11"/>
          <p:cNvGrpSpPr/>
          <p:nvPr/>
        </p:nvGrpSpPr>
        <p:grpSpPr>
          <a:xfrm>
            <a:off x="12699478" y="4041071"/>
            <a:ext cx="1495141" cy="1139160"/>
            <a:chOff x="-15" y="0"/>
            <a:chExt cx="1993521" cy="1518879"/>
          </a:xfrm>
        </p:grpSpPr>
        <p:grpSp>
          <p:nvGrpSpPr>
            <p:cNvPr id="52" name="Google Shape;52;p11"/>
            <p:cNvGrpSpPr/>
            <p:nvPr/>
          </p:nvGrpSpPr>
          <p:grpSpPr>
            <a:xfrm rot="5400000">
              <a:off x="-94945" y="94930"/>
              <a:ext cx="1518879" cy="1329019"/>
              <a:chOff x="0" y="0"/>
              <a:chExt cx="812800" cy="711200"/>
            </a:xfrm>
          </p:grpSpPr>
          <p:sp>
            <p:nvSpPr>
              <p:cNvPr id="53" name="Google Shape;53;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54" name="Google Shape;54;p11"/>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 name="Google Shape;55;p11"/>
            <p:cNvGrpSpPr/>
            <p:nvPr/>
          </p:nvGrpSpPr>
          <p:grpSpPr>
            <a:xfrm rot="5400000">
              <a:off x="569557" y="94930"/>
              <a:ext cx="1518879" cy="1329019"/>
              <a:chOff x="0" y="0"/>
              <a:chExt cx="812800" cy="711200"/>
            </a:xfrm>
          </p:grpSpPr>
          <p:sp>
            <p:nvSpPr>
              <p:cNvPr id="56" name="Google Shape;56;p1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57" name="Google Shape;57;p11"/>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sp>
        <p:nvSpPr>
          <p:cNvPr id="58" name="Google Shape;58;p11"/>
          <p:cNvSpPr/>
          <p:nvPr/>
        </p:nvSpPr>
        <p:spPr>
          <a:xfrm>
            <a:off x="1415593" y="3700439"/>
            <a:ext cx="2547647" cy="1820410"/>
          </a:xfrm>
          <a:custGeom>
            <a:rect b="b" l="l" r="r" t="t"/>
            <a:pathLst>
              <a:path extrusionOk="0" h="1820410" w="2547647">
                <a:moveTo>
                  <a:pt x="0" y="0"/>
                </a:moveTo>
                <a:lnTo>
                  <a:pt x="2547648" y="0"/>
                </a:lnTo>
                <a:lnTo>
                  <a:pt x="2547648" y="1820410"/>
                </a:lnTo>
                <a:lnTo>
                  <a:pt x="0" y="1820410"/>
                </a:lnTo>
                <a:lnTo>
                  <a:pt x="0" y="0"/>
                </a:lnTo>
                <a:close/>
              </a:path>
            </a:pathLst>
          </a:custGeom>
          <a:blipFill rotWithShape="1">
            <a:blip r:embed="rId2">
              <a:alphaModFix/>
            </a:blip>
            <a:stretch>
              <a:fillRect b="0" l="0" r="0" t="0"/>
            </a:stretch>
          </a:blipFill>
          <a:ln>
            <a:noFill/>
          </a:ln>
        </p:spPr>
      </p:sp>
      <p:sp>
        <p:nvSpPr>
          <p:cNvPr id="59" name="Google Shape;59;p11"/>
          <p:cNvSpPr/>
          <p:nvPr/>
        </p:nvSpPr>
        <p:spPr>
          <a:xfrm>
            <a:off x="5813853" y="3673632"/>
            <a:ext cx="2357238" cy="1847217"/>
          </a:xfrm>
          <a:custGeom>
            <a:rect b="b" l="l" r="r" t="t"/>
            <a:pathLst>
              <a:path extrusionOk="0" h="1847217" w="2357238">
                <a:moveTo>
                  <a:pt x="0" y="0"/>
                </a:moveTo>
                <a:lnTo>
                  <a:pt x="2357238" y="0"/>
                </a:lnTo>
                <a:lnTo>
                  <a:pt x="2357238" y="1847217"/>
                </a:lnTo>
                <a:lnTo>
                  <a:pt x="0" y="1847217"/>
                </a:lnTo>
                <a:lnTo>
                  <a:pt x="0" y="0"/>
                </a:lnTo>
                <a:close/>
              </a:path>
            </a:pathLst>
          </a:custGeom>
          <a:blipFill rotWithShape="1">
            <a:blip r:embed="rId3">
              <a:alphaModFix/>
            </a:blip>
            <a:stretch>
              <a:fillRect b="0" l="0" r="0" t="0"/>
            </a:stretch>
          </a:blipFill>
          <a:ln>
            <a:noFill/>
          </a:ln>
        </p:spPr>
      </p:sp>
      <p:sp>
        <p:nvSpPr>
          <p:cNvPr id="60" name="Google Shape;60;p11"/>
          <p:cNvSpPr/>
          <p:nvPr/>
        </p:nvSpPr>
        <p:spPr>
          <a:xfrm>
            <a:off x="10163958" y="3581944"/>
            <a:ext cx="2263140" cy="2057400"/>
          </a:xfrm>
          <a:custGeom>
            <a:rect b="b" l="l" r="r" t="t"/>
            <a:pathLst>
              <a:path extrusionOk="0" h="2057400" w="2263140">
                <a:moveTo>
                  <a:pt x="0" y="0"/>
                </a:moveTo>
                <a:lnTo>
                  <a:pt x="2263140" y="0"/>
                </a:lnTo>
                <a:lnTo>
                  <a:pt x="2263140" y="2057400"/>
                </a:lnTo>
                <a:lnTo>
                  <a:pt x="0" y="2057400"/>
                </a:lnTo>
                <a:lnTo>
                  <a:pt x="0" y="0"/>
                </a:lnTo>
                <a:close/>
              </a:path>
            </a:pathLst>
          </a:custGeom>
          <a:blipFill rotWithShape="1">
            <a:blip r:embed="rId4">
              <a:alphaModFix/>
            </a:blip>
            <a:stretch>
              <a:fillRect b="0" l="0" r="0" t="0"/>
            </a:stretch>
          </a:blipFill>
          <a:ln>
            <a:noFill/>
          </a:ln>
        </p:spPr>
      </p:sp>
      <p:sp>
        <p:nvSpPr>
          <p:cNvPr id="61" name="Google Shape;61;p11"/>
          <p:cNvSpPr/>
          <p:nvPr/>
        </p:nvSpPr>
        <p:spPr>
          <a:xfrm>
            <a:off x="14614013" y="3615215"/>
            <a:ext cx="1969140" cy="1990859"/>
          </a:xfrm>
          <a:custGeom>
            <a:rect b="b" l="l" r="r" t="t"/>
            <a:pathLst>
              <a:path extrusionOk="0" h="1990859" w="1969140">
                <a:moveTo>
                  <a:pt x="0" y="0"/>
                </a:moveTo>
                <a:lnTo>
                  <a:pt x="1969140" y="0"/>
                </a:lnTo>
                <a:lnTo>
                  <a:pt x="1969140" y="1990858"/>
                </a:lnTo>
                <a:lnTo>
                  <a:pt x="0" y="1990858"/>
                </a:lnTo>
                <a:lnTo>
                  <a:pt x="0" y="0"/>
                </a:lnTo>
                <a:close/>
              </a:path>
            </a:pathLst>
          </a:custGeom>
          <a:blipFill rotWithShape="1">
            <a:blip r:embed="rId5">
              <a:alphaModFix/>
            </a:blip>
            <a:stretch>
              <a:fillRect b="0" l="0" r="0" t="0"/>
            </a:stretch>
          </a:blip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62" name="Shape 62"/>
        <p:cNvGrpSpPr/>
        <p:nvPr/>
      </p:nvGrpSpPr>
      <p:grpSpPr>
        <a:xfrm>
          <a:off x="0" y="0"/>
          <a:ext cx="0" cy="0"/>
          <a:chOff x="0" y="0"/>
          <a:chExt cx="0" cy="0"/>
        </a:xfrm>
      </p:grpSpPr>
      <p:grpSp>
        <p:nvGrpSpPr>
          <p:cNvPr id="63" name="Google Shape;63;p12"/>
          <p:cNvGrpSpPr/>
          <p:nvPr/>
        </p:nvGrpSpPr>
        <p:grpSpPr>
          <a:xfrm>
            <a:off x="1048575" y="4538224"/>
            <a:ext cx="2482535" cy="2482535"/>
            <a:chOff x="0" y="0"/>
            <a:chExt cx="812800" cy="812800"/>
          </a:xfrm>
        </p:grpSpPr>
        <p:sp>
          <p:nvSpPr>
            <p:cNvPr id="64" name="Google Shape;6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35F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6" name="Google Shape;66;p12"/>
          <p:cNvCxnSpPr/>
          <p:nvPr/>
        </p:nvCxnSpPr>
        <p:spPr>
          <a:xfrm>
            <a:off x="1287435" y="3762323"/>
            <a:ext cx="2004900" cy="0"/>
          </a:xfrm>
          <a:prstGeom prst="straightConnector1">
            <a:avLst/>
          </a:prstGeom>
          <a:noFill/>
          <a:ln cap="flat" cmpd="sng" w="95250">
            <a:solidFill>
              <a:srgbClr val="735FE4"/>
            </a:solidFill>
            <a:prstDash val="solid"/>
            <a:round/>
            <a:headEnd len="sm" w="sm" type="none"/>
            <a:tailEnd len="sm" w="sm" type="none"/>
          </a:ln>
        </p:spPr>
      </p:cxnSp>
      <p:grpSp>
        <p:nvGrpSpPr>
          <p:cNvPr id="67" name="Google Shape;67;p12"/>
          <p:cNvGrpSpPr/>
          <p:nvPr/>
        </p:nvGrpSpPr>
        <p:grpSpPr>
          <a:xfrm>
            <a:off x="4475647" y="4538224"/>
            <a:ext cx="2482535" cy="2482535"/>
            <a:chOff x="0" y="0"/>
            <a:chExt cx="812800" cy="812800"/>
          </a:xfrm>
        </p:grpSpPr>
        <p:sp>
          <p:nvSpPr>
            <p:cNvPr id="68" name="Google Shape;68;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B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0" name="Google Shape;70;p12"/>
          <p:cNvCxnSpPr/>
          <p:nvPr/>
        </p:nvCxnSpPr>
        <p:spPr>
          <a:xfrm>
            <a:off x="4714508" y="3762323"/>
            <a:ext cx="2004900" cy="0"/>
          </a:xfrm>
          <a:prstGeom prst="straightConnector1">
            <a:avLst/>
          </a:prstGeom>
          <a:noFill/>
          <a:ln cap="flat" cmpd="sng" w="95250">
            <a:solidFill>
              <a:srgbClr val="FDBD00"/>
            </a:solidFill>
            <a:prstDash val="solid"/>
            <a:round/>
            <a:headEnd len="sm" w="sm" type="none"/>
            <a:tailEnd len="sm" w="sm" type="none"/>
          </a:ln>
        </p:spPr>
      </p:cxnSp>
      <p:grpSp>
        <p:nvGrpSpPr>
          <p:cNvPr id="71" name="Google Shape;71;p12"/>
          <p:cNvGrpSpPr/>
          <p:nvPr/>
        </p:nvGrpSpPr>
        <p:grpSpPr>
          <a:xfrm>
            <a:off x="7902720" y="4538224"/>
            <a:ext cx="2482535" cy="2482535"/>
            <a:chOff x="0" y="0"/>
            <a:chExt cx="812800" cy="812800"/>
          </a:xfrm>
        </p:grpSpPr>
        <p:sp>
          <p:nvSpPr>
            <p:cNvPr id="72" name="Google Shape;72;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2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4" name="Google Shape;74;p12"/>
          <p:cNvCxnSpPr/>
          <p:nvPr/>
        </p:nvCxnSpPr>
        <p:spPr>
          <a:xfrm>
            <a:off x="8141580" y="3762323"/>
            <a:ext cx="2004900" cy="0"/>
          </a:xfrm>
          <a:prstGeom prst="straightConnector1">
            <a:avLst/>
          </a:prstGeom>
          <a:noFill/>
          <a:ln cap="flat" cmpd="sng" w="95250">
            <a:solidFill>
              <a:srgbClr val="D752B2"/>
            </a:solidFill>
            <a:prstDash val="solid"/>
            <a:round/>
            <a:headEnd len="sm" w="sm" type="none"/>
            <a:tailEnd len="sm" w="sm" type="none"/>
          </a:ln>
        </p:spPr>
      </p:cxnSp>
      <p:grpSp>
        <p:nvGrpSpPr>
          <p:cNvPr id="75" name="Google Shape;75;p12"/>
          <p:cNvGrpSpPr/>
          <p:nvPr/>
        </p:nvGrpSpPr>
        <p:grpSpPr>
          <a:xfrm>
            <a:off x="11329792" y="4538224"/>
            <a:ext cx="2482535" cy="2482535"/>
            <a:chOff x="0" y="0"/>
            <a:chExt cx="812800" cy="812800"/>
          </a:xfrm>
        </p:grpSpPr>
        <p:sp>
          <p:nvSpPr>
            <p:cNvPr id="76" name="Google Shape;7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0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78" name="Google Shape;78;p12"/>
          <p:cNvCxnSpPr/>
          <p:nvPr/>
        </p:nvCxnSpPr>
        <p:spPr>
          <a:xfrm>
            <a:off x="11568653" y="3762323"/>
            <a:ext cx="2004900" cy="0"/>
          </a:xfrm>
          <a:prstGeom prst="straightConnector1">
            <a:avLst/>
          </a:prstGeom>
          <a:noFill/>
          <a:ln cap="flat" cmpd="sng" w="95250">
            <a:solidFill>
              <a:srgbClr val="FE802E"/>
            </a:solidFill>
            <a:prstDash val="solid"/>
            <a:round/>
            <a:headEnd len="sm" w="sm" type="none"/>
            <a:tailEnd len="sm" w="sm" type="none"/>
          </a:ln>
        </p:spPr>
      </p:cxnSp>
      <p:grpSp>
        <p:nvGrpSpPr>
          <p:cNvPr id="79" name="Google Shape;79;p12"/>
          <p:cNvGrpSpPr/>
          <p:nvPr/>
        </p:nvGrpSpPr>
        <p:grpSpPr>
          <a:xfrm>
            <a:off x="14756864" y="4538224"/>
            <a:ext cx="2482535" cy="2482535"/>
            <a:chOff x="0" y="0"/>
            <a:chExt cx="812800" cy="812800"/>
          </a:xfrm>
        </p:grpSpPr>
        <p:sp>
          <p:nvSpPr>
            <p:cNvPr id="80" name="Google Shape;8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E8A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82" name="Google Shape;82;p12"/>
          <p:cNvCxnSpPr/>
          <p:nvPr/>
        </p:nvCxnSpPr>
        <p:spPr>
          <a:xfrm>
            <a:off x="14995725" y="3762323"/>
            <a:ext cx="2004900" cy="0"/>
          </a:xfrm>
          <a:prstGeom prst="straightConnector1">
            <a:avLst/>
          </a:prstGeom>
          <a:noFill/>
          <a:ln cap="flat" cmpd="sng" w="95250">
            <a:solidFill>
              <a:srgbClr val="FFE8A4"/>
            </a:solidFill>
            <a:prstDash val="solid"/>
            <a:round/>
            <a:headEnd len="sm" w="sm" type="none"/>
            <a:tailEnd len="sm" w="sm" type="none"/>
          </a:ln>
        </p:spPr>
      </p:cxnSp>
      <p:grpSp>
        <p:nvGrpSpPr>
          <p:cNvPr id="83" name="Google Shape;83;p12"/>
          <p:cNvGrpSpPr/>
          <p:nvPr/>
        </p:nvGrpSpPr>
        <p:grpSpPr>
          <a:xfrm>
            <a:off x="3615813" y="5414203"/>
            <a:ext cx="958919" cy="730606"/>
            <a:chOff x="-2" y="0"/>
            <a:chExt cx="1278559" cy="974141"/>
          </a:xfrm>
        </p:grpSpPr>
        <p:grpSp>
          <p:nvGrpSpPr>
            <p:cNvPr id="84" name="Google Shape;84;p12"/>
            <p:cNvGrpSpPr/>
            <p:nvPr/>
          </p:nvGrpSpPr>
          <p:grpSpPr>
            <a:xfrm rot="5400000">
              <a:off x="-60886" y="60884"/>
              <a:ext cx="974141" cy="852373"/>
              <a:chOff x="0" y="0"/>
              <a:chExt cx="812800" cy="711200"/>
            </a:xfrm>
          </p:grpSpPr>
          <p:sp>
            <p:nvSpPr>
              <p:cNvPr id="85" name="Google Shape;85;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86" name="Google Shape;86;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2"/>
            <p:cNvGrpSpPr/>
            <p:nvPr/>
          </p:nvGrpSpPr>
          <p:grpSpPr>
            <a:xfrm rot="5400000">
              <a:off x="365300" y="60884"/>
              <a:ext cx="974141" cy="852373"/>
              <a:chOff x="0" y="0"/>
              <a:chExt cx="812800" cy="711200"/>
            </a:xfrm>
          </p:grpSpPr>
          <p:sp>
            <p:nvSpPr>
              <p:cNvPr id="88" name="Google Shape;88;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89" name="Google Shape;89;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90" name="Google Shape;90;p12"/>
          <p:cNvGrpSpPr/>
          <p:nvPr/>
        </p:nvGrpSpPr>
        <p:grpSpPr>
          <a:xfrm>
            <a:off x="7089477" y="5414203"/>
            <a:ext cx="958919" cy="730606"/>
            <a:chOff x="-2" y="0"/>
            <a:chExt cx="1278559" cy="974141"/>
          </a:xfrm>
        </p:grpSpPr>
        <p:grpSp>
          <p:nvGrpSpPr>
            <p:cNvPr id="91" name="Google Shape;91;p12"/>
            <p:cNvGrpSpPr/>
            <p:nvPr/>
          </p:nvGrpSpPr>
          <p:grpSpPr>
            <a:xfrm rot="5400000">
              <a:off x="-60886" y="60884"/>
              <a:ext cx="974141" cy="852373"/>
              <a:chOff x="0" y="0"/>
              <a:chExt cx="812800" cy="711200"/>
            </a:xfrm>
          </p:grpSpPr>
          <p:sp>
            <p:nvSpPr>
              <p:cNvPr id="92" name="Google Shape;92;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93" name="Google Shape;93;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4" name="Google Shape;94;p12"/>
            <p:cNvGrpSpPr/>
            <p:nvPr/>
          </p:nvGrpSpPr>
          <p:grpSpPr>
            <a:xfrm rot="5400000">
              <a:off x="365300" y="60884"/>
              <a:ext cx="974141" cy="852373"/>
              <a:chOff x="0" y="0"/>
              <a:chExt cx="812800" cy="711200"/>
            </a:xfrm>
          </p:grpSpPr>
          <p:sp>
            <p:nvSpPr>
              <p:cNvPr id="95" name="Google Shape;95;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96" name="Google Shape;96;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97" name="Google Shape;97;p12"/>
          <p:cNvGrpSpPr/>
          <p:nvPr/>
        </p:nvGrpSpPr>
        <p:grpSpPr>
          <a:xfrm>
            <a:off x="10563141" y="5414203"/>
            <a:ext cx="958919" cy="730606"/>
            <a:chOff x="-2" y="0"/>
            <a:chExt cx="1278559" cy="974141"/>
          </a:xfrm>
        </p:grpSpPr>
        <p:grpSp>
          <p:nvGrpSpPr>
            <p:cNvPr id="98" name="Google Shape;98;p12"/>
            <p:cNvGrpSpPr/>
            <p:nvPr/>
          </p:nvGrpSpPr>
          <p:grpSpPr>
            <a:xfrm rot="5400000">
              <a:off x="-60886" y="60884"/>
              <a:ext cx="974141" cy="852373"/>
              <a:chOff x="0" y="0"/>
              <a:chExt cx="812800" cy="711200"/>
            </a:xfrm>
          </p:grpSpPr>
          <p:sp>
            <p:nvSpPr>
              <p:cNvPr id="99" name="Google Shape;99;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100" name="Google Shape;100;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1" name="Google Shape;101;p12"/>
            <p:cNvGrpSpPr/>
            <p:nvPr/>
          </p:nvGrpSpPr>
          <p:grpSpPr>
            <a:xfrm rot="5400000">
              <a:off x="365300" y="60884"/>
              <a:ext cx="974141" cy="852373"/>
              <a:chOff x="0" y="0"/>
              <a:chExt cx="812800" cy="711200"/>
            </a:xfrm>
          </p:grpSpPr>
          <p:sp>
            <p:nvSpPr>
              <p:cNvPr id="102" name="Google Shape;102;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103" name="Google Shape;103;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104" name="Google Shape;104;p12"/>
          <p:cNvGrpSpPr/>
          <p:nvPr/>
        </p:nvGrpSpPr>
        <p:grpSpPr>
          <a:xfrm>
            <a:off x="14036805" y="5414203"/>
            <a:ext cx="958919" cy="730606"/>
            <a:chOff x="-2" y="0"/>
            <a:chExt cx="1278559" cy="974141"/>
          </a:xfrm>
        </p:grpSpPr>
        <p:grpSp>
          <p:nvGrpSpPr>
            <p:cNvPr id="105" name="Google Shape;105;p12"/>
            <p:cNvGrpSpPr/>
            <p:nvPr/>
          </p:nvGrpSpPr>
          <p:grpSpPr>
            <a:xfrm rot="5400000">
              <a:off x="-60886" y="60884"/>
              <a:ext cx="974141" cy="852373"/>
              <a:chOff x="0" y="0"/>
              <a:chExt cx="812800" cy="711200"/>
            </a:xfrm>
          </p:grpSpPr>
          <p:sp>
            <p:nvSpPr>
              <p:cNvPr id="106" name="Google Shape;106;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107" name="Google Shape;107;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12"/>
            <p:cNvGrpSpPr/>
            <p:nvPr/>
          </p:nvGrpSpPr>
          <p:grpSpPr>
            <a:xfrm rot="5400000">
              <a:off x="365300" y="60884"/>
              <a:ext cx="974141" cy="852373"/>
              <a:chOff x="0" y="0"/>
              <a:chExt cx="812800" cy="711200"/>
            </a:xfrm>
          </p:grpSpPr>
          <p:sp>
            <p:nvSpPr>
              <p:cNvPr id="109" name="Google Shape;109;p1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9C9C9C"/>
              </a:solidFill>
              <a:ln>
                <a:noFill/>
              </a:ln>
            </p:spPr>
          </p:sp>
          <p:sp>
            <p:nvSpPr>
              <p:cNvPr id="110" name="Google Shape;110;p12"/>
              <p:cNvSpPr txBox="1"/>
              <p:nvPr/>
            </p:nvSpPr>
            <p:spPr>
              <a:xfrm>
                <a:off x="127000" y="292100"/>
                <a:ext cx="558900" cy="36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pic>
        <p:nvPicPr>
          <p:cNvPr id="111" name="Google Shape;111;p12"/>
          <p:cNvPicPr preferRelativeResize="0"/>
          <p:nvPr/>
        </p:nvPicPr>
        <p:blipFill rotWithShape="1">
          <a:blip r:embed="rId2">
            <a:alphaModFix/>
          </a:blip>
          <a:srcRect b="0" l="0" r="0" t="0"/>
          <a:stretch/>
        </p:blipFill>
        <p:spPr>
          <a:xfrm>
            <a:off x="1605425" y="5050304"/>
            <a:ext cx="1532825" cy="1458421"/>
          </a:xfrm>
          <a:prstGeom prst="rect">
            <a:avLst/>
          </a:prstGeom>
          <a:noFill/>
          <a:ln>
            <a:noFill/>
          </a:ln>
        </p:spPr>
      </p:pic>
      <p:pic>
        <p:nvPicPr>
          <p:cNvPr id="112" name="Google Shape;112;p12"/>
          <p:cNvPicPr preferRelativeResize="0"/>
          <p:nvPr/>
        </p:nvPicPr>
        <p:blipFill rotWithShape="1">
          <a:blip r:embed="rId3">
            <a:alphaModFix/>
          </a:blip>
          <a:srcRect b="0" l="0" r="0" t="0"/>
          <a:stretch/>
        </p:blipFill>
        <p:spPr>
          <a:xfrm>
            <a:off x="5001387" y="4989014"/>
            <a:ext cx="1431050" cy="1580987"/>
          </a:xfrm>
          <a:prstGeom prst="rect">
            <a:avLst/>
          </a:prstGeom>
          <a:noFill/>
          <a:ln>
            <a:noFill/>
          </a:ln>
        </p:spPr>
      </p:pic>
      <p:pic>
        <p:nvPicPr>
          <p:cNvPr id="113" name="Google Shape;113;p12"/>
          <p:cNvPicPr preferRelativeResize="0"/>
          <p:nvPr/>
        </p:nvPicPr>
        <p:blipFill rotWithShape="1">
          <a:blip r:embed="rId4">
            <a:alphaModFix/>
          </a:blip>
          <a:srcRect b="0" l="0" r="0" t="0"/>
          <a:stretch/>
        </p:blipFill>
        <p:spPr>
          <a:xfrm>
            <a:off x="8469450" y="4940122"/>
            <a:ext cx="1431075" cy="1678741"/>
          </a:xfrm>
          <a:prstGeom prst="rect">
            <a:avLst/>
          </a:prstGeom>
          <a:noFill/>
          <a:ln>
            <a:noFill/>
          </a:ln>
        </p:spPr>
      </p:pic>
      <p:pic>
        <p:nvPicPr>
          <p:cNvPr id="114" name="Google Shape;114;p12"/>
          <p:cNvPicPr preferRelativeResize="0"/>
          <p:nvPr/>
        </p:nvPicPr>
        <p:blipFill rotWithShape="1">
          <a:blip r:embed="rId5">
            <a:alphaModFix/>
          </a:blip>
          <a:srcRect b="0" l="0" r="0" t="0"/>
          <a:stretch/>
        </p:blipFill>
        <p:spPr>
          <a:xfrm>
            <a:off x="11699938" y="5060251"/>
            <a:ext cx="1859221" cy="1438500"/>
          </a:xfrm>
          <a:prstGeom prst="rect">
            <a:avLst/>
          </a:prstGeom>
          <a:noFill/>
          <a:ln>
            <a:noFill/>
          </a:ln>
        </p:spPr>
      </p:pic>
      <p:pic>
        <p:nvPicPr>
          <p:cNvPr id="115" name="Google Shape;115;p12"/>
          <p:cNvPicPr preferRelativeResize="0"/>
          <p:nvPr/>
        </p:nvPicPr>
        <p:blipFill rotWithShape="1">
          <a:blip r:embed="rId6">
            <a:alphaModFix/>
          </a:blip>
          <a:srcRect b="0" l="0" r="0" t="0"/>
          <a:stretch/>
        </p:blipFill>
        <p:spPr>
          <a:xfrm>
            <a:off x="15220200" y="5006750"/>
            <a:ext cx="1532825" cy="154548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CUSTOM_3">
    <p:spTree>
      <p:nvGrpSpPr>
        <p:cNvPr id="116" name="Shape 116"/>
        <p:cNvGrpSpPr/>
        <p:nvPr/>
      </p:nvGrpSpPr>
      <p:grpSpPr>
        <a:xfrm>
          <a:off x="0" y="0"/>
          <a:ext cx="0" cy="0"/>
          <a:chOff x="0" y="0"/>
          <a:chExt cx="0" cy="0"/>
        </a:xfrm>
      </p:grpSpPr>
      <p:grpSp>
        <p:nvGrpSpPr>
          <p:cNvPr id="117" name="Google Shape;117;p13"/>
          <p:cNvGrpSpPr/>
          <p:nvPr/>
        </p:nvGrpSpPr>
        <p:grpSpPr>
          <a:xfrm>
            <a:off x="4477007" y="928636"/>
            <a:ext cx="6887956" cy="1688102"/>
            <a:chOff x="0" y="-38100"/>
            <a:chExt cx="1814100" cy="444600"/>
          </a:xfrm>
        </p:grpSpPr>
        <p:sp>
          <p:nvSpPr>
            <p:cNvPr id="118" name="Google Shape;118;p13"/>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735F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3"/>
            <p:cNvSpPr txBox="1"/>
            <p:nvPr/>
          </p:nvSpPr>
          <p:spPr>
            <a:xfrm>
              <a:off x="0" y="-38100"/>
              <a:ext cx="1814100" cy="444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0" name="Google Shape;120;p13"/>
          <p:cNvGrpSpPr/>
          <p:nvPr/>
        </p:nvGrpSpPr>
        <p:grpSpPr>
          <a:xfrm>
            <a:off x="2635517" y="1028700"/>
            <a:ext cx="1632265" cy="1632265"/>
            <a:chOff x="0" y="0"/>
            <a:chExt cx="812800" cy="812800"/>
          </a:xfrm>
        </p:grpSpPr>
        <p:sp>
          <p:nvSpPr>
            <p:cNvPr id="121" name="Google Shape;121;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35F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3"/>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13"/>
          <p:cNvGrpSpPr/>
          <p:nvPr/>
        </p:nvGrpSpPr>
        <p:grpSpPr>
          <a:xfrm>
            <a:off x="6727603" y="2929375"/>
            <a:ext cx="6887956" cy="1688102"/>
            <a:chOff x="0" y="-38100"/>
            <a:chExt cx="1814100" cy="444600"/>
          </a:xfrm>
        </p:grpSpPr>
        <p:sp>
          <p:nvSpPr>
            <p:cNvPr id="124" name="Google Shape;124;p13"/>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FDB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3"/>
            <p:cNvSpPr txBox="1"/>
            <p:nvPr/>
          </p:nvSpPr>
          <p:spPr>
            <a:xfrm>
              <a:off x="0" y="-38100"/>
              <a:ext cx="1814100" cy="444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6" name="Google Shape;126;p13"/>
          <p:cNvGrpSpPr/>
          <p:nvPr/>
        </p:nvGrpSpPr>
        <p:grpSpPr>
          <a:xfrm>
            <a:off x="4886114" y="3029438"/>
            <a:ext cx="1632265" cy="1632265"/>
            <a:chOff x="0" y="0"/>
            <a:chExt cx="812800" cy="812800"/>
          </a:xfrm>
        </p:grpSpPr>
        <p:sp>
          <p:nvSpPr>
            <p:cNvPr id="127" name="Google Shape;127;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B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3"/>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9" name="Google Shape;129;p13"/>
          <p:cNvSpPr/>
          <p:nvPr/>
        </p:nvSpPr>
        <p:spPr>
          <a:xfrm flipH="1">
            <a:off x="13287665" y="627661"/>
            <a:ext cx="4751152" cy="4803554"/>
          </a:xfrm>
          <a:custGeom>
            <a:rect b="b" l="l" r="r" t="t"/>
            <a:pathLst>
              <a:path extrusionOk="0" h="4803554" w="4751152">
                <a:moveTo>
                  <a:pt x="4751152" y="0"/>
                </a:moveTo>
                <a:lnTo>
                  <a:pt x="0" y="0"/>
                </a:lnTo>
                <a:lnTo>
                  <a:pt x="0" y="4803554"/>
                </a:lnTo>
                <a:lnTo>
                  <a:pt x="4751152" y="4803554"/>
                </a:lnTo>
                <a:lnTo>
                  <a:pt x="4751152" y="0"/>
                </a:lnTo>
                <a:close/>
              </a:path>
            </a:pathLst>
          </a:custGeom>
          <a:blipFill rotWithShape="1">
            <a:blip r:embed="rId2">
              <a:alphaModFix/>
            </a:blip>
            <a:stretch>
              <a:fillRect b="0" l="0" r="0" t="0"/>
            </a:stretch>
          </a:blipFill>
          <a:ln>
            <a:noFill/>
          </a:ln>
        </p:spPr>
      </p:sp>
      <p:grpSp>
        <p:nvGrpSpPr>
          <p:cNvPr id="130" name="Google Shape;130;p13"/>
          <p:cNvGrpSpPr/>
          <p:nvPr/>
        </p:nvGrpSpPr>
        <p:grpSpPr>
          <a:xfrm>
            <a:off x="8841503" y="5084492"/>
            <a:ext cx="6887956" cy="1688102"/>
            <a:chOff x="0" y="-38100"/>
            <a:chExt cx="1814100" cy="444600"/>
          </a:xfrm>
        </p:grpSpPr>
        <p:sp>
          <p:nvSpPr>
            <p:cNvPr id="131" name="Google Shape;131;p13"/>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D752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3"/>
            <p:cNvSpPr txBox="1"/>
            <p:nvPr/>
          </p:nvSpPr>
          <p:spPr>
            <a:xfrm>
              <a:off x="0" y="-38100"/>
              <a:ext cx="1814100" cy="444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p13"/>
          <p:cNvGrpSpPr/>
          <p:nvPr/>
        </p:nvGrpSpPr>
        <p:grpSpPr>
          <a:xfrm>
            <a:off x="7000013" y="5184556"/>
            <a:ext cx="1632265" cy="1632265"/>
            <a:chOff x="0" y="0"/>
            <a:chExt cx="812800" cy="812800"/>
          </a:xfrm>
        </p:grpSpPr>
        <p:sp>
          <p:nvSpPr>
            <p:cNvPr id="134" name="Google Shape;134;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2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3"/>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6" name="Google Shape;136;p13"/>
          <p:cNvGrpSpPr/>
          <p:nvPr/>
        </p:nvGrpSpPr>
        <p:grpSpPr>
          <a:xfrm>
            <a:off x="10634590" y="7240614"/>
            <a:ext cx="6887956" cy="1688102"/>
            <a:chOff x="0" y="-38100"/>
            <a:chExt cx="1814100" cy="444600"/>
          </a:xfrm>
        </p:grpSpPr>
        <p:sp>
          <p:nvSpPr>
            <p:cNvPr id="137" name="Google Shape;137;p13"/>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FE80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3"/>
            <p:cNvSpPr txBox="1"/>
            <p:nvPr/>
          </p:nvSpPr>
          <p:spPr>
            <a:xfrm>
              <a:off x="0" y="-38100"/>
              <a:ext cx="1814100" cy="444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9" name="Google Shape;139;p13"/>
          <p:cNvGrpSpPr/>
          <p:nvPr/>
        </p:nvGrpSpPr>
        <p:grpSpPr>
          <a:xfrm>
            <a:off x="8793101" y="7340678"/>
            <a:ext cx="1632265" cy="1632265"/>
            <a:chOff x="0" y="0"/>
            <a:chExt cx="812800" cy="812800"/>
          </a:xfrm>
        </p:grpSpPr>
        <p:sp>
          <p:nvSpPr>
            <p:cNvPr id="140" name="Google Shape;140;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0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3"/>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2" name="Google Shape;142;p13"/>
          <p:cNvSpPr/>
          <p:nvPr/>
        </p:nvSpPr>
        <p:spPr>
          <a:xfrm flipH="1">
            <a:off x="-111451" y="5184556"/>
            <a:ext cx="5813688" cy="5285171"/>
          </a:xfrm>
          <a:custGeom>
            <a:rect b="b" l="l" r="r" t="t"/>
            <a:pathLst>
              <a:path extrusionOk="0" h="5285171" w="5813688">
                <a:moveTo>
                  <a:pt x="5813689" y="0"/>
                </a:moveTo>
                <a:lnTo>
                  <a:pt x="0" y="0"/>
                </a:lnTo>
                <a:lnTo>
                  <a:pt x="0" y="5285171"/>
                </a:lnTo>
                <a:lnTo>
                  <a:pt x="5813689" y="5285171"/>
                </a:lnTo>
                <a:lnTo>
                  <a:pt x="5813689" y="0"/>
                </a:lnTo>
                <a:close/>
              </a:path>
            </a:pathLst>
          </a:custGeom>
          <a:blipFill rotWithShape="1">
            <a:blip r:embed="rId3">
              <a:alphaModFix/>
            </a:blip>
            <a:stretch>
              <a:fillRect b="0" l="0" r="0" t="0"/>
            </a:stretch>
          </a:blip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5">
  <p:cSld name="CUSTOM_4">
    <p:spTree>
      <p:nvGrpSpPr>
        <p:cNvPr id="143" name="Shape 143"/>
        <p:cNvGrpSpPr/>
        <p:nvPr/>
      </p:nvGrpSpPr>
      <p:grpSpPr>
        <a:xfrm>
          <a:off x="0" y="0"/>
          <a:ext cx="0" cy="0"/>
          <a:chOff x="0" y="0"/>
          <a:chExt cx="0" cy="0"/>
        </a:xfrm>
      </p:grpSpPr>
      <p:cxnSp>
        <p:nvCxnSpPr>
          <p:cNvPr id="144" name="Google Shape;144;p14"/>
          <p:cNvCxnSpPr/>
          <p:nvPr/>
        </p:nvCxnSpPr>
        <p:spPr>
          <a:xfrm rot="10800000">
            <a:off x="1120683" y="1599237"/>
            <a:ext cx="0" cy="7027200"/>
          </a:xfrm>
          <a:prstGeom prst="straightConnector1">
            <a:avLst/>
          </a:prstGeom>
          <a:noFill/>
          <a:ln cap="flat" cmpd="sng" w="95250">
            <a:solidFill>
              <a:srgbClr val="735FE4"/>
            </a:solidFill>
            <a:prstDash val="lgDash"/>
            <a:round/>
            <a:headEnd len="sm" w="sm" type="none"/>
            <a:tailEnd len="sm" w="sm" type="none"/>
          </a:ln>
        </p:spPr>
      </p:cxnSp>
      <p:cxnSp>
        <p:nvCxnSpPr>
          <p:cNvPr id="145" name="Google Shape;145;p14"/>
          <p:cNvCxnSpPr/>
          <p:nvPr/>
        </p:nvCxnSpPr>
        <p:spPr>
          <a:xfrm rot="10800000">
            <a:off x="8195543" y="2548436"/>
            <a:ext cx="0" cy="6078000"/>
          </a:xfrm>
          <a:prstGeom prst="straightConnector1">
            <a:avLst/>
          </a:prstGeom>
          <a:noFill/>
          <a:ln cap="flat" cmpd="sng" w="95250">
            <a:solidFill>
              <a:srgbClr val="FDBD00"/>
            </a:solidFill>
            <a:prstDash val="lgDash"/>
            <a:round/>
            <a:headEnd len="sm" w="sm" type="none"/>
            <a:tailEnd len="sm" w="sm" type="none"/>
          </a:ln>
        </p:spPr>
      </p:cxnSp>
      <p:grpSp>
        <p:nvGrpSpPr>
          <p:cNvPr id="146" name="Google Shape;146;p14"/>
          <p:cNvGrpSpPr/>
          <p:nvPr/>
        </p:nvGrpSpPr>
        <p:grpSpPr>
          <a:xfrm>
            <a:off x="1073058" y="8047385"/>
            <a:ext cx="2268598" cy="1031363"/>
            <a:chOff x="0" y="-169229"/>
            <a:chExt cx="3024798" cy="1375150"/>
          </a:xfrm>
        </p:grpSpPr>
        <p:grpSp>
          <p:nvGrpSpPr>
            <p:cNvPr id="147" name="Google Shape;147;p14"/>
            <p:cNvGrpSpPr/>
            <p:nvPr/>
          </p:nvGrpSpPr>
          <p:grpSpPr>
            <a:xfrm>
              <a:off x="0" y="-169229"/>
              <a:ext cx="3024798" cy="1375150"/>
              <a:chOff x="0" y="-38100"/>
              <a:chExt cx="681000" cy="309600"/>
            </a:xfrm>
          </p:grpSpPr>
          <p:sp>
            <p:nvSpPr>
              <p:cNvPr id="148" name="Google Shape;148;p14"/>
              <p:cNvSpPr/>
              <p:nvPr/>
            </p:nvSpPr>
            <p:spPr>
              <a:xfrm>
                <a:off x="0" y="0"/>
                <a:ext cx="680930" cy="271443"/>
              </a:xfrm>
              <a:custGeom>
                <a:rect b="b" l="l" r="r" t="t"/>
                <a:pathLst>
                  <a:path extrusionOk="0" h="271443" w="680930">
                    <a:moveTo>
                      <a:pt x="135721" y="0"/>
                    </a:moveTo>
                    <a:lnTo>
                      <a:pt x="545209" y="0"/>
                    </a:lnTo>
                    <a:cubicBezTo>
                      <a:pt x="581204" y="0"/>
                      <a:pt x="615726" y="14299"/>
                      <a:pt x="641178" y="39752"/>
                    </a:cubicBezTo>
                    <a:cubicBezTo>
                      <a:pt x="666631" y="65205"/>
                      <a:pt x="680930" y="99726"/>
                      <a:pt x="680930" y="135721"/>
                    </a:cubicBezTo>
                    <a:lnTo>
                      <a:pt x="680930" y="135721"/>
                    </a:lnTo>
                    <a:cubicBezTo>
                      <a:pt x="680930" y="171717"/>
                      <a:pt x="666631" y="206238"/>
                      <a:pt x="641178" y="231691"/>
                    </a:cubicBezTo>
                    <a:cubicBezTo>
                      <a:pt x="615726" y="257144"/>
                      <a:pt x="581204" y="271443"/>
                      <a:pt x="545209" y="271443"/>
                    </a:cubicBezTo>
                    <a:lnTo>
                      <a:pt x="135721" y="271443"/>
                    </a:lnTo>
                    <a:cubicBezTo>
                      <a:pt x="99726" y="271443"/>
                      <a:pt x="65205" y="257144"/>
                      <a:pt x="39752" y="231691"/>
                    </a:cubicBezTo>
                    <a:cubicBezTo>
                      <a:pt x="14299" y="206238"/>
                      <a:pt x="0" y="171717"/>
                      <a:pt x="0" y="135721"/>
                    </a:cubicBezTo>
                    <a:lnTo>
                      <a:pt x="0" y="135721"/>
                    </a:lnTo>
                    <a:cubicBezTo>
                      <a:pt x="0" y="99726"/>
                      <a:pt x="14299" y="65205"/>
                      <a:pt x="39752" y="39752"/>
                    </a:cubicBezTo>
                    <a:cubicBezTo>
                      <a:pt x="65205" y="14299"/>
                      <a:pt x="99726" y="0"/>
                      <a:pt x="1357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4"/>
              <p:cNvSpPr txBox="1"/>
              <p:nvPr/>
            </p:nvSpPr>
            <p:spPr>
              <a:xfrm>
                <a:off x="0" y="-38100"/>
                <a:ext cx="681000" cy="30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14"/>
            <p:cNvSpPr txBox="1"/>
            <p:nvPr/>
          </p:nvSpPr>
          <p:spPr>
            <a:xfrm>
              <a:off x="223133" y="265776"/>
              <a:ext cx="2578200" cy="648000"/>
            </a:xfrm>
            <a:prstGeom prst="rect">
              <a:avLst/>
            </a:prstGeom>
            <a:noFill/>
            <a:ln>
              <a:noFill/>
            </a:ln>
          </p:spPr>
          <p:txBody>
            <a:bodyPr anchorCtr="0" anchor="t" bIns="0" lIns="0" spcFirstLastPara="1" rIns="0" wrap="square" tIns="0">
              <a:spAutoFit/>
            </a:bodyPr>
            <a:lstStyle/>
            <a:p>
              <a:pPr indent="0" lvl="0" marL="0" marR="0" rtl="0" algn="ctr">
                <a:lnSpc>
                  <a:spcPct val="124002"/>
                </a:lnSpc>
                <a:spcBef>
                  <a:spcPts val="0"/>
                </a:spcBef>
                <a:spcAft>
                  <a:spcPts val="0"/>
                </a:spcAft>
                <a:buClr>
                  <a:srgbClr val="000000"/>
                </a:buClr>
                <a:buSzPts val="3158"/>
                <a:buFont typeface="Arial"/>
                <a:buNone/>
              </a:pPr>
              <a:r>
                <a:rPr b="1" i="0" lang="en-US" sz="3158" u="none" cap="none" strike="noStrike">
                  <a:solidFill>
                    <a:srgbClr val="060631"/>
                  </a:solidFill>
                  <a:latin typeface="Lora"/>
                  <a:ea typeface="Lora"/>
                  <a:cs typeface="Lora"/>
                  <a:sym typeface="Lora"/>
                </a:rPr>
                <a:t>Mon</a:t>
              </a:r>
              <a:endParaRPr b="0" i="0" sz="1400" u="none" cap="none" strike="noStrike">
                <a:solidFill>
                  <a:srgbClr val="000000"/>
                </a:solidFill>
                <a:latin typeface="Arial"/>
                <a:ea typeface="Arial"/>
                <a:cs typeface="Arial"/>
                <a:sym typeface="Arial"/>
              </a:endParaRPr>
            </a:p>
          </p:txBody>
        </p:sp>
      </p:grpSp>
      <p:grpSp>
        <p:nvGrpSpPr>
          <p:cNvPr id="151" name="Google Shape;151;p14"/>
          <p:cNvGrpSpPr/>
          <p:nvPr/>
        </p:nvGrpSpPr>
        <p:grpSpPr>
          <a:xfrm>
            <a:off x="3400093" y="8047385"/>
            <a:ext cx="2268598" cy="1031363"/>
            <a:chOff x="0" y="-169229"/>
            <a:chExt cx="3024798" cy="1375150"/>
          </a:xfrm>
        </p:grpSpPr>
        <p:grpSp>
          <p:nvGrpSpPr>
            <p:cNvPr id="152" name="Google Shape;152;p14"/>
            <p:cNvGrpSpPr/>
            <p:nvPr/>
          </p:nvGrpSpPr>
          <p:grpSpPr>
            <a:xfrm>
              <a:off x="0" y="-169229"/>
              <a:ext cx="3024798" cy="1375150"/>
              <a:chOff x="0" y="-38100"/>
              <a:chExt cx="681000" cy="309600"/>
            </a:xfrm>
          </p:grpSpPr>
          <p:sp>
            <p:nvSpPr>
              <p:cNvPr id="153" name="Google Shape;153;p14"/>
              <p:cNvSpPr/>
              <p:nvPr/>
            </p:nvSpPr>
            <p:spPr>
              <a:xfrm>
                <a:off x="0" y="0"/>
                <a:ext cx="680930" cy="271443"/>
              </a:xfrm>
              <a:custGeom>
                <a:rect b="b" l="l" r="r" t="t"/>
                <a:pathLst>
                  <a:path extrusionOk="0" h="271443" w="680930">
                    <a:moveTo>
                      <a:pt x="135721" y="0"/>
                    </a:moveTo>
                    <a:lnTo>
                      <a:pt x="545209" y="0"/>
                    </a:lnTo>
                    <a:cubicBezTo>
                      <a:pt x="581204" y="0"/>
                      <a:pt x="615726" y="14299"/>
                      <a:pt x="641178" y="39752"/>
                    </a:cubicBezTo>
                    <a:cubicBezTo>
                      <a:pt x="666631" y="65205"/>
                      <a:pt x="680930" y="99726"/>
                      <a:pt x="680930" y="135721"/>
                    </a:cubicBezTo>
                    <a:lnTo>
                      <a:pt x="680930" y="135721"/>
                    </a:lnTo>
                    <a:cubicBezTo>
                      <a:pt x="680930" y="171717"/>
                      <a:pt x="666631" y="206238"/>
                      <a:pt x="641178" y="231691"/>
                    </a:cubicBezTo>
                    <a:cubicBezTo>
                      <a:pt x="615726" y="257144"/>
                      <a:pt x="581204" y="271443"/>
                      <a:pt x="545209" y="271443"/>
                    </a:cubicBezTo>
                    <a:lnTo>
                      <a:pt x="135721" y="271443"/>
                    </a:lnTo>
                    <a:cubicBezTo>
                      <a:pt x="99726" y="271443"/>
                      <a:pt x="65205" y="257144"/>
                      <a:pt x="39752" y="231691"/>
                    </a:cubicBezTo>
                    <a:cubicBezTo>
                      <a:pt x="14299" y="206238"/>
                      <a:pt x="0" y="171717"/>
                      <a:pt x="0" y="135721"/>
                    </a:cubicBezTo>
                    <a:lnTo>
                      <a:pt x="0" y="135721"/>
                    </a:lnTo>
                    <a:cubicBezTo>
                      <a:pt x="0" y="99726"/>
                      <a:pt x="14299" y="65205"/>
                      <a:pt x="39752" y="39752"/>
                    </a:cubicBezTo>
                    <a:cubicBezTo>
                      <a:pt x="65205" y="14299"/>
                      <a:pt x="99726" y="0"/>
                      <a:pt x="1357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4"/>
              <p:cNvSpPr txBox="1"/>
              <p:nvPr/>
            </p:nvSpPr>
            <p:spPr>
              <a:xfrm>
                <a:off x="0" y="-38100"/>
                <a:ext cx="681000" cy="30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5" name="Google Shape;155;p14"/>
            <p:cNvSpPr txBox="1"/>
            <p:nvPr/>
          </p:nvSpPr>
          <p:spPr>
            <a:xfrm>
              <a:off x="223133" y="265776"/>
              <a:ext cx="2578200" cy="648000"/>
            </a:xfrm>
            <a:prstGeom prst="rect">
              <a:avLst/>
            </a:prstGeom>
            <a:noFill/>
            <a:ln>
              <a:noFill/>
            </a:ln>
          </p:spPr>
          <p:txBody>
            <a:bodyPr anchorCtr="0" anchor="t" bIns="0" lIns="0" spcFirstLastPara="1" rIns="0" wrap="square" tIns="0">
              <a:spAutoFit/>
            </a:bodyPr>
            <a:lstStyle/>
            <a:p>
              <a:pPr indent="0" lvl="0" marL="0" marR="0" rtl="0" algn="ctr">
                <a:lnSpc>
                  <a:spcPct val="124002"/>
                </a:lnSpc>
                <a:spcBef>
                  <a:spcPts val="0"/>
                </a:spcBef>
                <a:spcAft>
                  <a:spcPts val="0"/>
                </a:spcAft>
                <a:buClr>
                  <a:srgbClr val="000000"/>
                </a:buClr>
                <a:buSzPts val="3158"/>
                <a:buFont typeface="Arial"/>
                <a:buNone/>
              </a:pPr>
              <a:r>
                <a:rPr b="1" i="0" lang="en-US" sz="3158" u="none" cap="none" strike="noStrike">
                  <a:solidFill>
                    <a:srgbClr val="060631"/>
                  </a:solidFill>
                  <a:latin typeface="Lora"/>
                  <a:ea typeface="Lora"/>
                  <a:cs typeface="Lora"/>
                  <a:sym typeface="Lora"/>
                </a:rPr>
                <a:t>Tue</a:t>
              </a:r>
              <a:endParaRPr b="0" i="0" sz="1400" u="none" cap="none" strike="noStrike">
                <a:solidFill>
                  <a:srgbClr val="000000"/>
                </a:solidFill>
                <a:latin typeface="Arial"/>
                <a:ea typeface="Arial"/>
                <a:cs typeface="Arial"/>
                <a:sym typeface="Arial"/>
              </a:endParaRPr>
            </a:p>
          </p:txBody>
        </p:sp>
      </p:grpSp>
      <p:grpSp>
        <p:nvGrpSpPr>
          <p:cNvPr id="156" name="Google Shape;156;p14"/>
          <p:cNvGrpSpPr/>
          <p:nvPr/>
        </p:nvGrpSpPr>
        <p:grpSpPr>
          <a:xfrm>
            <a:off x="5727128" y="8047385"/>
            <a:ext cx="2268598" cy="1031363"/>
            <a:chOff x="0" y="-169229"/>
            <a:chExt cx="3024798" cy="1375150"/>
          </a:xfrm>
        </p:grpSpPr>
        <p:grpSp>
          <p:nvGrpSpPr>
            <p:cNvPr id="157" name="Google Shape;157;p14"/>
            <p:cNvGrpSpPr/>
            <p:nvPr/>
          </p:nvGrpSpPr>
          <p:grpSpPr>
            <a:xfrm>
              <a:off x="0" y="-169229"/>
              <a:ext cx="3024798" cy="1375150"/>
              <a:chOff x="0" y="-38100"/>
              <a:chExt cx="681000" cy="309600"/>
            </a:xfrm>
          </p:grpSpPr>
          <p:sp>
            <p:nvSpPr>
              <p:cNvPr id="158" name="Google Shape;158;p14"/>
              <p:cNvSpPr/>
              <p:nvPr/>
            </p:nvSpPr>
            <p:spPr>
              <a:xfrm>
                <a:off x="0" y="0"/>
                <a:ext cx="680930" cy="271443"/>
              </a:xfrm>
              <a:custGeom>
                <a:rect b="b" l="l" r="r" t="t"/>
                <a:pathLst>
                  <a:path extrusionOk="0" h="271443" w="680930">
                    <a:moveTo>
                      <a:pt x="135721" y="0"/>
                    </a:moveTo>
                    <a:lnTo>
                      <a:pt x="545209" y="0"/>
                    </a:lnTo>
                    <a:cubicBezTo>
                      <a:pt x="581204" y="0"/>
                      <a:pt x="615726" y="14299"/>
                      <a:pt x="641178" y="39752"/>
                    </a:cubicBezTo>
                    <a:cubicBezTo>
                      <a:pt x="666631" y="65205"/>
                      <a:pt x="680930" y="99726"/>
                      <a:pt x="680930" y="135721"/>
                    </a:cubicBezTo>
                    <a:lnTo>
                      <a:pt x="680930" y="135721"/>
                    </a:lnTo>
                    <a:cubicBezTo>
                      <a:pt x="680930" y="171717"/>
                      <a:pt x="666631" y="206238"/>
                      <a:pt x="641178" y="231691"/>
                    </a:cubicBezTo>
                    <a:cubicBezTo>
                      <a:pt x="615726" y="257144"/>
                      <a:pt x="581204" y="271443"/>
                      <a:pt x="545209" y="271443"/>
                    </a:cubicBezTo>
                    <a:lnTo>
                      <a:pt x="135721" y="271443"/>
                    </a:lnTo>
                    <a:cubicBezTo>
                      <a:pt x="99726" y="271443"/>
                      <a:pt x="65205" y="257144"/>
                      <a:pt x="39752" y="231691"/>
                    </a:cubicBezTo>
                    <a:cubicBezTo>
                      <a:pt x="14299" y="206238"/>
                      <a:pt x="0" y="171717"/>
                      <a:pt x="0" y="135721"/>
                    </a:cubicBezTo>
                    <a:lnTo>
                      <a:pt x="0" y="135721"/>
                    </a:lnTo>
                    <a:cubicBezTo>
                      <a:pt x="0" y="99726"/>
                      <a:pt x="14299" y="65205"/>
                      <a:pt x="39752" y="39752"/>
                    </a:cubicBezTo>
                    <a:cubicBezTo>
                      <a:pt x="65205" y="14299"/>
                      <a:pt x="99726" y="0"/>
                      <a:pt x="1357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4"/>
              <p:cNvSpPr txBox="1"/>
              <p:nvPr/>
            </p:nvSpPr>
            <p:spPr>
              <a:xfrm>
                <a:off x="0" y="-38100"/>
                <a:ext cx="681000" cy="30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14"/>
            <p:cNvSpPr txBox="1"/>
            <p:nvPr/>
          </p:nvSpPr>
          <p:spPr>
            <a:xfrm>
              <a:off x="223133" y="265776"/>
              <a:ext cx="2578200" cy="648000"/>
            </a:xfrm>
            <a:prstGeom prst="rect">
              <a:avLst/>
            </a:prstGeom>
            <a:noFill/>
            <a:ln>
              <a:noFill/>
            </a:ln>
          </p:spPr>
          <p:txBody>
            <a:bodyPr anchorCtr="0" anchor="t" bIns="0" lIns="0" spcFirstLastPara="1" rIns="0" wrap="square" tIns="0">
              <a:spAutoFit/>
            </a:bodyPr>
            <a:lstStyle/>
            <a:p>
              <a:pPr indent="0" lvl="0" marL="0" marR="0" rtl="0" algn="ctr">
                <a:lnSpc>
                  <a:spcPct val="124002"/>
                </a:lnSpc>
                <a:spcBef>
                  <a:spcPts val="0"/>
                </a:spcBef>
                <a:spcAft>
                  <a:spcPts val="0"/>
                </a:spcAft>
                <a:buClr>
                  <a:srgbClr val="000000"/>
                </a:buClr>
                <a:buSzPts val="3158"/>
                <a:buFont typeface="Arial"/>
                <a:buNone/>
              </a:pPr>
              <a:r>
                <a:rPr b="1" i="0" lang="en-US" sz="3158" u="none" cap="none" strike="noStrike">
                  <a:solidFill>
                    <a:srgbClr val="060631"/>
                  </a:solidFill>
                  <a:latin typeface="Lora"/>
                  <a:ea typeface="Lora"/>
                  <a:cs typeface="Lora"/>
                  <a:sym typeface="Lora"/>
                </a:rPr>
                <a:t>Wed</a:t>
              </a:r>
              <a:endParaRPr b="0" i="0" sz="1400" u="none" cap="none" strike="noStrike">
                <a:solidFill>
                  <a:srgbClr val="000000"/>
                </a:solidFill>
                <a:latin typeface="Arial"/>
                <a:ea typeface="Arial"/>
                <a:cs typeface="Arial"/>
                <a:sym typeface="Arial"/>
              </a:endParaRPr>
            </a:p>
          </p:txBody>
        </p:sp>
      </p:grpSp>
      <p:grpSp>
        <p:nvGrpSpPr>
          <p:cNvPr id="161" name="Google Shape;161;p14"/>
          <p:cNvGrpSpPr/>
          <p:nvPr/>
        </p:nvGrpSpPr>
        <p:grpSpPr>
          <a:xfrm>
            <a:off x="8054163" y="8047385"/>
            <a:ext cx="2268598" cy="1031363"/>
            <a:chOff x="0" y="-169229"/>
            <a:chExt cx="3024798" cy="1375150"/>
          </a:xfrm>
        </p:grpSpPr>
        <p:grpSp>
          <p:nvGrpSpPr>
            <p:cNvPr id="162" name="Google Shape;162;p14"/>
            <p:cNvGrpSpPr/>
            <p:nvPr/>
          </p:nvGrpSpPr>
          <p:grpSpPr>
            <a:xfrm>
              <a:off x="0" y="-169229"/>
              <a:ext cx="3024798" cy="1375150"/>
              <a:chOff x="0" y="-38100"/>
              <a:chExt cx="681000" cy="309600"/>
            </a:xfrm>
          </p:grpSpPr>
          <p:sp>
            <p:nvSpPr>
              <p:cNvPr id="163" name="Google Shape;163;p14"/>
              <p:cNvSpPr/>
              <p:nvPr/>
            </p:nvSpPr>
            <p:spPr>
              <a:xfrm>
                <a:off x="0" y="0"/>
                <a:ext cx="680930" cy="271443"/>
              </a:xfrm>
              <a:custGeom>
                <a:rect b="b" l="l" r="r" t="t"/>
                <a:pathLst>
                  <a:path extrusionOk="0" h="271443" w="680930">
                    <a:moveTo>
                      <a:pt x="135721" y="0"/>
                    </a:moveTo>
                    <a:lnTo>
                      <a:pt x="545209" y="0"/>
                    </a:lnTo>
                    <a:cubicBezTo>
                      <a:pt x="581204" y="0"/>
                      <a:pt x="615726" y="14299"/>
                      <a:pt x="641178" y="39752"/>
                    </a:cubicBezTo>
                    <a:cubicBezTo>
                      <a:pt x="666631" y="65205"/>
                      <a:pt x="680930" y="99726"/>
                      <a:pt x="680930" y="135721"/>
                    </a:cubicBezTo>
                    <a:lnTo>
                      <a:pt x="680930" y="135721"/>
                    </a:lnTo>
                    <a:cubicBezTo>
                      <a:pt x="680930" y="171717"/>
                      <a:pt x="666631" y="206238"/>
                      <a:pt x="641178" y="231691"/>
                    </a:cubicBezTo>
                    <a:cubicBezTo>
                      <a:pt x="615726" y="257144"/>
                      <a:pt x="581204" y="271443"/>
                      <a:pt x="545209" y="271443"/>
                    </a:cubicBezTo>
                    <a:lnTo>
                      <a:pt x="135721" y="271443"/>
                    </a:lnTo>
                    <a:cubicBezTo>
                      <a:pt x="99726" y="271443"/>
                      <a:pt x="65205" y="257144"/>
                      <a:pt x="39752" y="231691"/>
                    </a:cubicBezTo>
                    <a:cubicBezTo>
                      <a:pt x="14299" y="206238"/>
                      <a:pt x="0" y="171717"/>
                      <a:pt x="0" y="135721"/>
                    </a:cubicBezTo>
                    <a:lnTo>
                      <a:pt x="0" y="135721"/>
                    </a:lnTo>
                    <a:cubicBezTo>
                      <a:pt x="0" y="99726"/>
                      <a:pt x="14299" y="65205"/>
                      <a:pt x="39752" y="39752"/>
                    </a:cubicBezTo>
                    <a:cubicBezTo>
                      <a:pt x="65205" y="14299"/>
                      <a:pt x="99726" y="0"/>
                      <a:pt x="1357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4"/>
              <p:cNvSpPr txBox="1"/>
              <p:nvPr/>
            </p:nvSpPr>
            <p:spPr>
              <a:xfrm>
                <a:off x="0" y="-38100"/>
                <a:ext cx="681000" cy="30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14"/>
            <p:cNvSpPr txBox="1"/>
            <p:nvPr/>
          </p:nvSpPr>
          <p:spPr>
            <a:xfrm>
              <a:off x="223133" y="265776"/>
              <a:ext cx="2578200" cy="648000"/>
            </a:xfrm>
            <a:prstGeom prst="rect">
              <a:avLst/>
            </a:prstGeom>
            <a:noFill/>
            <a:ln>
              <a:noFill/>
            </a:ln>
          </p:spPr>
          <p:txBody>
            <a:bodyPr anchorCtr="0" anchor="t" bIns="0" lIns="0" spcFirstLastPara="1" rIns="0" wrap="square" tIns="0">
              <a:spAutoFit/>
            </a:bodyPr>
            <a:lstStyle/>
            <a:p>
              <a:pPr indent="0" lvl="0" marL="0" marR="0" rtl="0" algn="ctr">
                <a:lnSpc>
                  <a:spcPct val="124002"/>
                </a:lnSpc>
                <a:spcBef>
                  <a:spcPts val="0"/>
                </a:spcBef>
                <a:spcAft>
                  <a:spcPts val="0"/>
                </a:spcAft>
                <a:buClr>
                  <a:srgbClr val="000000"/>
                </a:buClr>
                <a:buSzPts val="3158"/>
                <a:buFont typeface="Arial"/>
                <a:buNone/>
              </a:pPr>
              <a:r>
                <a:rPr b="1" i="0" lang="en-US" sz="3158" u="none" cap="none" strike="noStrike">
                  <a:solidFill>
                    <a:srgbClr val="060631"/>
                  </a:solidFill>
                  <a:latin typeface="Lora"/>
                  <a:ea typeface="Lora"/>
                  <a:cs typeface="Lora"/>
                  <a:sym typeface="Lora"/>
                </a:rPr>
                <a:t>Thu</a:t>
              </a:r>
              <a:endParaRPr b="0" i="0" sz="1400" u="none" cap="none" strike="noStrike">
                <a:solidFill>
                  <a:srgbClr val="000000"/>
                </a:solidFill>
                <a:latin typeface="Arial"/>
                <a:ea typeface="Arial"/>
                <a:cs typeface="Arial"/>
                <a:sym typeface="Arial"/>
              </a:endParaRPr>
            </a:p>
          </p:txBody>
        </p:sp>
      </p:grpSp>
      <p:grpSp>
        <p:nvGrpSpPr>
          <p:cNvPr id="166" name="Google Shape;166;p14"/>
          <p:cNvGrpSpPr/>
          <p:nvPr/>
        </p:nvGrpSpPr>
        <p:grpSpPr>
          <a:xfrm>
            <a:off x="10381198" y="8047385"/>
            <a:ext cx="2268598" cy="1031363"/>
            <a:chOff x="0" y="-169229"/>
            <a:chExt cx="3024798" cy="1375150"/>
          </a:xfrm>
        </p:grpSpPr>
        <p:grpSp>
          <p:nvGrpSpPr>
            <p:cNvPr id="167" name="Google Shape;167;p14"/>
            <p:cNvGrpSpPr/>
            <p:nvPr/>
          </p:nvGrpSpPr>
          <p:grpSpPr>
            <a:xfrm>
              <a:off x="0" y="-169229"/>
              <a:ext cx="3024798" cy="1375150"/>
              <a:chOff x="0" y="-38100"/>
              <a:chExt cx="681000" cy="309600"/>
            </a:xfrm>
          </p:grpSpPr>
          <p:sp>
            <p:nvSpPr>
              <p:cNvPr id="168" name="Google Shape;168;p14"/>
              <p:cNvSpPr/>
              <p:nvPr/>
            </p:nvSpPr>
            <p:spPr>
              <a:xfrm>
                <a:off x="0" y="0"/>
                <a:ext cx="680930" cy="271443"/>
              </a:xfrm>
              <a:custGeom>
                <a:rect b="b" l="l" r="r" t="t"/>
                <a:pathLst>
                  <a:path extrusionOk="0" h="271443" w="680930">
                    <a:moveTo>
                      <a:pt x="135721" y="0"/>
                    </a:moveTo>
                    <a:lnTo>
                      <a:pt x="545209" y="0"/>
                    </a:lnTo>
                    <a:cubicBezTo>
                      <a:pt x="581204" y="0"/>
                      <a:pt x="615726" y="14299"/>
                      <a:pt x="641178" y="39752"/>
                    </a:cubicBezTo>
                    <a:cubicBezTo>
                      <a:pt x="666631" y="65205"/>
                      <a:pt x="680930" y="99726"/>
                      <a:pt x="680930" y="135721"/>
                    </a:cubicBezTo>
                    <a:lnTo>
                      <a:pt x="680930" y="135721"/>
                    </a:lnTo>
                    <a:cubicBezTo>
                      <a:pt x="680930" y="171717"/>
                      <a:pt x="666631" y="206238"/>
                      <a:pt x="641178" y="231691"/>
                    </a:cubicBezTo>
                    <a:cubicBezTo>
                      <a:pt x="615726" y="257144"/>
                      <a:pt x="581204" y="271443"/>
                      <a:pt x="545209" y="271443"/>
                    </a:cubicBezTo>
                    <a:lnTo>
                      <a:pt x="135721" y="271443"/>
                    </a:lnTo>
                    <a:cubicBezTo>
                      <a:pt x="99726" y="271443"/>
                      <a:pt x="65205" y="257144"/>
                      <a:pt x="39752" y="231691"/>
                    </a:cubicBezTo>
                    <a:cubicBezTo>
                      <a:pt x="14299" y="206238"/>
                      <a:pt x="0" y="171717"/>
                      <a:pt x="0" y="135721"/>
                    </a:cubicBezTo>
                    <a:lnTo>
                      <a:pt x="0" y="135721"/>
                    </a:lnTo>
                    <a:cubicBezTo>
                      <a:pt x="0" y="99726"/>
                      <a:pt x="14299" y="65205"/>
                      <a:pt x="39752" y="39752"/>
                    </a:cubicBezTo>
                    <a:cubicBezTo>
                      <a:pt x="65205" y="14299"/>
                      <a:pt x="99726" y="0"/>
                      <a:pt x="1357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4"/>
              <p:cNvSpPr txBox="1"/>
              <p:nvPr/>
            </p:nvSpPr>
            <p:spPr>
              <a:xfrm>
                <a:off x="0" y="-38100"/>
                <a:ext cx="681000" cy="30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0" name="Google Shape;170;p14"/>
            <p:cNvSpPr txBox="1"/>
            <p:nvPr/>
          </p:nvSpPr>
          <p:spPr>
            <a:xfrm>
              <a:off x="223133" y="265776"/>
              <a:ext cx="2578200" cy="648000"/>
            </a:xfrm>
            <a:prstGeom prst="rect">
              <a:avLst/>
            </a:prstGeom>
            <a:noFill/>
            <a:ln>
              <a:noFill/>
            </a:ln>
          </p:spPr>
          <p:txBody>
            <a:bodyPr anchorCtr="0" anchor="t" bIns="0" lIns="0" spcFirstLastPara="1" rIns="0" wrap="square" tIns="0">
              <a:spAutoFit/>
            </a:bodyPr>
            <a:lstStyle/>
            <a:p>
              <a:pPr indent="0" lvl="0" marL="0" marR="0" rtl="0" algn="ctr">
                <a:lnSpc>
                  <a:spcPct val="124002"/>
                </a:lnSpc>
                <a:spcBef>
                  <a:spcPts val="0"/>
                </a:spcBef>
                <a:spcAft>
                  <a:spcPts val="0"/>
                </a:spcAft>
                <a:buClr>
                  <a:srgbClr val="000000"/>
                </a:buClr>
                <a:buSzPts val="3158"/>
                <a:buFont typeface="Arial"/>
                <a:buNone/>
              </a:pPr>
              <a:r>
                <a:rPr b="1" i="0" lang="en-US" sz="3158" u="none" cap="none" strike="noStrike">
                  <a:solidFill>
                    <a:srgbClr val="060631"/>
                  </a:solidFill>
                  <a:latin typeface="Lora"/>
                  <a:ea typeface="Lora"/>
                  <a:cs typeface="Lora"/>
                  <a:sym typeface="Lora"/>
                </a:rPr>
                <a:t>Fri</a:t>
              </a:r>
              <a:endParaRPr b="0" i="0" sz="1400" u="none" cap="none" strike="noStrike">
                <a:solidFill>
                  <a:srgbClr val="000000"/>
                </a:solidFill>
                <a:latin typeface="Arial"/>
                <a:ea typeface="Arial"/>
                <a:cs typeface="Arial"/>
                <a:sym typeface="Arial"/>
              </a:endParaRPr>
            </a:p>
          </p:txBody>
        </p:sp>
      </p:grpSp>
      <p:cxnSp>
        <p:nvCxnSpPr>
          <p:cNvPr id="171" name="Google Shape;171;p14"/>
          <p:cNvCxnSpPr/>
          <p:nvPr/>
        </p:nvCxnSpPr>
        <p:spPr>
          <a:xfrm rot="10800000">
            <a:off x="12964815" y="3000567"/>
            <a:ext cx="0" cy="6078000"/>
          </a:xfrm>
          <a:prstGeom prst="straightConnector1">
            <a:avLst/>
          </a:prstGeom>
          <a:noFill/>
          <a:ln cap="flat" cmpd="sng" w="95250">
            <a:solidFill>
              <a:srgbClr val="D752B2"/>
            </a:solidFill>
            <a:prstDash val="lgDash"/>
            <a:round/>
            <a:headEnd len="sm" w="sm" type="none"/>
            <a:tailEnd len="sm" w="sm" type="none"/>
          </a:ln>
        </p:spPr>
      </p:cxnSp>
      <p:grpSp>
        <p:nvGrpSpPr>
          <p:cNvPr id="172" name="Google Shape;172;p14"/>
          <p:cNvGrpSpPr/>
          <p:nvPr/>
        </p:nvGrpSpPr>
        <p:grpSpPr>
          <a:xfrm>
            <a:off x="12708233" y="8047385"/>
            <a:ext cx="2268598" cy="1031363"/>
            <a:chOff x="0" y="-169229"/>
            <a:chExt cx="3024798" cy="1375150"/>
          </a:xfrm>
        </p:grpSpPr>
        <p:grpSp>
          <p:nvGrpSpPr>
            <p:cNvPr id="173" name="Google Shape;173;p14"/>
            <p:cNvGrpSpPr/>
            <p:nvPr/>
          </p:nvGrpSpPr>
          <p:grpSpPr>
            <a:xfrm>
              <a:off x="0" y="-169229"/>
              <a:ext cx="3024798" cy="1375150"/>
              <a:chOff x="0" y="-38100"/>
              <a:chExt cx="681000" cy="309600"/>
            </a:xfrm>
          </p:grpSpPr>
          <p:sp>
            <p:nvSpPr>
              <p:cNvPr id="174" name="Google Shape;174;p14"/>
              <p:cNvSpPr/>
              <p:nvPr/>
            </p:nvSpPr>
            <p:spPr>
              <a:xfrm>
                <a:off x="0" y="0"/>
                <a:ext cx="680930" cy="271443"/>
              </a:xfrm>
              <a:custGeom>
                <a:rect b="b" l="l" r="r" t="t"/>
                <a:pathLst>
                  <a:path extrusionOk="0" h="271443" w="680930">
                    <a:moveTo>
                      <a:pt x="135721" y="0"/>
                    </a:moveTo>
                    <a:lnTo>
                      <a:pt x="545209" y="0"/>
                    </a:lnTo>
                    <a:cubicBezTo>
                      <a:pt x="581204" y="0"/>
                      <a:pt x="615726" y="14299"/>
                      <a:pt x="641178" y="39752"/>
                    </a:cubicBezTo>
                    <a:cubicBezTo>
                      <a:pt x="666631" y="65205"/>
                      <a:pt x="680930" y="99726"/>
                      <a:pt x="680930" y="135721"/>
                    </a:cubicBezTo>
                    <a:lnTo>
                      <a:pt x="680930" y="135721"/>
                    </a:lnTo>
                    <a:cubicBezTo>
                      <a:pt x="680930" y="171717"/>
                      <a:pt x="666631" y="206238"/>
                      <a:pt x="641178" y="231691"/>
                    </a:cubicBezTo>
                    <a:cubicBezTo>
                      <a:pt x="615726" y="257144"/>
                      <a:pt x="581204" y="271443"/>
                      <a:pt x="545209" y="271443"/>
                    </a:cubicBezTo>
                    <a:lnTo>
                      <a:pt x="135721" y="271443"/>
                    </a:lnTo>
                    <a:cubicBezTo>
                      <a:pt x="99726" y="271443"/>
                      <a:pt x="65205" y="257144"/>
                      <a:pt x="39752" y="231691"/>
                    </a:cubicBezTo>
                    <a:cubicBezTo>
                      <a:pt x="14299" y="206238"/>
                      <a:pt x="0" y="171717"/>
                      <a:pt x="0" y="135721"/>
                    </a:cubicBezTo>
                    <a:lnTo>
                      <a:pt x="0" y="135721"/>
                    </a:lnTo>
                    <a:cubicBezTo>
                      <a:pt x="0" y="99726"/>
                      <a:pt x="14299" y="65205"/>
                      <a:pt x="39752" y="39752"/>
                    </a:cubicBezTo>
                    <a:cubicBezTo>
                      <a:pt x="65205" y="14299"/>
                      <a:pt x="99726" y="0"/>
                      <a:pt x="1357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4"/>
              <p:cNvSpPr txBox="1"/>
              <p:nvPr/>
            </p:nvSpPr>
            <p:spPr>
              <a:xfrm>
                <a:off x="0" y="-38100"/>
                <a:ext cx="681000" cy="30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14"/>
            <p:cNvSpPr txBox="1"/>
            <p:nvPr/>
          </p:nvSpPr>
          <p:spPr>
            <a:xfrm>
              <a:off x="223133" y="265776"/>
              <a:ext cx="2578200" cy="648000"/>
            </a:xfrm>
            <a:prstGeom prst="rect">
              <a:avLst/>
            </a:prstGeom>
            <a:noFill/>
            <a:ln>
              <a:noFill/>
            </a:ln>
          </p:spPr>
          <p:txBody>
            <a:bodyPr anchorCtr="0" anchor="t" bIns="0" lIns="0" spcFirstLastPara="1" rIns="0" wrap="square" tIns="0">
              <a:spAutoFit/>
            </a:bodyPr>
            <a:lstStyle/>
            <a:p>
              <a:pPr indent="0" lvl="0" marL="0" marR="0" rtl="0" algn="ctr">
                <a:lnSpc>
                  <a:spcPct val="124002"/>
                </a:lnSpc>
                <a:spcBef>
                  <a:spcPts val="0"/>
                </a:spcBef>
                <a:spcAft>
                  <a:spcPts val="0"/>
                </a:spcAft>
                <a:buClr>
                  <a:srgbClr val="000000"/>
                </a:buClr>
                <a:buSzPts val="3158"/>
                <a:buFont typeface="Arial"/>
                <a:buNone/>
              </a:pPr>
              <a:r>
                <a:rPr b="1" i="0" lang="en-US" sz="3158" u="none" cap="none" strike="noStrike">
                  <a:solidFill>
                    <a:srgbClr val="060631"/>
                  </a:solidFill>
                  <a:latin typeface="Lora"/>
                  <a:ea typeface="Lora"/>
                  <a:cs typeface="Lora"/>
                  <a:sym typeface="Lora"/>
                </a:rPr>
                <a:t>Sat</a:t>
              </a:r>
              <a:endParaRPr b="0" i="0" sz="1400" u="none" cap="none" strike="noStrike">
                <a:solidFill>
                  <a:srgbClr val="000000"/>
                </a:solidFill>
                <a:latin typeface="Arial"/>
                <a:ea typeface="Arial"/>
                <a:cs typeface="Arial"/>
                <a:sym typeface="Arial"/>
              </a:endParaRPr>
            </a:p>
          </p:txBody>
        </p:sp>
      </p:grpSp>
      <p:grpSp>
        <p:nvGrpSpPr>
          <p:cNvPr id="177" name="Google Shape;177;p14"/>
          <p:cNvGrpSpPr/>
          <p:nvPr/>
        </p:nvGrpSpPr>
        <p:grpSpPr>
          <a:xfrm>
            <a:off x="15035269" y="8047385"/>
            <a:ext cx="2268598" cy="1031363"/>
            <a:chOff x="0" y="-169229"/>
            <a:chExt cx="3024798" cy="1375150"/>
          </a:xfrm>
        </p:grpSpPr>
        <p:grpSp>
          <p:nvGrpSpPr>
            <p:cNvPr id="178" name="Google Shape;178;p14"/>
            <p:cNvGrpSpPr/>
            <p:nvPr/>
          </p:nvGrpSpPr>
          <p:grpSpPr>
            <a:xfrm>
              <a:off x="0" y="-169229"/>
              <a:ext cx="3024798" cy="1375150"/>
              <a:chOff x="0" y="-38100"/>
              <a:chExt cx="681000" cy="309600"/>
            </a:xfrm>
          </p:grpSpPr>
          <p:sp>
            <p:nvSpPr>
              <p:cNvPr id="179" name="Google Shape;179;p14"/>
              <p:cNvSpPr/>
              <p:nvPr/>
            </p:nvSpPr>
            <p:spPr>
              <a:xfrm>
                <a:off x="0" y="0"/>
                <a:ext cx="680930" cy="271443"/>
              </a:xfrm>
              <a:custGeom>
                <a:rect b="b" l="l" r="r" t="t"/>
                <a:pathLst>
                  <a:path extrusionOk="0" h="271443" w="680930">
                    <a:moveTo>
                      <a:pt x="135721" y="0"/>
                    </a:moveTo>
                    <a:lnTo>
                      <a:pt x="545209" y="0"/>
                    </a:lnTo>
                    <a:cubicBezTo>
                      <a:pt x="581204" y="0"/>
                      <a:pt x="615726" y="14299"/>
                      <a:pt x="641178" y="39752"/>
                    </a:cubicBezTo>
                    <a:cubicBezTo>
                      <a:pt x="666631" y="65205"/>
                      <a:pt x="680930" y="99726"/>
                      <a:pt x="680930" y="135721"/>
                    </a:cubicBezTo>
                    <a:lnTo>
                      <a:pt x="680930" y="135721"/>
                    </a:lnTo>
                    <a:cubicBezTo>
                      <a:pt x="680930" y="171717"/>
                      <a:pt x="666631" y="206238"/>
                      <a:pt x="641178" y="231691"/>
                    </a:cubicBezTo>
                    <a:cubicBezTo>
                      <a:pt x="615726" y="257144"/>
                      <a:pt x="581204" y="271443"/>
                      <a:pt x="545209" y="271443"/>
                    </a:cubicBezTo>
                    <a:lnTo>
                      <a:pt x="135721" y="271443"/>
                    </a:lnTo>
                    <a:cubicBezTo>
                      <a:pt x="99726" y="271443"/>
                      <a:pt x="65205" y="257144"/>
                      <a:pt x="39752" y="231691"/>
                    </a:cubicBezTo>
                    <a:cubicBezTo>
                      <a:pt x="14299" y="206238"/>
                      <a:pt x="0" y="171717"/>
                      <a:pt x="0" y="135721"/>
                    </a:cubicBezTo>
                    <a:lnTo>
                      <a:pt x="0" y="135721"/>
                    </a:lnTo>
                    <a:cubicBezTo>
                      <a:pt x="0" y="99726"/>
                      <a:pt x="14299" y="65205"/>
                      <a:pt x="39752" y="39752"/>
                    </a:cubicBezTo>
                    <a:cubicBezTo>
                      <a:pt x="65205" y="14299"/>
                      <a:pt x="99726" y="0"/>
                      <a:pt x="1357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txBox="1"/>
              <p:nvPr/>
            </p:nvSpPr>
            <p:spPr>
              <a:xfrm>
                <a:off x="0" y="-38100"/>
                <a:ext cx="681000" cy="309600"/>
              </a:xfrm>
              <a:prstGeom prst="rect">
                <a:avLst/>
              </a:prstGeom>
              <a:noFill/>
              <a:ln>
                <a:noFill/>
              </a:ln>
            </p:spPr>
            <p:txBody>
              <a:bodyPr anchorCtr="0" anchor="ctr" bIns="50800" lIns="50800" spcFirstLastPara="1" rIns="50800" wrap="square" tIns="50800">
                <a:noAutofit/>
              </a:bodyPr>
              <a:lstStyle/>
              <a:p>
                <a:pPr indent="0" lvl="0" marL="0" marR="0" rtl="0" algn="ctr">
                  <a:lnSpc>
                    <a:spcPct val="147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1" name="Google Shape;181;p14"/>
            <p:cNvSpPr txBox="1"/>
            <p:nvPr/>
          </p:nvSpPr>
          <p:spPr>
            <a:xfrm>
              <a:off x="223133" y="265776"/>
              <a:ext cx="2578200" cy="648000"/>
            </a:xfrm>
            <a:prstGeom prst="rect">
              <a:avLst/>
            </a:prstGeom>
            <a:noFill/>
            <a:ln>
              <a:noFill/>
            </a:ln>
          </p:spPr>
          <p:txBody>
            <a:bodyPr anchorCtr="0" anchor="t" bIns="0" lIns="0" spcFirstLastPara="1" rIns="0" wrap="square" tIns="0">
              <a:spAutoFit/>
            </a:bodyPr>
            <a:lstStyle/>
            <a:p>
              <a:pPr indent="0" lvl="0" marL="0" marR="0" rtl="0" algn="ctr">
                <a:lnSpc>
                  <a:spcPct val="124002"/>
                </a:lnSpc>
                <a:spcBef>
                  <a:spcPts val="0"/>
                </a:spcBef>
                <a:spcAft>
                  <a:spcPts val="0"/>
                </a:spcAft>
                <a:buClr>
                  <a:srgbClr val="000000"/>
                </a:buClr>
                <a:buSzPts val="3158"/>
                <a:buFont typeface="Arial"/>
                <a:buNone/>
              </a:pPr>
              <a:r>
                <a:rPr b="1" i="0" lang="en-US" sz="3158" u="none" cap="none" strike="noStrike">
                  <a:solidFill>
                    <a:srgbClr val="060631"/>
                  </a:solidFill>
                  <a:latin typeface="Lora"/>
                  <a:ea typeface="Lora"/>
                  <a:cs typeface="Lora"/>
                  <a:sym typeface="Lora"/>
                </a:rPr>
                <a:t>Sun</a:t>
              </a:r>
              <a:endParaRPr b="0" i="0" sz="1400" u="none" cap="none" strike="noStrike">
                <a:solidFill>
                  <a:srgbClr val="000000"/>
                </a:solidFill>
                <a:latin typeface="Arial"/>
                <a:ea typeface="Arial"/>
                <a:cs typeface="Arial"/>
                <a:sym typeface="Arial"/>
              </a:endParaRPr>
            </a:p>
          </p:txBody>
        </p:sp>
      </p:grpSp>
      <p:grpSp>
        <p:nvGrpSpPr>
          <p:cNvPr id="182" name="Google Shape;182;p14"/>
          <p:cNvGrpSpPr/>
          <p:nvPr/>
        </p:nvGrpSpPr>
        <p:grpSpPr>
          <a:xfrm>
            <a:off x="1120683" y="1454677"/>
            <a:ext cx="6874880" cy="1084877"/>
            <a:chOff x="0" y="-38100"/>
            <a:chExt cx="1810656" cy="285727"/>
          </a:xfrm>
        </p:grpSpPr>
        <p:sp>
          <p:nvSpPr>
            <p:cNvPr id="183" name="Google Shape;183;p14"/>
            <p:cNvSpPr/>
            <p:nvPr/>
          </p:nvSpPr>
          <p:spPr>
            <a:xfrm>
              <a:off x="0" y="0"/>
              <a:ext cx="1810656" cy="247627"/>
            </a:xfrm>
            <a:custGeom>
              <a:rect b="b" l="l" r="r" t="t"/>
              <a:pathLst>
                <a:path extrusionOk="0" h="247627" w="1810656">
                  <a:moveTo>
                    <a:pt x="1607456" y="0"/>
                  </a:moveTo>
                  <a:lnTo>
                    <a:pt x="0" y="0"/>
                  </a:lnTo>
                  <a:lnTo>
                    <a:pt x="0" y="247627"/>
                  </a:lnTo>
                  <a:lnTo>
                    <a:pt x="1607456" y="247627"/>
                  </a:lnTo>
                  <a:lnTo>
                    <a:pt x="1810656" y="123813"/>
                  </a:lnTo>
                  <a:lnTo>
                    <a:pt x="1607456" y="0"/>
                  </a:lnTo>
                  <a:close/>
                </a:path>
              </a:pathLst>
            </a:custGeom>
            <a:solidFill>
              <a:srgbClr val="735FE4"/>
            </a:solidFill>
            <a:ln>
              <a:noFill/>
            </a:ln>
          </p:spPr>
        </p:sp>
        <p:sp>
          <p:nvSpPr>
            <p:cNvPr id="184" name="Google Shape;184;p14"/>
            <p:cNvSpPr txBox="1"/>
            <p:nvPr/>
          </p:nvSpPr>
          <p:spPr>
            <a:xfrm>
              <a:off x="0" y="-38100"/>
              <a:ext cx="1696500" cy="285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14"/>
          <p:cNvGrpSpPr/>
          <p:nvPr/>
        </p:nvGrpSpPr>
        <p:grpSpPr>
          <a:xfrm>
            <a:off x="1179329" y="3065676"/>
            <a:ext cx="2220804" cy="603038"/>
            <a:chOff x="0" y="-38100"/>
            <a:chExt cx="953667" cy="258959"/>
          </a:xfrm>
        </p:grpSpPr>
        <p:sp>
          <p:nvSpPr>
            <p:cNvPr id="186" name="Google Shape;186;p14"/>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735FE4"/>
            </a:solidFill>
            <a:ln>
              <a:noFill/>
            </a:ln>
          </p:spPr>
        </p:sp>
        <p:sp>
          <p:nvSpPr>
            <p:cNvPr id="187" name="Google Shape;187;p14"/>
            <p:cNvSpPr txBox="1"/>
            <p:nvPr/>
          </p:nvSpPr>
          <p:spPr>
            <a:xfrm>
              <a:off x="0" y="-38100"/>
              <a:ext cx="839400" cy="258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8" name="Google Shape;188;p14"/>
          <p:cNvGrpSpPr/>
          <p:nvPr/>
        </p:nvGrpSpPr>
        <p:grpSpPr>
          <a:xfrm>
            <a:off x="3341448" y="3579981"/>
            <a:ext cx="2220804" cy="603038"/>
            <a:chOff x="0" y="-38100"/>
            <a:chExt cx="953667" cy="258959"/>
          </a:xfrm>
        </p:grpSpPr>
        <p:sp>
          <p:nvSpPr>
            <p:cNvPr id="189" name="Google Shape;189;p14"/>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735FE4"/>
            </a:solidFill>
            <a:ln>
              <a:noFill/>
            </a:ln>
          </p:spPr>
        </p:sp>
        <p:sp>
          <p:nvSpPr>
            <p:cNvPr id="190" name="Google Shape;190;p14"/>
            <p:cNvSpPr txBox="1"/>
            <p:nvPr/>
          </p:nvSpPr>
          <p:spPr>
            <a:xfrm>
              <a:off x="0" y="-38100"/>
              <a:ext cx="839400" cy="258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1" name="Google Shape;191;p14"/>
          <p:cNvGrpSpPr/>
          <p:nvPr/>
        </p:nvGrpSpPr>
        <p:grpSpPr>
          <a:xfrm>
            <a:off x="5774753" y="3972004"/>
            <a:ext cx="2220804" cy="603038"/>
            <a:chOff x="0" y="-38100"/>
            <a:chExt cx="953667" cy="258959"/>
          </a:xfrm>
        </p:grpSpPr>
        <p:sp>
          <p:nvSpPr>
            <p:cNvPr id="192" name="Google Shape;192;p14"/>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735FE4"/>
            </a:solidFill>
            <a:ln>
              <a:noFill/>
            </a:ln>
          </p:spPr>
        </p:sp>
        <p:sp>
          <p:nvSpPr>
            <p:cNvPr id="193" name="Google Shape;193;p14"/>
            <p:cNvSpPr txBox="1"/>
            <p:nvPr/>
          </p:nvSpPr>
          <p:spPr>
            <a:xfrm>
              <a:off x="0" y="-38100"/>
              <a:ext cx="839400" cy="258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14"/>
          <p:cNvGrpSpPr/>
          <p:nvPr/>
        </p:nvGrpSpPr>
        <p:grpSpPr>
          <a:xfrm>
            <a:off x="8136897" y="2043844"/>
            <a:ext cx="4512722" cy="1084877"/>
            <a:chOff x="0" y="-38100"/>
            <a:chExt cx="1188528" cy="285727"/>
          </a:xfrm>
        </p:grpSpPr>
        <p:sp>
          <p:nvSpPr>
            <p:cNvPr id="195" name="Google Shape;195;p14"/>
            <p:cNvSpPr/>
            <p:nvPr/>
          </p:nvSpPr>
          <p:spPr>
            <a:xfrm>
              <a:off x="0" y="0"/>
              <a:ext cx="1188528" cy="247627"/>
            </a:xfrm>
            <a:custGeom>
              <a:rect b="b" l="l" r="r" t="t"/>
              <a:pathLst>
                <a:path extrusionOk="0" h="247627" w="1188528">
                  <a:moveTo>
                    <a:pt x="985328" y="0"/>
                  </a:moveTo>
                  <a:lnTo>
                    <a:pt x="0" y="0"/>
                  </a:lnTo>
                  <a:lnTo>
                    <a:pt x="0" y="247627"/>
                  </a:lnTo>
                  <a:lnTo>
                    <a:pt x="985328" y="247627"/>
                  </a:lnTo>
                  <a:lnTo>
                    <a:pt x="1188528" y="123813"/>
                  </a:lnTo>
                  <a:lnTo>
                    <a:pt x="985328" y="0"/>
                  </a:lnTo>
                  <a:close/>
                </a:path>
              </a:pathLst>
            </a:custGeom>
            <a:solidFill>
              <a:srgbClr val="FDBD00"/>
            </a:solidFill>
            <a:ln>
              <a:noFill/>
            </a:ln>
          </p:spPr>
        </p:sp>
        <p:sp>
          <p:nvSpPr>
            <p:cNvPr id="196" name="Google Shape;196;p14"/>
            <p:cNvSpPr txBox="1"/>
            <p:nvPr/>
          </p:nvSpPr>
          <p:spPr>
            <a:xfrm>
              <a:off x="0" y="-38100"/>
              <a:ext cx="1074300" cy="285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14"/>
          <p:cNvGrpSpPr/>
          <p:nvPr/>
        </p:nvGrpSpPr>
        <p:grpSpPr>
          <a:xfrm>
            <a:off x="8266704" y="4156570"/>
            <a:ext cx="2220804" cy="603038"/>
            <a:chOff x="0" y="-38100"/>
            <a:chExt cx="953667" cy="258959"/>
          </a:xfrm>
        </p:grpSpPr>
        <p:sp>
          <p:nvSpPr>
            <p:cNvPr id="198" name="Google Shape;198;p14"/>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FDBD00"/>
            </a:solidFill>
            <a:ln>
              <a:noFill/>
            </a:ln>
          </p:spPr>
        </p:sp>
        <p:sp>
          <p:nvSpPr>
            <p:cNvPr id="199" name="Google Shape;199;p14"/>
            <p:cNvSpPr txBox="1"/>
            <p:nvPr/>
          </p:nvSpPr>
          <p:spPr>
            <a:xfrm>
              <a:off x="0" y="-38100"/>
              <a:ext cx="839400" cy="258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0" name="Google Shape;200;p14"/>
          <p:cNvGrpSpPr/>
          <p:nvPr/>
        </p:nvGrpSpPr>
        <p:grpSpPr>
          <a:xfrm>
            <a:off x="10428823" y="4670875"/>
            <a:ext cx="2220804" cy="603038"/>
            <a:chOff x="0" y="-38100"/>
            <a:chExt cx="953667" cy="258959"/>
          </a:xfrm>
        </p:grpSpPr>
        <p:sp>
          <p:nvSpPr>
            <p:cNvPr id="201" name="Google Shape;201;p14"/>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FDBD00"/>
            </a:solidFill>
            <a:ln>
              <a:noFill/>
            </a:ln>
          </p:spPr>
        </p:sp>
        <p:sp>
          <p:nvSpPr>
            <p:cNvPr id="202" name="Google Shape;202;p14"/>
            <p:cNvSpPr txBox="1"/>
            <p:nvPr/>
          </p:nvSpPr>
          <p:spPr>
            <a:xfrm>
              <a:off x="0" y="-38100"/>
              <a:ext cx="839400" cy="258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3" name="Google Shape;203;p14"/>
          <p:cNvGrpSpPr/>
          <p:nvPr/>
        </p:nvGrpSpPr>
        <p:grpSpPr>
          <a:xfrm>
            <a:off x="12906170" y="2495974"/>
            <a:ext cx="4512722" cy="1084877"/>
            <a:chOff x="0" y="-38100"/>
            <a:chExt cx="1188528" cy="285727"/>
          </a:xfrm>
        </p:grpSpPr>
        <p:sp>
          <p:nvSpPr>
            <p:cNvPr id="204" name="Google Shape;204;p14"/>
            <p:cNvSpPr/>
            <p:nvPr/>
          </p:nvSpPr>
          <p:spPr>
            <a:xfrm>
              <a:off x="0" y="0"/>
              <a:ext cx="1188528" cy="247627"/>
            </a:xfrm>
            <a:custGeom>
              <a:rect b="b" l="l" r="r" t="t"/>
              <a:pathLst>
                <a:path extrusionOk="0" h="247627" w="1188528">
                  <a:moveTo>
                    <a:pt x="985328" y="0"/>
                  </a:moveTo>
                  <a:lnTo>
                    <a:pt x="0" y="0"/>
                  </a:lnTo>
                  <a:lnTo>
                    <a:pt x="0" y="247627"/>
                  </a:lnTo>
                  <a:lnTo>
                    <a:pt x="985328" y="247627"/>
                  </a:lnTo>
                  <a:lnTo>
                    <a:pt x="1188528" y="123813"/>
                  </a:lnTo>
                  <a:lnTo>
                    <a:pt x="985328" y="0"/>
                  </a:lnTo>
                  <a:close/>
                </a:path>
              </a:pathLst>
            </a:custGeom>
            <a:solidFill>
              <a:srgbClr val="D752B2"/>
            </a:solidFill>
            <a:ln>
              <a:noFill/>
            </a:ln>
          </p:spPr>
        </p:sp>
        <p:sp>
          <p:nvSpPr>
            <p:cNvPr id="205" name="Google Shape;205;p14"/>
            <p:cNvSpPr txBox="1"/>
            <p:nvPr/>
          </p:nvSpPr>
          <p:spPr>
            <a:xfrm>
              <a:off x="0" y="-38100"/>
              <a:ext cx="1074300" cy="285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p14"/>
          <p:cNvGrpSpPr/>
          <p:nvPr/>
        </p:nvGrpSpPr>
        <p:grpSpPr>
          <a:xfrm>
            <a:off x="13018423" y="5185180"/>
            <a:ext cx="4065305" cy="603038"/>
            <a:chOff x="0" y="-38100"/>
            <a:chExt cx="1745740" cy="258959"/>
          </a:xfrm>
        </p:grpSpPr>
        <p:sp>
          <p:nvSpPr>
            <p:cNvPr id="207" name="Google Shape;207;p14"/>
            <p:cNvSpPr/>
            <p:nvPr/>
          </p:nvSpPr>
          <p:spPr>
            <a:xfrm>
              <a:off x="0" y="0"/>
              <a:ext cx="1745740" cy="220859"/>
            </a:xfrm>
            <a:custGeom>
              <a:rect b="b" l="l" r="r" t="t"/>
              <a:pathLst>
                <a:path extrusionOk="0" h="220859" w="1745740">
                  <a:moveTo>
                    <a:pt x="1542540" y="0"/>
                  </a:moveTo>
                  <a:lnTo>
                    <a:pt x="0" y="0"/>
                  </a:lnTo>
                  <a:lnTo>
                    <a:pt x="0" y="220859"/>
                  </a:lnTo>
                  <a:lnTo>
                    <a:pt x="1542540" y="220859"/>
                  </a:lnTo>
                  <a:lnTo>
                    <a:pt x="1745740" y="110429"/>
                  </a:lnTo>
                  <a:lnTo>
                    <a:pt x="1542540" y="0"/>
                  </a:lnTo>
                  <a:close/>
                </a:path>
              </a:pathLst>
            </a:custGeom>
            <a:solidFill>
              <a:srgbClr val="D752B2"/>
            </a:solidFill>
            <a:ln>
              <a:noFill/>
            </a:ln>
          </p:spPr>
        </p:sp>
        <p:sp>
          <p:nvSpPr>
            <p:cNvPr id="208" name="Google Shape;208;p14"/>
            <p:cNvSpPr txBox="1"/>
            <p:nvPr/>
          </p:nvSpPr>
          <p:spPr>
            <a:xfrm>
              <a:off x="0" y="-38100"/>
              <a:ext cx="1631400" cy="258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63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12.png"/><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631"/>
        </a:solidFill>
      </p:bgPr>
    </p:bg>
    <p:spTree>
      <p:nvGrpSpPr>
        <p:cNvPr id="212" name="Shape 212"/>
        <p:cNvGrpSpPr/>
        <p:nvPr/>
      </p:nvGrpSpPr>
      <p:grpSpPr>
        <a:xfrm>
          <a:off x="0" y="0"/>
          <a:ext cx="0" cy="0"/>
          <a:chOff x="0" y="0"/>
          <a:chExt cx="0" cy="0"/>
        </a:xfrm>
      </p:grpSpPr>
      <p:grpSp>
        <p:nvGrpSpPr>
          <p:cNvPr id="213" name="Google Shape;213;p1"/>
          <p:cNvGrpSpPr/>
          <p:nvPr/>
        </p:nvGrpSpPr>
        <p:grpSpPr>
          <a:xfrm>
            <a:off x="0" y="-872025"/>
            <a:ext cx="18288000" cy="7465056"/>
            <a:chOff x="0" y="-38100"/>
            <a:chExt cx="4816593" cy="1966105"/>
          </a:xfrm>
        </p:grpSpPr>
        <p:sp>
          <p:nvSpPr>
            <p:cNvPr id="214" name="Google Shape;214;p1"/>
            <p:cNvSpPr/>
            <p:nvPr/>
          </p:nvSpPr>
          <p:spPr>
            <a:xfrm>
              <a:off x="0" y="0"/>
              <a:ext cx="4816592" cy="1928005"/>
            </a:xfrm>
            <a:custGeom>
              <a:rect b="b" l="l" r="r" t="t"/>
              <a:pathLst>
                <a:path extrusionOk="0" h="1928005" w="4816592">
                  <a:moveTo>
                    <a:pt x="40217" y="0"/>
                  </a:moveTo>
                  <a:lnTo>
                    <a:pt x="4776376" y="0"/>
                  </a:lnTo>
                  <a:cubicBezTo>
                    <a:pt x="4787042" y="0"/>
                    <a:pt x="4797271" y="4237"/>
                    <a:pt x="4804813" y="11779"/>
                  </a:cubicBezTo>
                  <a:cubicBezTo>
                    <a:pt x="4812355" y="19321"/>
                    <a:pt x="4816592" y="29551"/>
                    <a:pt x="4816592" y="40217"/>
                  </a:cubicBezTo>
                  <a:lnTo>
                    <a:pt x="4816592" y="1887789"/>
                  </a:lnTo>
                  <a:cubicBezTo>
                    <a:pt x="4816592" y="1910000"/>
                    <a:pt x="4798587" y="1928005"/>
                    <a:pt x="4776376" y="1928005"/>
                  </a:cubicBezTo>
                  <a:lnTo>
                    <a:pt x="40217" y="1928005"/>
                  </a:lnTo>
                  <a:cubicBezTo>
                    <a:pt x="18006" y="1928005"/>
                    <a:pt x="0" y="1910000"/>
                    <a:pt x="0" y="1887789"/>
                  </a:cubicBezTo>
                  <a:lnTo>
                    <a:pt x="0" y="40217"/>
                  </a:lnTo>
                  <a:cubicBezTo>
                    <a:pt x="0" y="18006"/>
                    <a:pt x="18006" y="0"/>
                    <a:pt x="40217" y="0"/>
                  </a:cubicBezTo>
                  <a:close/>
                </a:path>
              </a:pathLst>
            </a:custGeom>
            <a:solidFill>
              <a:srgbClr val="FFE8A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
            <p:cNvSpPr txBox="1"/>
            <p:nvPr/>
          </p:nvSpPr>
          <p:spPr>
            <a:xfrm>
              <a:off x="0" y="-38100"/>
              <a:ext cx="4816593" cy="196610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6" name="Google Shape;216;p1"/>
          <p:cNvGrpSpPr/>
          <p:nvPr/>
        </p:nvGrpSpPr>
        <p:grpSpPr>
          <a:xfrm>
            <a:off x="10377929" y="476404"/>
            <a:ext cx="5824254" cy="5824254"/>
            <a:chOff x="0" y="0"/>
            <a:chExt cx="812800" cy="812800"/>
          </a:xfrm>
        </p:grpSpPr>
        <p:sp>
          <p:nvSpPr>
            <p:cNvPr id="217" name="Google Shape;217;p1"/>
            <p:cNvSpPr/>
            <p:nvPr/>
          </p:nvSpPr>
          <p:spPr>
            <a:xfrm>
              <a:off x="0" y="0"/>
              <a:ext cx="812800" cy="812800"/>
            </a:xfrm>
            <a:custGeom>
              <a:rect b="b" l="l" r="r" t="t"/>
              <a:pathLst>
                <a:path extrusionOk="0" h="812800" w="812800">
                  <a:moveTo>
                    <a:pt x="406400" y="0"/>
                  </a:moveTo>
                  <a:lnTo>
                    <a:pt x="485289" y="111986"/>
                  </a:lnTo>
                  <a:lnTo>
                    <a:pt x="609600" y="54447"/>
                  </a:lnTo>
                  <a:lnTo>
                    <a:pt x="621927" y="190873"/>
                  </a:lnTo>
                  <a:lnTo>
                    <a:pt x="758353" y="203200"/>
                  </a:lnTo>
                  <a:lnTo>
                    <a:pt x="700814" y="327511"/>
                  </a:lnTo>
                  <a:lnTo>
                    <a:pt x="812800" y="406400"/>
                  </a:lnTo>
                  <a:lnTo>
                    <a:pt x="700814" y="485289"/>
                  </a:lnTo>
                  <a:lnTo>
                    <a:pt x="758353" y="609600"/>
                  </a:lnTo>
                  <a:lnTo>
                    <a:pt x="621927" y="621927"/>
                  </a:lnTo>
                  <a:lnTo>
                    <a:pt x="609600" y="758353"/>
                  </a:lnTo>
                  <a:lnTo>
                    <a:pt x="485289" y="700814"/>
                  </a:lnTo>
                  <a:lnTo>
                    <a:pt x="406400" y="812800"/>
                  </a:lnTo>
                  <a:lnTo>
                    <a:pt x="327511" y="700814"/>
                  </a:lnTo>
                  <a:lnTo>
                    <a:pt x="203200" y="758353"/>
                  </a:lnTo>
                  <a:lnTo>
                    <a:pt x="190873" y="621927"/>
                  </a:lnTo>
                  <a:lnTo>
                    <a:pt x="54447" y="609600"/>
                  </a:lnTo>
                  <a:lnTo>
                    <a:pt x="111986" y="485289"/>
                  </a:lnTo>
                  <a:lnTo>
                    <a:pt x="0" y="406400"/>
                  </a:lnTo>
                  <a:lnTo>
                    <a:pt x="111986" y="327511"/>
                  </a:lnTo>
                  <a:lnTo>
                    <a:pt x="54447" y="203200"/>
                  </a:lnTo>
                  <a:lnTo>
                    <a:pt x="190873" y="190873"/>
                  </a:lnTo>
                  <a:lnTo>
                    <a:pt x="203200" y="54447"/>
                  </a:lnTo>
                  <a:lnTo>
                    <a:pt x="327511" y="111986"/>
                  </a:lnTo>
                  <a:lnTo>
                    <a:pt x="406400" y="0"/>
                  </a:lnTo>
                  <a:close/>
                </a:path>
              </a:pathLst>
            </a:custGeom>
            <a:solidFill>
              <a:srgbClr val="D752B2"/>
            </a:solidFill>
            <a:ln>
              <a:noFill/>
            </a:ln>
          </p:spPr>
        </p:sp>
        <p:sp>
          <p:nvSpPr>
            <p:cNvPr id="218" name="Google Shape;218;p1"/>
            <p:cNvSpPr txBox="1"/>
            <p:nvPr/>
          </p:nvSpPr>
          <p:spPr>
            <a:xfrm>
              <a:off x="127000" y="88900"/>
              <a:ext cx="558800" cy="596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19" name="Google Shape;219;p1"/>
          <p:cNvPicPr preferRelativeResize="0"/>
          <p:nvPr/>
        </p:nvPicPr>
        <p:blipFill rotWithShape="1">
          <a:blip r:embed="rId3">
            <a:alphaModFix/>
          </a:blip>
          <a:srcRect b="0" l="0" r="0" t="0"/>
          <a:stretch/>
        </p:blipFill>
        <p:spPr>
          <a:xfrm>
            <a:off x="8499926" y="1634270"/>
            <a:ext cx="9580252" cy="7575381"/>
          </a:xfrm>
          <a:prstGeom prst="rect">
            <a:avLst/>
          </a:prstGeom>
          <a:noFill/>
          <a:ln>
            <a:noFill/>
          </a:ln>
        </p:spPr>
      </p:pic>
      <p:sp>
        <p:nvSpPr>
          <p:cNvPr id="220" name="Google Shape;220;p1"/>
          <p:cNvSpPr txBox="1"/>
          <p:nvPr/>
        </p:nvSpPr>
        <p:spPr>
          <a:xfrm>
            <a:off x="1028700" y="213880"/>
            <a:ext cx="8115300" cy="3663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901"/>
              <a:buFont typeface="Arial"/>
              <a:buNone/>
            </a:pPr>
            <a:r>
              <a:rPr b="1" lang="en-US" sz="11901">
                <a:solidFill>
                  <a:srgbClr val="735FE4"/>
                </a:solidFill>
                <a:latin typeface="Lora"/>
                <a:ea typeface="Lora"/>
                <a:cs typeface="Lora"/>
                <a:sym typeface="Lora"/>
              </a:rPr>
              <a:t>Escalation &amp; Recovery</a:t>
            </a:r>
            <a:endParaRPr b="0" i="0" sz="1400" u="none" cap="none" strike="noStrike">
              <a:solidFill>
                <a:srgbClr val="000000"/>
              </a:solidFill>
              <a:latin typeface="Arial"/>
              <a:ea typeface="Arial"/>
              <a:cs typeface="Arial"/>
              <a:sym typeface="Arial"/>
            </a:endParaRPr>
          </a:p>
        </p:txBody>
      </p:sp>
      <p:sp>
        <p:nvSpPr>
          <p:cNvPr id="221" name="Google Shape;221;p1"/>
          <p:cNvSpPr txBox="1"/>
          <p:nvPr/>
        </p:nvSpPr>
        <p:spPr>
          <a:xfrm>
            <a:off x="1028700" y="4505118"/>
            <a:ext cx="6966300" cy="849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lang="en-US" sz="2400">
                <a:solidFill>
                  <a:srgbClr val="060631"/>
                </a:solidFill>
                <a:latin typeface="Roboto"/>
                <a:ea typeface="Roboto"/>
                <a:cs typeface="Roboto"/>
                <a:sym typeface="Roboto"/>
              </a:rPr>
              <a:t>Stabilizing a Peak-Traffic Search Outage Under Pressure</a:t>
            </a:r>
            <a:endParaRPr sz="2400">
              <a:solidFill>
                <a:srgbClr val="060631"/>
              </a:solidFill>
              <a:latin typeface="Roboto"/>
              <a:ea typeface="Roboto"/>
              <a:cs typeface="Roboto"/>
              <a:sym typeface="Roboto"/>
            </a:endParaRPr>
          </a:p>
        </p:txBody>
      </p:sp>
      <p:sp>
        <p:nvSpPr>
          <p:cNvPr id="222" name="Google Shape;222;p1"/>
          <p:cNvSpPr txBox="1"/>
          <p:nvPr/>
        </p:nvSpPr>
        <p:spPr>
          <a:xfrm>
            <a:off x="1028700" y="7569604"/>
            <a:ext cx="2530954" cy="433451"/>
          </a:xfrm>
          <a:prstGeom prst="rect">
            <a:avLst/>
          </a:prstGeom>
          <a:noFill/>
          <a:ln>
            <a:noFill/>
          </a:ln>
        </p:spPr>
        <p:txBody>
          <a:bodyPr anchorCtr="0" anchor="t" bIns="0" lIns="0" spcFirstLastPara="1" rIns="0" wrap="square" tIns="0">
            <a:spAutoFit/>
          </a:bodyPr>
          <a:lstStyle/>
          <a:p>
            <a:pPr indent="0" lvl="0" marL="0" marR="0" rtl="0" algn="l">
              <a:lnSpc>
                <a:spcPct val="124008"/>
              </a:lnSpc>
              <a:spcBef>
                <a:spcPts val="0"/>
              </a:spcBef>
              <a:spcAft>
                <a:spcPts val="0"/>
              </a:spcAft>
              <a:buClr>
                <a:srgbClr val="000000"/>
              </a:buClr>
              <a:buSzPts val="2799"/>
              <a:buFont typeface="Arial"/>
              <a:buNone/>
            </a:pPr>
            <a:r>
              <a:rPr b="1" i="0" lang="en-US" sz="2799" u="none" cap="none" strike="noStrike">
                <a:solidFill>
                  <a:srgbClr val="735FE4"/>
                </a:solidFill>
                <a:latin typeface="Lora"/>
                <a:ea typeface="Lora"/>
                <a:cs typeface="Lora"/>
                <a:sym typeface="Lora"/>
              </a:rPr>
              <a:t>Presented By:</a:t>
            </a:r>
            <a:endParaRPr b="0" i="0" sz="1400" u="none" cap="none" strike="noStrike">
              <a:solidFill>
                <a:srgbClr val="000000"/>
              </a:solidFill>
              <a:latin typeface="Arial"/>
              <a:ea typeface="Arial"/>
              <a:cs typeface="Arial"/>
              <a:sym typeface="Arial"/>
            </a:endParaRPr>
          </a:p>
        </p:txBody>
      </p:sp>
      <p:sp>
        <p:nvSpPr>
          <p:cNvPr id="223" name="Google Shape;223;p1"/>
          <p:cNvSpPr txBox="1"/>
          <p:nvPr/>
        </p:nvSpPr>
        <p:spPr>
          <a:xfrm>
            <a:off x="1028700" y="8186025"/>
            <a:ext cx="2844000" cy="64650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Clr>
                <a:srgbClr val="000000"/>
              </a:buClr>
              <a:buSzPts val="4200"/>
              <a:buFont typeface="Arial"/>
              <a:buNone/>
            </a:pPr>
            <a:r>
              <a:rPr b="1" lang="en-US" sz="4200">
                <a:solidFill>
                  <a:srgbClr val="FFFFFF"/>
                </a:solidFill>
                <a:latin typeface="Roboto"/>
                <a:ea typeface="Roboto"/>
                <a:cs typeface="Roboto"/>
                <a:sym typeface="Roboto"/>
              </a:rPr>
              <a:t>Ariele Silva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f683cc5795_0_0"/>
          <p:cNvSpPr txBox="1"/>
          <p:nvPr/>
        </p:nvSpPr>
        <p:spPr>
          <a:xfrm>
            <a:off x="2561090" y="431625"/>
            <a:ext cx="131658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The Scenario</a:t>
            </a:r>
            <a:endParaRPr b="0" i="0" sz="1400" u="none" cap="none" strike="noStrike">
              <a:solidFill>
                <a:srgbClr val="000000"/>
              </a:solidFill>
              <a:latin typeface="Arial"/>
              <a:ea typeface="Arial"/>
              <a:cs typeface="Arial"/>
              <a:sym typeface="Arial"/>
            </a:endParaRPr>
          </a:p>
        </p:txBody>
      </p:sp>
      <p:sp>
        <p:nvSpPr>
          <p:cNvPr id="229" name="Google Shape;229;g3f683cc5795_0_0"/>
          <p:cNvSpPr/>
          <p:nvPr/>
        </p:nvSpPr>
        <p:spPr>
          <a:xfrm>
            <a:off x="1149750" y="2124640"/>
            <a:ext cx="15988500" cy="1896000"/>
          </a:xfrm>
          <a:prstGeom prst="roundRect">
            <a:avLst>
              <a:gd fmla="val 16667" name="adj"/>
            </a:avLst>
          </a:prstGeom>
          <a:solidFill>
            <a:schemeClr val="lt1"/>
          </a:solidFill>
          <a:ln cap="flat" cmpd="sng" w="76200">
            <a:solidFill>
              <a:srgbClr val="735FE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 name="Google Shape;230;g3f683cc5795_0_0"/>
          <p:cNvSpPr txBox="1"/>
          <p:nvPr/>
        </p:nvSpPr>
        <p:spPr>
          <a:xfrm>
            <a:off x="1748125" y="2285987"/>
            <a:ext cx="1653900" cy="7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Lora"/>
                <a:ea typeface="Lora"/>
                <a:cs typeface="Lora"/>
                <a:sym typeface="Lora"/>
              </a:rPr>
              <a:t>Coppel</a:t>
            </a:r>
            <a:endParaRPr b="1" sz="3200">
              <a:solidFill>
                <a:schemeClr val="dk1"/>
              </a:solidFill>
              <a:latin typeface="Lora"/>
              <a:ea typeface="Lora"/>
              <a:cs typeface="Lora"/>
              <a:sym typeface="Lora"/>
            </a:endParaRPr>
          </a:p>
        </p:txBody>
      </p:sp>
      <p:sp>
        <p:nvSpPr>
          <p:cNvPr id="231" name="Google Shape;231;g3f683cc5795_0_0"/>
          <p:cNvSpPr txBox="1"/>
          <p:nvPr/>
        </p:nvSpPr>
        <p:spPr>
          <a:xfrm>
            <a:off x="1680900" y="2971888"/>
            <a:ext cx="14926200" cy="9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Roboto"/>
                <a:ea typeface="Roboto"/>
                <a:cs typeface="Roboto"/>
                <a:sym typeface="Roboto"/>
              </a:rPr>
              <a:t>A large LATAM eCommerce customer, mid-peak on a live Hot Sale event, Buen Fin, the country’s biggest online shopping event of the year. Search-driven browsing accounts for the majority of their session-to-cart path.</a:t>
            </a:r>
            <a:endParaRPr sz="2100">
              <a:solidFill>
                <a:schemeClr val="dk1"/>
              </a:solidFill>
              <a:latin typeface="Roboto"/>
              <a:ea typeface="Roboto"/>
              <a:cs typeface="Roboto"/>
              <a:sym typeface="Roboto"/>
            </a:endParaRPr>
          </a:p>
        </p:txBody>
      </p:sp>
      <p:sp>
        <p:nvSpPr>
          <p:cNvPr id="232" name="Google Shape;232;g3f683cc5795_0_0"/>
          <p:cNvSpPr/>
          <p:nvPr/>
        </p:nvSpPr>
        <p:spPr>
          <a:xfrm>
            <a:off x="1149750" y="4858875"/>
            <a:ext cx="4506900" cy="1896000"/>
          </a:xfrm>
          <a:prstGeom prst="roundRect">
            <a:avLst>
              <a:gd fmla="val 16667" name="adj"/>
            </a:avLst>
          </a:prstGeom>
          <a:solidFill>
            <a:schemeClr val="lt1"/>
          </a:solidFill>
          <a:ln cap="flat" cmpd="sng" w="76200">
            <a:solidFill>
              <a:srgbClr val="D752B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3" name="Google Shape;233;g3f683cc5795_0_0"/>
          <p:cNvSpPr/>
          <p:nvPr/>
        </p:nvSpPr>
        <p:spPr>
          <a:xfrm>
            <a:off x="6890550" y="4858875"/>
            <a:ext cx="4506900" cy="1896000"/>
          </a:xfrm>
          <a:prstGeom prst="roundRect">
            <a:avLst>
              <a:gd fmla="val 16667" name="adj"/>
            </a:avLst>
          </a:prstGeom>
          <a:solidFill>
            <a:schemeClr val="lt1"/>
          </a:solidFill>
          <a:ln cap="flat" cmpd="sng" w="76200">
            <a:solidFill>
              <a:srgbClr val="D752B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4" name="Google Shape;234;g3f683cc5795_0_0"/>
          <p:cNvSpPr/>
          <p:nvPr/>
        </p:nvSpPr>
        <p:spPr>
          <a:xfrm>
            <a:off x="12631350" y="4858875"/>
            <a:ext cx="4506900" cy="1896000"/>
          </a:xfrm>
          <a:prstGeom prst="roundRect">
            <a:avLst>
              <a:gd fmla="val 16667" name="adj"/>
            </a:avLst>
          </a:prstGeom>
          <a:solidFill>
            <a:schemeClr val="lt1"/>
          </a:solidFill>
          <a:ln cap="flat" cmpd="sng" w="76200">
            <a:solidFill>
              <a:srgbClr val="D752B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5" name="Google Shape;235;g3f683cc5795_0_0"/>
          <p:cNvSpPr txBox="1"/>
          <p:nvPr/>
        </p:nvSpPr>
        <p:spPr>
          <a:xfrm>
            <a:off x="2576250" y="5221913"/>
            <a:ext cx="16539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200">
                <a:solidFill>
                  <a:srgbClr val="D752B2"/>
                </a:solidFill>
                <a:latin typeface="Lora"/>
                <a:ea typeface="Lora"/>
                <a:cs typeface="Lora"/>
                <a:sym typeface="Lora"/>
              </a:rPr>
              <a:t>3.4x</a:t>
            </a:r>
            <a:endParaRPr b="1" sz="3200">
              <a:solidFill>
                <a:srgbClr val="D752B2"/>
              </a:solidFill>
              <a:latin typeface="Lora"/>
              <a:ea typeface="Lora"/>
              <a:cs typeface="Lora"/>
              <a:sym typeface="Lora"/>
            </a:endParaRPr>
          </a:p>
        </p:txBody>
      </p:sp>
      <p:sp>
        <p:nvSpPr>
          <p:cNvPr id="236" name="Google Shape;236;g3f683cc5795_0_0"/>
          <p:cNvSpPr txBox="1"/>
          <p:nvPr/>
        </p:nvSpPr>
        <p:spPr>
          <a:xfrm>
            <a:off x="1368150" y="5782324"/>
            <a:ext cx="40701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chemeClr val="dk1"/>
                </a:solidFill>
                <a:latin typeface="Roboto"/>
                <a:ea typeface="Roboto"/>
                <a:cs typeface="Roboto"/>
                <a:sym typeface="Roboto"/>
              </a:rPr>
              <a:t>normal peak traffic, sustained</a:t>
            </a:r>
            <a:endParaRPr sz="2100">
              <a:solidFill>
                <a:schemeClr val="dk1"/>
              </a:solidFill>
              <a:latin typeface="Roboto"/>
              <a:ea typeface="Roboto"/>
              <a:cs typeface="Roboto"/>
              <a:sym typeface="Roboto"/>
            </a:endParaRPr>
          </a:p>
        </p:txBody>
      </p:sp>
      <p:sp>
        <p:nvSpPr>
          <p:cNvPr id="237" name="Google Shape;237;g3f683cc5795_0_0"/>
          <p:cNvSpPr txBox="1"/>
          <p:nvPr/>
        </p:nvSpPr>
        <p:spPr>
          <a:xfrm>
            <a:off x="8317050" y="5244363"/>
            <a:ext cx="16539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200">
                <a:solidFill>
                  <a:srgbClr val="D752B2"/>
                </a:solidFill>
                <a:latin typeface="Lora"/>
                <a:ea typeface="Lora"/>
                <a:cs typeface="Lora"/>
                <a:sym typeface="Lora"/>
              </a:rPr>
              <a:t>~18%</a:t>
            </a:r>
            <a:endParaRPr b="1" sz="3200">
              <a:solidFill>
                <a:srgbClr val="D752B2"/>
              </a:solidFill>
              <a:latin typeface="Lora"/>
              <a:ea typeface="Lora"/>
              <a:cs typeface="Lora"/>
              <a:sym typeface="Lora"/>
            </a:endParaRPr>
          </a:p>
        </p:txBody>
      </p:sp>
      <p:sp>
        <p:nvSpPr>
          <p:cNvPr id="238" name="Google Shape;238;g3f683cc5795_0_0"/>
          <p:cNvSpPr txBox="1"/>
          <p:nvPr/>
        </p:nvSpPr>
        <p:spPr>
          <a:xfrm>
            <a:off x="7108950" y="5804774"/>
            <a:ext cx="40701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chemeClr val="dk1"/>
                </a:solidFill>
                <a:latin typeface="Roboto"/>
                <a:ea typeface="Roboto"/>
                <a:cs typeface="Roboto"/>
                <a:sym typeface="Roboto"/>
              </a:rPr>
              <a:t>of search queries timing out or erroring</a:t>
            </a:r>
            <a:endParaRPr sz="2100">
              <a:solidFill>
                <a:schemeClr val="dk1"/>
              </a:solidFill>
              <a:latin typeface="Roboto"/>
              <a:ea typeface="Roboto"/>
              <a:cs typeface="Roboto"/>
              <a:sym typeface="Roboto"/>
            </a:endParaRPr>
          </a:p>
        </p:txBody>
      </p:sp>
      <p:sp>
        <p:nvSpPr>
          <p:cNvPr id="239" name="Google Shape;239;g3f683cc5795_0_0"/>
          <p:cNvSpPr txBox="1"/>
          <p:nvPr/>
        </p:nvSpPr>
        <p:spPr>
          <a:xfrm>
            <a:off x="12849750" y="5244375"/>
            <a:ext cx="40701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200">
                <a:solidFill>
                  <a:srgbClr val="D752B2"/>
                </a:solidFill>
                <a:latin typeface="Lora"/>
                <a:ea typeface="Lora"/>
                <a:cs typeface="Lora"/>
                <a:sym typeface="Lora"/>
              </a:rPr>
              <a:t>MX$3.5M / hr</a:t>
            </a:r>
            <a:endParaRPr b="1" sz="3200">
              <a:solidFill>
                <a:srgbClr val="D752B2"/>
              </a:solidFill>
              <a:latin typeface="Lora"/>
              <a:ea typeface="Lora"/>
              <a:cs typeface="Lora"/>
              <a:sym typeface="Lora"/>
            </a:endParaRPr>
          </a:p>
        </p:txBody>
      </p:sp>
      <p:sp>
        <p:nvSpPr>
          <p:cNvPr id="240" name="Google Shape;240;g3f683cc5795_0_0"/>
          <p:cNvSpPr txBox="1"/>
          <p:nvPr/>
        </p:nvSpPr>
        <p:spPr>
          <a:xfrm>
            <a:off x="12849750" y="5804774"/>
            <a:ext cx="40701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100">
                <a:solidFill>
                  <a:schemeClr val="dk1"/>
                </a:solidFill>
                <a:latin typeface="Roboto"/>
                <a:ea typeface="Roboto"/>
                <a:cs typeface="Roboto"/>
                <a:sym typeface="Roboto"/>
              </a:rPr>
              <a:t>estimated at-risk revenue</a:t>
            </a:r>
            <a:endParaRPr sz="2100">
              <a:solidFill>
                <a:schemeClr val="dk1"/>
              </a:solidFill>
              <a:latin typeface="Roboto"/>
              <a:ea typeface="Roboto"/>
              <a:cs typeface="Roboto"/>
              <a:sym typeface="Roboto"/>
            </a:endParaRPr>
          </a:p>
        </p:txBody>
      </p:sp>
      <p:sp>
        <p:nvSpPr>
          <p:cNvPr id="241" name="Google Shape;241;g3f683cc5795_0_0"/>
          <p:cNvSpPr txBox="1"/>
          <p:nvPr/>
        </p:nvSpPr>
        <p:spPr>
          <a:xfrm>
            <a:off x="1680900" y="7597674"/>
            <a:ext cx="14926200" cy="13983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lt1"/>
              </a:buClr>
              <a:buSzPts val="2100"/>
              <a:buFont typeface="Roboto"/>
              <a:buChar char="●"/>
            </a:pPr>
            <a:r>
              <a:rPr lang="en-US" sz="2100">
                <a:solidFill>
                  <a:schemeClr val="lt1"/>
                </a:solidFill>
                <a:latin typeface="Roboto"/>
                <a:ea typeface="Roboto"/>
                <a:cs typeface="Roboto"/>
                <a:sym typeface="Roboto"/>
              </a:rPr>
              <a:t>Issue: intermittent search timeouts and failed results pages → not a full outage</a:t>
            </a:r>
            <a:endParaRPr sz="2100">
              <a:solidFill>
                <a:schemeClr val="lt1"/>
              </a:solidFill>
              <a:latin typeface="Roboto"/>
              <a:ea typeface="Roboto"/>
              <a:cs typeface="Roboto"/>
              <a:sym typeface="Roboto"/>
            </a:endParaRPr>
          </a:p>
          <a:p>
            <a:pPr indent="0" lvl="0" marL="457200" rtl="0" algn="l">
              <a:spcBef>
                <a:spcPts val="0"/>
              </a:spcBef>
              <a:spcAft>
                <a:spcPts val="0"/>
              </a:spcAft>
              <a:buNone/>
            </a:pPr>
            <a:r>
              <a:t/>
            </a:r>
            <a:endParaRPr sz="2100">
              <a:solidFill>
                <a:schemeClr val="lt1"/>
              </a:solidFill>
              <a:latin typeface="Roboto"/>
              <a:ea typeface="Roboto"/>
              <a:cs typeface="Roboto"/>
              <a:sym typeface="Roboto"/>
            </a:endParaRPr>
          </a:p>
          <a:p>
            <a:pPr indent="-361950" lvl="0" marL="457200" rtl="0" algn="l">
              <a:spcBef>
                <a:spcPts val="0"/>
              </a:spcBef>
              <a:spcAft>
                <a:spcPts val="0"/>
              </a:spcAft>
              <a:buClr>
                <a:schemeClr val="lt1"/>
              </a:buClr>
              <a:buSzPts val="2100"/>
              <a:buFont typeface="Roboto"/>
              <a:buChar char="●"/>
            </a:pPr>
            <a:r>
              <a:rPr lang="en-US" sz="2100">
                <a:solidFill>
                  <a:schemeClr val="lt1"/>
                </a:solidFill>
                <a:latin typeface="Roboto"/>
                <a:ea typeface="Roboto"/>
                <a:cs typeface="Roboto"/>
                <a:sym typeface="Roboto"/>
              </a:rPr>
              <a:t>Business is already feeling it: support tickets climbing, and the customer’s own leadership has asked for direct updates.</a:t>
            </a:r>
            <a:endParaRPr sz="2100">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f683cc5795_0_17"/>
          <p:cNvSpPr txBox="1"/>
          <p:nvPr/>
        </p:nvSpPr>
        <p:spPr>
          <a:xfrm>
            <a:off x="1149750" y="431625"/>
            <a:ext cx="159885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How I Run the First 10 Minutes</a:t>
            </a:r>
            <a:endParaRPr b="0" i="0" sz="1400" u="none" cap="none" strike="noStrike">
              <a:solidFill>
                <a:srgbClr val="000000"/>
              </a:solidFill>
              <a:latin typeface="Arial"/>
              <a:ea typeface="Arial"/>
              <a:cs typeface="Arial"/>
              <a:sym typeface="Arial"/>
            </a:endParaRPr>
          </a:p>
        </p:txBody>
      </p:sp>
      <p:sp>
        <p:nvSpPr>
          <p:cNvPr id="247" name="Google Shape;247;g3f683cc5795_0_17"/>
          <p:cNvSpPr/>
          <p:nvPr/>
        </p:nvSpPr>
        <p:spPr>
          <a:xfrm>
            <a:off x="833731" y="3050250"/>
            <a:ext cx="3898500" cy="5717100"/>
          </a:xfrm>
          <a:prstGeom prst="roundRect">
            <a:avLst>
              <a:gd fmla="val 16667" name="adj"/>
            </a:avLst>
          </a:prstGeom>
          <a:solidFill>
            <a:schemeClr val="lt1"/>
          </a:solidFill>
          <a:ln cap="flat" cmpd="sng" w="76200">
            <a:solidFill>
              <a:srgbClr val="735FE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8" name="Google Shape;248;g3f683cc5795_0_17"/>
          <p:cNvSpPr txBox="1"/>
          <p:nvPr/>
        </p:nvSpPr>
        <p:spPr>
          <a:xfrm>
            <a:off x="898831" y="4836425"/>
            <a:ext cx="37683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735FE4"/>
                </a:solidFill>
                <a:latin typeface="Lora"/>
                <a:ea typeface="Lora"/>
                <a:cs typeface="Lora"/>
                <a:sym typeface="Lora"/>
              </a:rPr>
              <a:t>Declare severity, fast</a:t>
            </a:r>
            <a:endParaRPr b="1" sz="2500">
              <a:solidFill>
                <a:srgbClr val="735FE4"/>
              </a:solidFill>
              <a:latin typeface="Lora"/>
              <a:ea typeface="Lora"/>
              <a:cs typeface="Lora"/>
              <a:sym typeface="Lora"/>
            </a:endParaRPr>
          </a:p>
        </p:txBody>
      </p:sp>
      <p:sp>
        <p:nvSpPr>
          <p:cNvPr id="249" name="Google Shape;249;g3f683cc5795_0_17"/>
          <p:cNvSpPr txBox="1"/>
          <p:nvPr/>
        </p:nvSpPr>
        <p:spPr>
          <a:xfrm>
            <a:off x="1159681" y="6037596"/>
            <a:ext cx="3246600" cy="24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Roboto"/>
                <a:ea typeface="Roboto"/>
                <a:cs typeface="Roboto"/>
                <a:sym typeface="Roboto"/>
              </a:rPr>
              <a:t>A partial, revenue-impacting degradation during peak traffic is a Sev-1 the moment it’s confirmed → not after root cause is known. Under-declaring costs more time than over-declaring.</a:t>
            </a:r>
            <a:endParaRPr sz="1600">
              <a:solidFill>
                <a:schemeClr val="dk1"/>
              </a:solidFill>
              <a:latin typeface="Roboto"/>
              <a:ea typeface="Roboto"/>
              <a:cs typeface="Roboto"/>
              <a:sym typeface="Roboto"/>
            </a:endParaRPr>
          </a:p>
        </p:txBody>
      </p:sp>
      <p:sp>
        <p:nvSpPr>
          <p:cNvPr id="250" name="Google Shape;250;g3f683cc5795_0_17"/>
          <p:cNvSpPr/>
          <p:nvPr/>
        </p:nvSpPr>
        <p:spPr>
          <a:xfrm>
            <a:off x="1200456" y="3462250"/>
            <a:ext cx="640080" cy="64008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35F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3f683cc5795_0_17"/>
          <p:cNvSpPr txBox="1"/>
          <p:nvPr/>
        </p:nvSpPr>
        <p:spPr>
          <a:xfrm>
            <a:off x="695871" y="3451363"/>
            <a:ext cx="16539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solidFill>
                  <a:schemeClr val="lt1"/>
                </a:solidFill>
                <a:latin typeface="Lora"/>
                <a:ea typeface="Lora"/>
                <a:cs typeface="Lora"/>
                <a:sym typeface="Lora"/>
              </a:rPr>
              <a:t>1</a:t>
            </a:r>
            <a:endParaRPr b="1" sz="3000">
              <a:solidFill>
                <a:schemeClr val="lt1"/>
              </a:solidFill>
              <a:latin typeface="Lora"/>
              <a:ea typeface="Lora"/>
              <a:cs typeface="Lora"/>
              <a:sym typeface="Lora"/>
            </a:endParaRPr>
          </a:p>
        </p:txBody>
      </p:sp>
      <p:sp>
        <p:nvSpPr>
          <p:cNvPr id="252" name="Google Shape;252;g3f683cc5795_0_17"/>
          <p:cNvSpPr/>
          <p:nvPr/>
        </p:nvSpPr>
        <p:spPr>
          <a:xfrm>
            <a:off x="5105431" y="3050250"/>
            <a:ext cx="3898500" cy="5717100"/>
          </a:xfrm>
          <a:prstGeom prst="roundRect">
            <a:avLst>
              <a:gd fmla="val 16667" name="adj"/>
            </a:avLst>
          </a:prstGeom>
          <a:solidFill>
            <a:schemeClr val="lt1"/>
          </a:solidFill>
          <a:ln cap="flat" cmpd="sng" w="76200">
            <a:solidFill>
              <a:srgbClr val="FDBD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3" name="Google Shape;253;g3f683cc5795_0_17"/>
          <p:cNvSpPr txBox="1"/>
          <p:nvPr/>
        </p:nvSpPr>
        <p:spPr>
          <a:xfrm>
            <a:off x="5170531" y="4836425"/>
            <a:ext cx="37683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FDBD00"/>
                </a:solidFill>
                <a:latin typeface="Lora"/>
                <a:ea typeface="Lora"/>
                <a:cs typeface="Lora"/>
                <a:sym typeface="Lora"/>
              </a:rPr>
              <a:t>Name an Incident Commander</a:t>
            </a:r>
            <a:endParaRPr b="1" sz="2500">
              <a:solidFill>
                <a:srgbClr val="FDBD00"/>
              </a:solidFill>
              <a:latin typeface="Lora"/>
              <a:ea typeface="Lora"/>
              <a:cs typeface="Lora"/>
              <a:sym typeface="Lora"/>
            </a:endParaRPr>
          </a:p>
        </p:txBody>
      </p:sp>
      <p:sp>
        <p:nvSpPr>
          <p:cNvPr id="254" name="Google Shape;254;g3f683cc5795_0_17"/>
          <p:cNvSpPr txBox="1"/>
          <p:nvPr/>
        </p:nvSpPr>
        <p:spPr>
          <a:xfrm>
            <a:off x="5431381" y="6037596"/>
            <a:ext cx="3246600" cy="24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Roboto"/>
                <a:ea typeface="Roboto"/>
                <a:cs typeface="Roboto"/>
                <a:sym typeface="Roboto"/>
              </a:rPr>
              <a:t>One person owns the incident end to end → coordinating, not diagnosing. Keeps investigation and communication from competing for the same atten</a:t>
            </a:r>
            <a:r>
              <a:rPr lang="en-US" sz="1600">
                <a:solidFill>
                  <a:schemeClr val="dk1"/>
                </a:solidFill>
                <a:latin typeface="Roboto"/>
                <a:ea typeface="Roboto"/>
                <a:cs typeface="Roboto"/>
                <a:sym typeface="Roboto"/>
              </a:rPr>
              <a:t>tion. Organize all internal communication via an incident channel.</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p:txBody>
      </p:sp>
      <p:sp>
        <p:nvSpPr>
          <p:cNvPr id="255" name="Google Shape;255;g3f683cc5795_0_17"/>
          <p:cNvSpPr/>
          <p:nvPr/>
        </p:nvSpPr>
        <p:spPr>
          <a:xfrm>
            <a:off x="5472156" y="3462250"/>
            <a:ext cx="640080" cy="64008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B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3f683cc5795_0_17"/>
          <p:cNvSpPr txBox="1"/>
          <p:nvPr/>
        </p:nvSpPr>
        <p:spPr>
          <a:xfrm>
            <a:off x="4967571" y="3451363"/>
            <a:ext cx="16539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solidFill>
                  <a:schemeClr val="lt1"/>
                </a:solidFill>
                <a:latin typeface="Lora"/>
                <a:ea typeface="Lora"/>
                <a:cs typeface="Lora"/>
                <a:sym typeface="Lora"/>
              </a:rPr>
              <a:t>2</a:t>
            </a:r>
            <a:endParaRPr b="1" sz="3000">
              <a:solidFill>
                <a:schemeClr val="lt1"/>
              </a:solidFill>
              <a:latin typeface="Lora"/>
              <a:ea typeface="Lora"/>
              <a:cs typeface="Lora"/>
              <a:sym typeface="Lora"/>
            </a:endParaRPr>
          </a:p>
        </p:txBody>
      </p:sp>
      <p:sp>
        <p:nvSpPr>
          <p:cNvPr id="257" name="Google Shape;257;g3f683cc5795_0_17"/>
          <p:cNvSpPr/>
          <p:nvPr/>
        </p:nvSpPr>
        <p:spPr>
          <a:xfrm>
            <a:off x="9368131" y="3050250"/>
            <a:ext cx="3898500" cy="5717100"/>
          </a:xfrm>
          <a:prstGeom prst="roundRect">
            <a:avLst>
              <a:gd fmla="val 16667" name="adj"/>
            </a:avLst>
          </a:prstGeom>
          <a:solidFill>
            <a:schemeClr val="lt1"/>
          </a:solidFill>
          <a:ln cap="flat" cmpd="sng" w="76200">
            <a:solidFill>
              <a:srgbClr val="D752B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8" name="Google Shape;258;g3f683cc5795_0_17"/>
          <p:cNvSpPr txBox="1"/>
          <p:nvPr/>
        </p:nvSpPr>
        <p:spPr>
          <a:xfrm>
            <a:off x="9433231" y="4836425"/>
            <a:ext cx="37683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D752B2"/>
                </a:solidFill>
                <a:latin typeface="Lora"/>
                <a:ea typeface="Lora"/>
                <a:cs typeface="Lora"/>
                <a:sym typeface="Lora"/>
              </a:rPr>
              <a:t>Split investigation / </a:t>
            </a:r>
            <a:r>
              <a:rPr b="1" lang="en-US" sz="2500">
                <a:solidFill>
                  <a:srgbClr val="D752B2"/>
                </a:solidFill>
                <a:latin typeface="Lora"/>
                <a:ea typeface="Lora"/>
                <a:cs typeface="Lora"/>
                <a:sym typeface="Lora"/>
              </a:rPr>
              <a:t>stabilize</a:t>
            </a:r>
            <a:endParaRPr b="1" sz="2500">
              <a:solidFill>
                <a:srgbClr val="D752B2"/>
              </a:solidFill>
              <a:latin typeface="Lora"/>
              <a:ea typeface="Lora"/>
              <a:cs typeface="Lora"/>
              <a:sym typeface="Lora"/>
            </a:endParaRPr>
          </a:p>
        </p:txBody>
      </p:sp>
      <p:sp>
        <p:nvSpPr>
          <p:cNvPr id="259" name="Google Shape;259;g3f683cc5795_0_17"/>
          <p:cNvSpPr txBox="1"/>
          <p:nvPr/>
        </p:nvSpPr>
        <p:spPr>
          <a:xfrm>
            <a:off x="9694081" y="6037596"/>
            <a:ext cx="3246600" cy="24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Roboto"/>
                <a:ea typeface="Roboto"/>
                <a:cs typeface="Roboto"/>
                <a:sym typeface="Roboto"/>
              </a:rPr>
              <a:t>Root-cause analysis and short-term mitigation run in parallel, not sequentially → stabilizing the customer doesn’t wait on a confirmed cause.</a:t>
            </a:r>
            <a:endParaRPr sz="1600">
              <a:solidFill>
                <a:schemeClr val="dk1"/>
              </a:solidFill>
              <a:latin typeface="Roboto"/>
              <a:ea typeface="Roboto"/>
              <a:cs typeface="Roboto"/>
              <a:sym typeface="Roboto"/>
            </a:endParaRPr>
          </a:p>
        </p:txBody>
      </p:sp>
      <p:sp>
        <p:nvSpPr>
          <p:cNvPr id="260" name="Google Shape;260;g3f683cc5795_0_17"/>
          <p:cNvSpPr/>
          <p:nvPr/>
        </p:nvSpPr>
        <p:spPr>
          <a:xfrm>
            <a:off x="9734856" y="3462250"/>
            <a:ext cx="640080" cy="64008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2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3f683cc5795_0_17"/>
          <p:cNvSpPr txBox="1"/>
          <p:nvPr/>
        </p:nvSpPr>
        <p:spPr>
          <a:xfrm>
            <a:off x="9230271" y="3451363"/>
            <a:ext cx="16539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solidFill>
                  <a:schemeClr val="lt1"/>
                </a:solidFill>
                <a:latin typeface="Lora"/>
                <a:ea typeface="Lora"/>
                <a:cs typeface="Lora"/>
                <a:sym typeface="Lora"/>
              </a:rPr>
              <a:t>3</a:t>
            </a:r>
            <a:endParaRPr b="1" sz="3000">
              <a:solidFill>
                <a:schemeClr val="lt1"/>
              </a:solidFill>
              <a:latin typeface="Lora"/>
              <a:ea typeface="Lora"/>
              <a:cs typeface="Lora"/>
              <a:sym typeface="Lora"/>
            </a:endParaRPr>
          </a:p>
        </p:txBody>
      </p:sp>
      <p:sp>
        <p:nvSpPr>
          <p:cNvPr id="262" name="Google Shape;262;g3f683cc5795_0_17"/>
          <p:cNvSpPr/>
          <p:nvPr/>
        </p:nvSpPr>
        <p:spPr>
          <a:xfrm>
            <a:off x="13639831" y="3050250"/>
            <a:ext cx="3898500" cy="5717100"/>
          </a:xfrm>
          <a:prstGeom prst="roundRect">
            <a:avLst>
              <a:gd fmla="val 16667" name="adj"/>
            </a:avLst>
          </a:prstGeom>
          <a:solidFill>
            <a:schemeClr val="lt1"/>
          </a:solidFill>
          <a:ln cap="flat" cmpd="sng" w="76200">
            <a:solidFill>
              <a:srgbClr val="FE80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3" name="Google Shape;263;g3f683cc5795_0_17"/>
          <p:cNvSpPr txBox="1"/>
          <p:nvPr/>
        </p:nvSpPr>
        <p:spPr>
          <a:xfrm>
            <a:off x="13704931" y="4836425"/>
            <a:ext cx="37683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FE802E"/>
                </a:solidFill>
                <a:latin typeface="Lora"/>
                <a:ea typeface="Lora"/>
                <a:cs typeface="Lora"/>
                <a:sym typeface="Lora"/>
              </a:rPr>
              <a:t>Freeze non-essential changes</a:t>
            </a:r>
            <a:endParaRPr b="1" sz="2500">
              <a:solidFill>
                <a:srgbClr val="FE802E"/>
              </a:solidFill>
              <a:latin typeface="Lora"/>
              <a:ea typeface="Lora"/>
              <a:cs typeface="Lora"/>
              <a:sym typeface="Lora"/>
            </a:endParaRPr>
          </a:p>
        </p:txBody>
      </p:sp>
      <p:sp>
        <p:nvSpPr>
          <p:cNvPr id="264" name="Google Shape;264;g3f683cc5795_0_17"/>
          <p:cNvSpPr txBox="1"/>
          <p:nvPr/>
        </p:nvSpPr>
        <p:spPr>
          <a:xfrm>
            <a:off x="13965781" y="6037596"/>
            <a:ext cx="3246600" cy="240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Roboto"/>
                <a:ea typeface="Roboto"/>
                <a:cs typeface="Roboto"/>
                <a:sym typeface="Roboto"/>
              </a:rPr>
              <a:t>No unrelated deploys or config changes to the affected org while live → don’t add a second variable to an already-moving system.</a:t>
            </a:r>
            <a:endParaRPr sz="1600">
              <a:solidFill>
                <a:schemeClr val="dk1"/>
              </a:solidFill>
              <a:latin typeface="Roboto"/>
              <a:ea typeface="Roboto"/>
              <a:cs typeface="Roboto"/>
              <a:sym typeface="Roboto"/>
            </a:endParaRPr>
          </a:p>
        </p:txBody>
      </p:sp>
      <p:sp>
        <p:nvSpPr>
          <p:cNvPr id="265" name="Google Shape;265;g3f683cc5795_0_17"/>
          <p:cNvSpPr/>
          <p:nvPr/>
        </p:nvSpPr>
        <p:spPr>
          <a:xfrm>
            <a:off x="14006556" y="3462250"/>
            <a:ext cx="640080" cy="64008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0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f683cc5795_0_17"/>
          <p:cNvSpPr txBox="1"/>
          <p:nvPr/>
        </p:nvSpPr>
        <p:spPr>
          <a:xfrm>
            <a:off x="13501971" y="3451363"/>
            <a:ext cx="1653900" cy="71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solidFill>
                  <a:schemeClr val="lt1"/>
                </a:solidFill>
                <a:latin typeface="Lora"/>
                <a:ea typeface="Lora"/>
                <a:cs typeface="Lora"/>
                <a:sym typeface="Lora"/>
              </a:rPr>
              <a:t>4</a:t>
            </a:r>
            <a:endParaRPr b="1" sz="3000">
              <a:solidFill>
                <a:schemeClr val="lt1"/>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f683cc5795_0_68"/>
          <p:cNvSpPr txBox="1"/>
          <p:nvPr/>
        </p:nvSpPr>
        <p:spPr>
          <a:xfrm>
            <a:off x="1149750" y="431625"/>
            <a:ext cx="159885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Root Cause Analysis Process</a:t>
            </a:r>
            <a:endParaRPr b="0" i="0" sz="1400" u="none" cap="none" strike="noStrike">
              <a:solidFill>
                <a:srgbClr val="000000"/>
              </a:solidFill>
              <a:latin typeface="Arial"/>
              <a:ea typeface="Arial"/>
              <a:cs typeface="Arial"/>
              <a:sym typeface="Arial"/>
            </a:endParaRPr>
          </a:p>
        </p:txBody>
      </p:sp>
      <p:sp>
        <p:nvSpPr>
          <p:cNvPr id="272" name="Google Shape;272;g3f683cc5795_0_68"/>
          <p:cNvSpPr txBox="1"/>
          <p:nvPr/>
        </p:nvSpPr>
        <p:spPr>
          <a:xfrm>
            <a:off x="887497" y="2911390"/>
            <a:ext cx="13836900" cy="50559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lt1"/>
              </a:buClr>
              <a:buSzPts val="2100"/>
              <a:buFont typeface="Roboto"/>
              <a:buChar char="●"/>
            </a:pPr>
            <a:r>
              <a:rPr b="1" lang="en-US" sz="2100">
                <a:solidFill>
                  <a:srgbClr val="735FE4"/>
                </a:solidFill>
                <a:latin typeface="Roboto"/>
                <a:ea typeface="Roboto"/>
                <a:cs typeface="Roboto"/>
                <a:sym typeface="Roboto"/>
              </a:rPr>
              <a:t>Reconstruct the timeline first</a:t>
            </a:r>
            <a:r>
              <a:rPr lang="en-US" sz="2100">
                <a:solidFill>
                  <a:schemeClr val="lt1"/>
                </a:solidFill>
                <a:latin typeface="Roboto"/>
                <a:ea typeface="Roboto"/>
                <a:cs typeface="Roboto"/>
                <a:sym typeface="Roboto"/>
              </a:rPr>
              <a:t> → correlate the exact onset of errors against traffic curves, any recent deploys or config changes (customer-side and platform-side), and scheduled jobs (index rebuilds, model retrains) that might overlap the peak window</a:t>
            </a:r>
            <a:endParaRPr sz="2100">
              <a:solidFill>
                <a:schemeClr val="lt1"/>
              </a:solidFill>
              <a:latin typeface="Roboto"/>
              <a:ea typeface="Roboto"/>
              <a:cs typeface="Roboto"/>
              <a:sym typeface="Roboto"/>
            </a:endParaRPr>
          </a:p>
          <a:p>
            <a:pPr indent="0" lvl="0" marL="0" rtl="0" algn="l">
              <a:spcBef>
                <a:spcPts val="0"/>
              </a:spcBef>
              <a:spcAft>
                <a:spcPts val="0"/>
              </a:spcAft>
              <a:buNone/>
            </a:pPr>
            <a:r>
              <a:t/>
            </a:r>
            <a:endParaRPr sz="2100">
              <a:solidFill>
                <a:schemeClr val="lt1"/>
              </a:solidFill>
              <a:latin typeface="Roboto"/>
              <a:ea typeface="Roboto"/>
              <a:cs typeface="Roboto"/>
              <a:sym typeface="Roboto"/>
            </a:endParaRPr>
          </a:p>
          <a:p>
            <a:pPr indent="-361950" lvl="0" marL="457200" rtl="0" algn="l">
              <a:spcBef>
                <a:spcPts val="0"/>
              </a:spcBef>
              <a:spcAft>
                <a:spcPts val="0"/>
              </a:spcAft>
              <a:buClr>
                <a:schemeClr val="lt1"/>
              </a:buClr>
              <a:buSzPts val="2100"/>
              <a:buFont typeface="Roboto"/>
              <a:buChar char="●"/>
            </a:pPr>
            <a:r>
              <a:rPr b="1" lang="en-US" sz="2100">
                <a:solidFill>
                  <a:srgbClr val="FDBD00"/>
                </a:solidFill>
                <a:latin typeface="Roboto"/>
                <a:ea typeface="Roboto"/>
                <a:cs typeface="Roboto"/>
                <a:sym typeface="Roboto"/>
              </a:rPr>
              <a:t>Pull from real logs, not assumptions</a:t>
            </a:r>
            <a:r>
              <a:rPr lang="en-US" sz="2100">
                <a:solidFill>
                  <a:schemeClr val="lt1"/>
                </a:solidFill>
                <a:latin typeface="Roboto"/>
                <a:ea typeface="Roboto"/>
                <a:cs typeface="Roboto"/>
                <a:sym typeface="Roboto"/>
              </a:rPr>
              <a:t> → Search API response codes and latency, query pipeline execution logs, organization usage against licensed limits (API/query volume, Generative Queries Per Month), and client-side network traces from the customer’s own site</a:t>
            </a:r>
            <a:endParaRPr sz="2100">
              <a:solidFill>
                <a:schemeClr val="lt1"/>
              </a:solidFill>
              <a:latin typeface="Roboto"/>
              <a:ea typeface="Roboto"/>
              <a:cs typeface="Roboto"/>
              <a:sym typeface="Roboto"/>
            </a:endParaRPr>
          </a:p>
          <a:p>
            <a:pPr indent="0" lvl="0" marL="0" rtl="0" algn="l">
              <a:spcBef>
                <a:spcPts val="0"/>
              </a:spcBef>
              <a:spcAft>
                <a:spcPts val="0"/>
              </a:spcAft>
              <a:buNone/>
            </a:pPr>
            <a:r>
              <a:t/>
            </a:r>
            <a:endParaRPr sz="2100">
              <a:solidFill>
                <a:schemeClr val="lt1"/>
              </a:solidFill>
              <a:latin typeface="Roboto"/>
              <a:ea typeface="Roboto"/>
              <a:cs typeface="Roboto"/>
              <a:sym typeface="Roboto"/>
            </a:endParaRPr>
          </a:p>
          <a:p>
            <a:pPr indent="-361950" lvl="0" marL="457200" rtl="0" algn="l">
              <a:spcBef>
                <a:spcPts val="0"/>
              </a:spcBef>
              <a:spcAft>
                <a:spcPts val="0"/>
              </a:spcAft>
              <a:buClr>
                <a:schemeClr val="lt1"/>
              </a:buClr>
              <a:buSzPts val="2100"/>
              <a:buFont typeface="Roboto"/>
              <a:buChar char="●"/>
            </a:pPr>
            <a:r>
              <a:rPr b="1" lang="en-US" sz="2100">
                <a:solidFill>
                  <a:srgbClr val="D752B2"/>
                </a:solidFill>
                <a:latin typeface="Roboto"/>
                <a:ea typeface="Roboto"/>
                <a:cs typeface="Roboto"/>
                <a:sym typeface="Roboto"/>
              </a:rPr>
              <a:t>Investigate in parallel, not in sequence</a:t>
            </a:r>
            <a:r>
              <a:rPr lang="en-US" sz="2100">
                <a:solidFill>
                  <a:schemeClr val="lt1"/>
                </a:solidFill>
                <a:latin typeface="Roboto"/>
                <a:ea typeface="Roboto"/>
                <a:cs typeface="Roboto"/>
                <a:sym typeface="Roboto"/>
              </a:rPr>
              <a:t> → multiple leading hypotheses get checked simultaneously by different people, since serial investigation is the single biggest time-sink in a live Sev-1</a:t>
            </a:r>
            <a:endParaRPr sz="2100">
              <a:solidFill>
                <a:schemeClr val="lt1"/>
              </a:solidFill>
              <a:latin typeface="Roboto"/>
              <a:ea typeface="Roboto"/>
              <a:cs typeface="Roboto"/>
              <a:sym typeface="Roboto"/>
            </a:endParaRPr>
          </a:p>
          <a:p>
            <a:pPr indent="0" lvl="0" marL="0" rtl="0" algn="l">
              <a:spcBef>
                <a:spcPts val="0"/>
              </a:spcBef>
              <a:spcAft>
                <a:spcPts val="0"/>
              </a:spcAft>
              <a:buNone/>
            </a:pPr>
            <a:r>
              <a:t/>
            </a:r>
            <a:endParaRPr sz="2100">
              <a:solidFill>
                <a:schemeClr val="lt1"/>
              </a:solidFill>
              <a:latin typeface="Roboto"/>
              <a:ea typeface="Roboto"/>
              <a:cs typeface="Roboto"/>
              <a:sym typeface="Roboto"/>
            </a:endParaRPr>
          </a:p>
          <a:p>
            <a:pPr indent="-361950" lvl="0" marL="457200" rtl="0" algn="l">
              <a:spcBef>
                <a:spcPts val="0"/>
              </a:spcBef>
              <a:spcAft>
                <a:spcPts val="0"/>
              </a:spcAft>
              <a:buClr>
                <a:schemeClr val="lt1"/>
              </a:buClr>
              <a:buSzPts val="2100"/>
              <a:buFont typeface="Roboto"/>
              <a:buChar char="●"/>
            </a:pPr>
            <a:r>
              <a:rPr b="1" lang="en-US" sz="2100">
                <a:solidFill>
                  <a:srgbClr val="FE802E"/>
                </a:solidFill>
                <a:latin typeface="Roboto"/>
                <a:ea typeface="Roboto"/>
                <a:cs typeface="Roboto"/>
                <a:sym typeface="Roboto"/>
              </a:rPr>
              <a:t>Confirm, don’t guess</a:t>
            </a:r>
            <a:r>
              <a:rPr lang="en-US" sz="2100">
                <a:solidFill>
                  <a:schemeClr val="lt1"/>
                </a:solidFill>
                <a:latin typeface="Roboto"/>
                <a:ea typeface="Roboto"/>
                <a:cs typeface="Roboto"/>
                <a:sym typeface="Roboto"/>
              </a:rPr>
              <a:t> → a hypothesis only becomes "root cause" once it’s reproduced or directly evidenced within logs; anything short of that stays labeled a hypothesis in every update, including to executives</a:t>
            </a:r>
            <a:endParaRPr sz="2100">
              <a:solidFill>
                <a:schemeClr val="lt1"/>
              </a:solidFill>
              <a:latin typeface="Roboto"/>
              <a:ea typeface="Roboto"/>
              <a:cs typeface="Roboto"/>
              <a:sym typeface="Roboto"/>
            </a:endParaRPr>
          </a:p>
        </p:txBody>
      </p:sp>
      <p:sp>
        <p:nvSpPr>
          <p:cNvPr id="273" name="Google Shape;273;g3f683cc5795_0_68"/>
          <p:cNvSpPr/>
          <p:nvPr/>
        </p:nvSpPr>
        <p:spPr>
          <a:xfrm>
            <a:off x="13721177" y="6158749"/>
            <a:ext cx="4297841" cy="3907129"/>
          </a:xfrm>
          <a:custGeom>
            <a:rect b="b" l="l" r="r" t="t"/>
            <a:pathLst>
              <a:path extrusionOk="0" h="1825761" w="2008337">
                <a:moveTo>
                  <a:pt x="0" y="0"/>
                </a:moveTo>
                <a:lnTo>
                  <a:pt x="2008337" y="0"/>
                </a:lnTo>
                <a:lnTo>
                  <a:pt x="2008337" y="1825761"/>
                </a:lnTo>
                <a:lnTo>
                  <a:pt x="0" y="182576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631"/>
        </a:solidFill>
      </p:bgPr>
    </p:bg>
    <p:spTree>
      <p:nvGrpSpPr>
        <p:cNvPr id="277" name="Shape 277"/>
        <p:cNvGrpSpPr/>
        <p:nvPr/>
      </p:nvGrpSpPr>
      <p:grpSpPr>
        <a:xfrm>
          <a:off x="0" y="0"/>
          <a:ext cx="0" cy="0"/>
          <a:chOff x="0" y="0"/>
          <a:chExt cx="0" cy="0"/>
        </a:xfrm>
      </p:grpSpPr>
      <p:grpSp>
        <p:nvGrpSpPr>
          <p:cNvPr id="278" name="Google Shape;278;p4"/>
          <p:cNvGrpSpPr/>
          <p:nvPr/>
        </p:nvGrpSpPr>
        <p:grpSpPr>
          <a:xfrm>
            <a:off x="4898811" y="3540376"/>
            <a:ext cx="10408943" cy="1688102"/>
            <a:chOff x="0" y="-38100"/>
            <a:chExt cx="1814100" cy="444600"/>
          </a:xfrm>
        </p:grpSpPr>
        <p:sp>
          <p:nvSpPr>
            <p:cNvPr id="279" name="Google Shape;279;p4"/>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FDB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
            <p:cNvSpPr txBox="1"/>
            <p:nvPr/>
          </p:nvSpPr>
          <p:spPr>
            <a:xfrm>
              <a:off x="0" y="-38100"/>
              <a:ext cx="1814100" cy="444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1" name="Google Shape;281;p4"/>
          <p:cNvGrpSpPr/>
          <p:nvPr/>
        </p:nvGrpSpPr>
        <p:grpSpPr>
          <a:xfrm>
            <a:off x="2961960" y="1524778"/>
            <a:ext cx="10408873" cy="1687722"/>
            <a:chOff x="0" y="-38100"/>
            <a:chExt cx="1813993" cy="444500"/>
          </a:xfrm>
        </p:grpSpPr>
        <p:sp>
          <p:nvSpPr>
            <p:cNvPr id="282" name="Google Shape;282;p4"/>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735F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
            <p:cNvSpPr txBox="1"/>
            <p:nvPr/>
          </p:nvSpPr>
          <p:spPr>
            <a:xfrm>
              <a:off x="0" y="-38100"/>
              <a:ext cx="1813993"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4"/>
          <p:cNvGrpSpPr/>
          <p:nvPr/>
        </p:nvGrpSpPr>
        <p:grpSpPr>
          <a:xfrm>
            <a:off x="3057314" y="3625591"/>
            <a:ext cx="1632265" cy="1632265"/>
            <a:chOff x="0" y="0"/>
            <a:chExt cx="812800" cy="812800"/>
          </a:xfrm>
        </p:grpSpPr>
        <p:sp>
          <p:nvSpPr>
            <p:cNvPr id="285" name="Google Shape;28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BD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4"/>
          <p:cNvGrpSpPr/>
          <p:nvPr/>
        </p:nvGrpSpPr>
        <p:grpSpPr>
          <a:xfrm>
            <a:off x="6900625" y="5678753"/>
            <a:ext cx="10408873" cy="1687722"/>
            <a:chOff x="0" y="-38100"/>
            <a:chExt cx="1813993" cy="444500"/>
          </a:xfrm>
        </p:grpSpPr>
        <p:sp>
          <p:nvSpPr>
            <p:cNvPr id="288" name="Google Shape;288;p4"/>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D752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
            <p:cNvSpPr txBox="1"/>
            <p:nvPr/>
          </p:nvSpPr>
          <p:spPr>
            <a:xfrm>
              <a:off x="0" y="-38100"/>
              <a:ext cx="1813993"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0" name="Google Shape;290;p4"/>
          <p:cNvGrpSpPr/>
          <p:nvPr/>
        </p:nvGrpSpPr>
        <p:grpSpPr>
          <a:xfrm>
            <a:off x="5050189" y="5780709"/>
            <a:ext cx="1632265" cy="1632265"/>
            <a:chOff x="0" y="0"/>
            <a:chExt cx="812800" cy="812800"/>
          </a:xfrm>
        </p:grpSpPr>
        <p:sp>
          <p:nvSpPr>
            <p:cNvPr id="291" name="Google Shape;29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2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p4"/>
          <p:cNvGrpSpPr/>
          <p:nvPr/>
        </p:nvGrpSpPr>
        <p:grpSpPr>
          <a:xfrm>
            <a:off x="9074723" y="7836776"/>
            <a:ext cx="9065430" cy="1687722"/>
            <a:chOff x="0" y="-38100"/>
            <a:chExt cx="1813993" cy="444500"/>
          </a:xfrm>
        </p:grpSpPr>
        <p:sp>
          <p:nvSpPr>
            <p:cNvPr id="294" name="Google Shape;294;p4"/>
            <p:cNvSpPr/>
            <p:nvPr/>
          </p:nvSpPr>
          <p:spPr>
            <a:xfrm>
              <a:off x="0" y="0"/>
              <a:ext cx="1813993" cy="406400"/>
            </a:xfrm>
            <a:custGeom>
              <a:rect b="b" l="l" r="r" t="t"/>
              <a:pathLst>
                <a:path extrusionOk="0" h="406400" w="1813993">
                  <a:moveTo>
                    <a:pt x="57327" y="0"/>
                  </a:moveTo>
                  <a:lnTo>
                    <a:pt x="1756666" y="0"/>
                  </a:lnTo>
                  <a:cubicBezTo>
                    <a:pt x="1788327" y="0"/>
                    <a:pt x="1813993" y="25666"/>
                    <a:pt x="1813993" y="57327"/>
                  </a:cubicBezTo>
                  <a:lnTo>
                    <a:pt x="1813993" y="349073"/>
                  </a:lnTo>
                  <a:cubicBezTo>
                    <a:pt x="1813993" y="380734"/>
                    <a:pt x="1788327" y="406400"/>
                    <a:pt x="1756666" y="406400"/>
                  </a:cubicBezTo>
                  <a:lnTo>
                    <a:pt x="57327" y="406400"/>
                  </a:lnTo>
                  <a:cubicBezTo>
                    <a:pt x="25666" y="406400"/>
                    <a:pt x="0" y="380734"/>
                    <a:pt x="0" y="349073"/>
                  </a:cubicBezTo>
                  <a:lnTo>
                    <a:pt x="0" y="57327"/>
                  </a:lnTo>
                  <a:cubicBezTo>
                    <a:pt x="0" y="25666"/>
                    <a:pt x="25666" y="0"/>
                    <a:pt x="57327" y="0"/>
                  </a:cubicBezTo>
                  <a:close/>
                </a:path>
              </a:pathLst>
            </a:custGeom>
            <a:solidFill>
              <a:srgbClr val="FE80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4"/>
            <p:cNvSpPr txBox="1"/>
            <p:nvPr/>
          </p:nvSpPr>
          <p:spPr>
            <a:xfrm>
              <a:off x="0" y="-38100"/>
              <a:ext cx="1813993"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6" name="Google Shape;296;p4"/>
          <p:cNvGrpSpPr/>
          <p:nvPr/>
        </p:nvGrpSpPr>
        <p:grpSpPr>
          <a:xfrm>
            <a:off x="7233242" y="7936831"/>
            <a:ext cx="1632265" cy="1632265"/>
            <a:chOff x="0" y="0"/>
            <a:chExt cx="812800" cy="812800"/>
          </a:xfrm>
        </p:grpSpPr>
        <p:sp>
          <p:nvSpPr>
            <p:cNvPr id="297" name="Google Shape;297;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802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9" name="Google Shape;299;p4"/>
          <p:cNvSpPr txBox="1"/>
          <p:nvPr/>
        </p:nvSpPr>
        <p:spPr>
          <a:xfrm>
            <a:off x="3281093" y="1942235"/>
            <a:ext cx="9888000" cy="965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100"/>
              <a:buFont typeface="Arial"/>
              <a:buNone/>
            </a:pPr>
            <a:r>
              <a:rPr lang="en-US" sz="1900">
                <a:solidFill>
                  <a:srgbClr val="FFFFFF"/>
                </a:solidFill>
                <a:latin typeface="Roboto"/>
                <a:ea typeface="Roboto"/>
                <a:cs typeface="Roboto"/>
                <a:sym typeface="Roboto"/>
              </a:rPr>
              <a:t>Coveo enforces org-level technical limits (API/query volume, Generative Queries Per Month) specifically to protect shared infrastructure → a 3x+ traffic spike is a real candidate for hitting one mid-peak.</a:t>
            </a:r>
            <a:endParaRPr sz="1700">
              <a:solidFill>
                <a:srgbClr val="FFFFFF"/>
              </a:solidFill>
              <a:latin typeface="Roboto"/>
              <a:ea typeface="Roboto"/>
              <a:cs typeface="Roboto"/>
              <a:sym typeface="Roboto"/>
            </a:endParaRPr>
          </a:p>
        </p:txBody>
      </p:sp>
      <p:sp>
        <p:nvSpPr>
          <p:cNvPr id="300" name="Google Shape;300;p4"/>
          <p:cNvSpPr txBox="1"/>
          <p:nvPr/>
        </p:nvSpPr>
        <p:spPr>
          <a:xfrm>
            <a:off x="2347943" y="5444753"/>
            <a:ext cx="3051000" cy="13392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3600"/>
              <a:buFont typeface="Arial"/>
              <a:buNone/>
            </a:pPr>
            <a:r>
              <a:rPr b="1" lang="en-US" sz="2500">
                <a:solidFill>
                  <a:srgbClr val="FFFFFF"/>
                </a:solidFill>
                <a:latin typeface="Lora"/>
                <a:ea typeface="Lora"/>
                <a:cs typeface="Lora"/>
                <a:sym typeface="Lora"/>
              </a:rPr>
              <a:t>Expensive</a:t>
            </a:r>
            <a:endParaRPr b="1" sz="2500">
              <a:solidFill>
                <a:srgbClr val="FFFFFF"/>
              </a:solidFill>
              <a:latin typeface="Lora"/>
              <a:ea typeface="Lora"/>
              <a:cs typeface="Lora"/>
              <a:sym typeface="Lora"/>
            </a:endParaRPr>
          </a:p>
          <a:p>
            <a:pPr indent="0" lvl="0" marL="0" marR="0" rtl="0" algn="ctr">
              <a:lnSpc>
                <a:spcPct val="124000"/>
              </a:lnSpc>
              <a:spcBef>
                <a:spcPts val="0"/>
              </a:spcBef>
              <a:spcAft>
                <a:spcPts val="0"/>
              </a:spcAft>
              <a:buClr>
                <a:srgbClr val="000000"/>
              </a:buClr>
              <a:buSzPts val="3600"/>
              <a:buFont typeface="Arial"/>
              <a:buNone/>
            </a:pPr>
            <a:r>
              <a:rPr b="1" lang="en-US" sz="2500">
                <a:solidFill>
                  <a:srgbClr val="FFFFFF"/>
                </a:solidFill>
                <a:latin typeface="Lora"/>
                <a:ea typeface="Lora"/>
                <a:cs typeface="Lora"/>
                <a:sym typeface="Lora"/>
              </a:rPr>
              <a:t>ML features</a:t>
            </a:r>
            <a:endParaRPr b="1" sz="2500">
              <a:solidFill>
                <a:srgbClr val="FFFFFF"/>
              </a:solidFill>
              <a:latin typeface="Lora"/>
              <a:ea typeface="Lora"/>
              <a:cs typeface="Lora"/>
              <a:sym typeface="Lora"/>
            </a:endParaRPr>
          </a:p>
          <a:p>
            <a:pPr indent="0" lvl="0" marL="0" marR="0" rtl="0" algn="ctr">
              <a:lnSpc>
                <a:spcPct val="124000"/>
              </a:lnSpc>
              <a:spcBef>
                <a:spcPts val="0"/>
              </a:spcBef>
              <a:spcAft>
                <a:spcPts val="0"/>
              </a:spcAft>
              <a:buClr>
                <a:srgbClr val="000000"/>
              </a:buClr>
              <a:buSzPts val="3600"/>
              <a:buFont typeface="Arial"/>
              <a:buNone/>
            </a:pPr>
            <a:r>
              <a:rPr b="1" lang="en-US" sz="2500">
                <a:solidFill>
                  <a:srgbClr val="FFFFFF"/>
                </a:solidFill>
                <a:latin typeface="Lora"/>
                <a:ea typeface="Lora"/>
                <a:cs typeface="Lora"/>
                <a:sym typeface="Lora"/>
              </a:rPr>
              <a:t>under load</a:t>
            </a:r>
            <a:endParaRPr b="0" i="0" sz="2500" u="none" cap="none" strike="noStrike">
              <a:solidFill>
                <a:srgbClr val="000000"/>
              </a:solidFill>
              <a:latin typeface="Arial"/>
              <a:ea typeface="Arial"/>
              <a:cs typeface="Arial"/>
              <a:sym typeface="Arial"/>
            </a:endParaRPr>
          </a:p>
        </p:txBody>
      </p:sp>
      <p:sp>
        <p:nvSpPr>
          <p:cNvPr id="301" name="Google Shape;301;p4"/>
          <p:cNvSpPr txBox="1"/>
          <p:nvPr/>
        </p:nvSpPr>
        <p:spPr>
          <a:xfrm>
            <a:off x="4600773" y="7603634"/>
            <a:ext cx="2531100" cy="3849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3600"/>
              <a:buFont typeface="Arial"/>
              <a:buNone/>
            </a:pPr>
            <a:r>
              <a:rPr b="1" lang="en-US" sz="2500">
                <a:solidFill>
                  <a:srgbClr val="FFFFFF"/>
                </a:solidFill>
                <a:latin typeface="Lora"/>
                <a:ea typeface="Lora"/>
                <a:cs typeface="Lora"/>
                <a:sym typeface="Lora"/>
              </a:rPr>
              <a:t>Request Volume</a:t>
            </a:r>
            <a:endParaRPr b="0" i="0" sz="2500" u="none" cap="none" strike="noStrike">
              <a:solidFill>
                <a:srgbClr val="000000"/>
              </a:solidFill>
              <a:latin typeface="Arial"/>
              <a:ea typeface="Arial"/>
              <a:cs typeface="Arial"/>
              <a:sym typeface="Arial"/>
            </a:endParaRPr>
          </a:p>
        </p:txBody>
      </p:sp>
      <p:sp>
        <p:nvSpPr>
          <p:cNvPr id="302" name="Google Shape;302;p4"/>
          <p:cNvSpPr txBox="1"/>
          <p:nvPr/>
        </p:nvSpPr>
        <p:spPr>
          <a:xfrm>
            <a:off x="6245188" y="9750053"/>
            <a:ext cx="3842400" cy="3849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3600"/>
              <a:buFont typeface="Arial"/>
              <a:buNone/>
            </a:pPr>
            <a:r>
              <a:rPr b="1" lang="en-US" sz="2500">
                <a:solidFill>
                  <a:srgbClr val="FFFFFF"/>
                </a:solidFill>
                <a:latin typeface="Lora"/>
                <a:ea typeface="Lora"/>
                <a:cs typeface="Lora"/>
                <a:sym typeface="Lora"/>
              </a:rPr>
              <a:t>Resource Contention</a:t>
            </a:r>
            <a:endParaRPr b="0" i="0" sz="2500" u="none" cap="none" strike="noStrike">
              <a:solidFill>
                <a:srgbClr val="000000"/>
              </a:solidFill>
              <a:latin typeface="Arial"/>
              <a:ea typeface="Arial"/>
              <a:cs typeface="Arial"/>
              <a:sym typeface="Arial"/>
            </a:endParaRPr>
          </a:p>
        </p:txBody>
      </p:sp>
      <p:sp>
        <p:nvSpPr>
          <p:cNvPr id="303" name="Google Shape;303;p4"/>
          <p:cNvSpPr txBox="1"/>
          <p:nvPr/>
        </p:nvSpPr>
        <p:spPr>
          <a:xfrm>
            <a:off x="5273850" y="4102963"/>
            <a:ext cx="9846600" cy="62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100"/>
              <a:buFont typeface="Arial"/>
              <a:buNone/>
            </a:pPr>
            <a:r>
              <a:rPr lang="en-US" sz="1900">
                <a:solidFill>
                  <a:srgbClr val="FFFFFF"/>
                </a:solidFill>
                <a:latin typeface="Roboto"/>
                <a:ea typeface="Roboto"/>
                <a:cs typeface="Roboto"/>
                <a:sym typeface="Roboto"/>
              </a:rPr>
              <a:t>Generative answering and personalization add per-query latency; if usage of these grew recently, they’re a plausible source of slow queries compounding under peak concurrency.</a:t>
            </a:r>
            <a:endParaRPr sz="1900">
              <a:solidFill>
                <a:srgbClr val="FFFFFF"/>
              </a:solidFill>
              <a:latin typeface="Roboto"/>
              <a:ea typeface="Roboto"/>
              <a:cs typeface="Roboto"/>
              <a:sym typeface="Roboto"/>
            </a:endParaRPr>
          </a:p>
        </p:txBody>
      </p:sp>
      <p:sp>
        <p:nvSpPr>
          <p:cNvPr id="304" name="Google Shape;304;p4"/>
          <p:cNvSpPr txBox="1"/>
          <p:nvPr/>
        </p:nvSpPr>
        <p:spPr>
          <a:xfrm>
            <a:off x="7221076" y="6252150"/>
            <a:ext cx="9846600" cy="62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100"/>
              <a:buFont typeface="Arial"/>
              <a:buNone/>
            </a:pPr>
            <a:r>
              <a:rPr lang="en-US" sz="1900">
                <a:solidFill>
                  <a:srgbClr val="FFFFFF"/>
                </a:solidFill>
                <a:latin typeface="Roboto"/>
                <a:ea typeface="Roboto"/>
                <a:cs typeface="Roboto"/>
                <a:sym typeface="Roboto"/>
              </a:rPr>
              <a:t>An un-debounced typeahead or an inefficient client-side integration can multiply real request volume many times over → worth ruling out before assuming the platform is the bottleneck.</a:t>
            </a:r>
            <a:endParaRPr sz="1900">
              <a:solidFill>
                <a:srgbClr val="FFFFFF"/>
              </a:solidFill>
              <a:latin typeface="Roboto"/>
              <a:ea typeface="Roboto"/>
              <a:cs typeface="Roboto"/>
              <a:sym typeface="Roboto"/>
            </a:endParaRPr>
          </a:p>
        </p:txBody>
      </p:sp>
      <p:sp>
        <p:nvSpPr>
          <p:cNvPr id="305" name="Google Shape;305;p4"/>
          <p:cNvSpPr txBox="1"/>
          <p:nvPr/>
        </p:nvSpPr>
        <p:spPr>
          <a:xfrm>
            <a:off x="9562077" y="8397053"/>
            <a:ext cx="8403300" cy="62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100"/>
              <a:buFont typeface="Arial"/>
              <a:buNone/>
            </a:pPr>
            <a:r>
              <a:rPr lang="en-US" sz="1900">
                <a:solidFill>
                  <a:srgbClr val="FFFFFF"/>
                </a:solidFill>
                <a:latin typeface="Roboto"/>
                <a:ea typeface="Roboto"/>
                <a:cs typeface="Roboto"/>
                <a:sym typeface="Roboto"/>
              </a:rPr>
              <a:t>An index rebuild or model retrain scheduled without accounting for a known sale event can compete for the same resources as live query traffic.</a:t>
            </a:r>
            <a:endParaRPr sz="1900">
              <a:solidFill>
                <a:srgbClr val="FFFFFF"/>
              </a:solidFill>
              <a:latin typeface="Roboto"/>
              <a:ea typeface="Roboto"/>
              <a:cs typeface="Roboto"/>
              <a:sym typeface="Roboto"/>
            </a:endParaRPr>
          </a:p>
        </p:txBody>
      </p:sp>
      <p:pic>
        <p:nvPicPr>
          <p:cNvPr id="306" name="Google Shape;306;p4"/>
          <p:cNvPicPr preferRelativeResize="0"/>
          <p:nvPr/>
        </p:nvPicPr>
        <p:blipFill rotWithShape="1">
          <a:blip r:embed="rId3">
            <a:alphaModFix/>
          </a:blip>
          <a:srcRect b="0" l="0" r="0" t="0"/>
          <a:stretch/>
        </p:blipFill>
        <p:spPr>
          <a:xfrm>
            <a:off x="1440787" y="2020851"/>
            <a:ext cx="887475" cy="844412"/>
          </a:xfrm>
          <a:prstGeom prst="rect">
            <a:avLst/>
          </a:prstGeom>
          <a:noFill/>
          <a:ln>
            <a:noFill/>
          </a:ln>
        </p:spPr>
      </p:pic>
      <p:sp>
        <p:nvSpPr>
          <p:cNvPr id="307" name="Google Shape;307;p4"/>
          <p:cNvSpPr/>
          <p:nvPr/>
        </p:nvSpPr>
        <p:spPr>
          <a:xfrm>
            <a:off x="1068396" y="1626915"/>
            <a:ext cx="1631696" cy="1631696"/>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35F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4"/>
          <p:cNvSpPr txBox="1"/>
          <p:nvPr/>
        </p:nvSpPr>
        <p:spPr>
          <a:xfrm>
            <a:off x="100879" y="3388828"/>
            <a:ext cx="3567300" cy="8619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3600"/>
              <a:buFont typeface="Arial"/>
              <a:buNone/>
            </a:pPr>
            <a:r>
              <a:rPr b="1" lang="en-US" sz="2500">
                <a:solidFill>
                  <a:srgbClr val="FFFFFF"/>
                </a:solidFill>
                <a:latin typeface="Lora"/>
                <a:ea typeface="Lora"/>
                <a:cs typeface="Lora"/>
                <a:sym typeface="Lora"/>
              </a:rPr>
              <a:t>Org quota </a:t>
            </a:r>
            <a:endParaRPr b="1" sz="2500">
              <a:solidFill>
                <a:srgbClr val="FFFFFF"/>
              </a:solidFill>
              <a:latin typeface="Lora"/>
              <a:ea typeface="Lora"/>
              <a:cs typeface="Lora"/>
              <a:sym typeface="Lora"/>
            </a:endParaRPr>
          </a:p>
          <a:p>
            <a:pPr indent="0" lvl="0" marL="0" marR="0" rtl="0" algn="ctr">
              <a:lnSpc>
                <a:spcPct val="124000"/>
              </a:lnSpc>
              <a:spcBef>
                <a:spcPts val="0"/>
              </a:spcBef>
              <a:spcAft>
                <a:spcPts val="0"/>
              </a:spcAft>
              <a:buClr>
                <a:srgbClr val="000000"/>
              </a:buClr>
              <a:buSzPts val="3600"/>
              <a:buFont typeface="Arial"/>
              <a:buNone/>
            </a:pPr>
            <a:r>
              <a:rPr b="1" lang="en-US" sz="2500">
                <a:solidFill>
                  <a:srgbClr val="FFFFFF"/>
                </a:solidFill>
                <a:latin typeface="Lora"/>
                <a:ea typeface="Lora"/>
                <a:cs typeface="Lora"/>
                <a:sym typeface="Lora"/>
              </a:rPr>
              <a:t>exhaustion</a:t>
            </a:r>
            <a:endParaRPr b="0" i="0" sz="300" u="none" cap="none" strike="noStrike">
              <a:solidFill>
                <a:srgbClr val="000000"/>
              </a:solidFill>
              <a:latin typeface="Arial"/>
              <a:ea typeface="Arial"/>
              <a:cs typeface="Arial"/>
              <a:sym typeface="Arial"/>
            </a:endParaRPr>
          </a:p>
        </p:txBody>
      </p:sp>
      <p:pic>
        <p:nvPicPr>
          <p:cNvPr id="309" name="Google Shape;309;p4"/>
          <p:cNvPicPr preferRelativeResize="0"/>
          <p:nvPr/>
        </p:nvPicPr>
        <p:blipFill rotWithShape="1">
          <a:blip r:embed="rId4">
            <a:alphaModFix/>
          </a:blip>
          <a:srcRect b="0" l="0" r="0" t="0"/>
          <a:stretch/>
        </p:blipFill>
        <p:spPr>
          <a:xfrm>
            <a:off x="1440788" y="1952837"/>
            <a:ext cx="887475" cy="980435"/>
          </a:xfrm>
          <a:prstGeom prst="rect">
            <a:avLst/>
          </a:prstGeom>
          <a:noFill/>
          <a:ln>
            <a:noFill/>
          </a:ln>
        </p:spPr>
      </p:pic>
      <p:pic>
        <p:nvPicPr>
          <p:cNvPr id="310" name="Google Shape;310;p4"/>
          <p:cNvPicPr preferRelativeResize="0"/>
          <p:nvPr/>
        </p:nvPicPr>
        <p:blipFill rotWithShape="1">
          <a:blip r:embed="rId5">
            <a:alphaModFix/>
          </a:blip>
          <a:srcRect b="0" l="0" r="0" t="0"/>
          <a:stretch/>
        </p:blipFill>
        <p:spPr>
          <a:xfrm>
            <a:off x="5422589" y="6076315"/>
            <a:ext cx="887475" cy="1041046"/>
          </a:xfrm>
          <a:prstGeom prst="rect">
            <a:avLst/>
          </a:prstGeom>
          <a:noFill/>
          <a:ln>
            <a:noFill/>
          </a:ln>
        </p:spPr>
      </p:pic>
      <p:sp>
        <p:nvSpPr>
          <p:cNvPr id="311" name="Google Shape;311;p4"/>
          <p:cNvSpPr txBox="1"/>
          <p:nvPr/>
        </p:nvSpPr>
        <p:spPr>
          <a:xfrm>
            <a:off x="1149750" y="198543"/>
            <a:ext cx="159885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Root Cause Analysis Hypotheses</a:t>
            </a:r>
            <a:endParaRPr b="0" i="0" sz="1400" u="none" cap="none" strike="noStrike">
              <a:solidFill>
                <a:srgbClr val="000000"/>
              </a:solidFill>
              <a:latin typeface="Arial"/>
              <a:ea typeface="Arial"/>
              <a:cs typeface="Arial"/>
              <a:sym typeface="Arial"/>
            </a:endParaRPr>
          </a:p>
        </p:txBody>
      </p:sp>
      <p:sp>
        <p:nvSpPr>
          <p:cNvPr id="312" name="Google Shape;312;p4"/>
          <p:cNvSpPr/>
          <p:nvPr/>
        </p:nvSpPr>
        <p:spPr>
          <a:xfrm>
            <a:off x="3429812" y="3986190"/>
            <a:ext cx="887282" cy="862325"/>
          </a:xfrm>
          <a:custGeom>
            <a:rect b="b" l="l" r="r" t="t"/>
            <a:pathLst>
              <a:path extrusionOk="0" h="974379" w="1011148">
                <a:moveTo>
                  <a:pt x="0" y="0"/>
                </a:moveTo>
                <a:lnTo>
                  <a:pt x="1011149" y="0"/>
                </a:lnTo>
                <a:lnTo>
                  <a:pt x="1011149" y="974380"/>
                </a:lnTo>
                <a:lnTo>
                  <a:pt x="0" y="974380"/>
                </a:lnTo>
                <a:lnTo>
                  <a:pt x="0" y="0"/>
                </a:lnTo>
                <a:close/>
              </a:path>
            </a:pathLst>
          </a:custGeom>
          <a:blipFill rotWithShape="1">
            <a:blip r:embed="rId6">
              <a:alphaModFix/>
            </a:blip>
            <a:stretch>
              <a:fillRect b="0" l="0" r="0" t="0"/>
            </a:stretch>
          </a:blipFill>
          <a:ln>
            <a:noFill/>
          </a:ln>
        </p:spPr>
      </p:sp>
      <p:sp>
        <p:nvSpPr>
          <p:cNvPr id="313" name="Google Shape;313;p4"/>
          <p:cNvSpPr/>
          <p:nvPr/>
        </p:nvSpPr>
        <p:spPr>
          <a:xfrm>
            <a:off x="7543674" y="8223940"/>
            <a:ext cx="1011397" cy="1041320"/>
          </a:xfrm>
          <a:custGeom>
            <a:rect b="b" l="l" r="r" t="t"/>
            <a:pathLst>
              <a:path extrusionOk="0" h="1196920" w="1196920">
                <a:moveTo>
                  <a:pt x="0" y="0"/>
                </a:moveTo>
                <a:lnTo>
                  <a:pt x="1196920" y="0"/>
                </a:lnTo>
                <a:lnTo>
                  <a:pt x="1196920" y="1196920"/>
                </a:lnTo>
                <a:lnTo>
                  <a:pt x="0" y="119692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631"/>
        </a:solidFill>
      </p:bgPr>
    </p:bg>
    <p:spTree>
      <p:nvGrpSpPr>
        <p:cNvPr id="317" name="Shape 317"/>
        <p:cNvGrpSpPr/>
        <p:nvPr/>
      </p:nvGrpSpPr>
      <p:grpSpPr>
        <a:xfrm>
          <a:off x="0" y="0"/>
          <a:ext cx="0" cy="0"/>
          <a:chOff x="0" y="0"/>
          <a:chExt cx="0" cy="0"/>
        </a:xfrm>
      </p:grpSpPr>
      <p:cxnSp>
        <p:nvCxnSpPr>
          <p:cNvPr id="318" name="Google Shape;318;p5"/>
          <p:cNvCxnSpPr/>
          <p:nvPr/>
        </p:nvCxnSpPr>
        <p:spPr>
          <a:xfrm rot="10800000">
            <a:off x="367648" y="2513637"/>
            <a:ext cx="0" cy="7027200"/>
          </a:xfrm>
          <a:prstGeom prst="straightConnector1">
            <a:avLst/>
          </a:prstGeom>
          <a:noFill/>
          <a:ln cap="flat" cmpd="sng" w="95250">
            <a:solidFill>
              <a:srgbClr val="735FE4"/>
            </a:solidFill>
            <a:prstDash val="lgDash"/>
            <a:round/>
            <a:headEnd len="sm" w="sm" type="none"/>
            <a:tailEnd len="sm" w="sm" type="none"/>
          </a:ln>
        </p:spPr>
      </p:cxnSp>
      <p:cxnSp>
        <p:nvCxnSpPr>
          <p:cNvPr id="319" name="Google Shape;319;p5"/>
          <p:cNvCxnSpPr/>
          <p:nvPr/>
        </p:nvCxnSpPr>
        <p:spPr>
          <a:xfrm rot="10800000">
            <a:off x="7805578" y="3462836"/>
            <a:ext cx="0" cy="6078000"/>
          </a:xfrm>
          <a:prstGeom prst="straightConnector1">
            <a:avLst/>
          </a:prstGeom>
          <a:noFill/>
          <a:ln cap="flat" cmpd="sng" w="95250">
            <a:solidFill>
              <a:srgbClr val="FDBD00"/>
            </a:solidFill>
            <a:prstDash val="lgDash"/>
            <a:round/>
            <a:headEnd len="sm" w="sm" type="none"/>
            <a:tailEnd len="sm" w="sm" type="none"/>
          </a:ln>
        </p:spPr>
      </p:cxnSp>
      <p:cxnSp>
        <p:nvCxnSpPr>
          <p:cNvPr id="320" name="Google Shape;320;p5"/>
          <p:cNvCxnSpPr/>
          <p:nvPr/>
        </p:nvCxnSpPr>
        <p:spPr>
          <a:xfrm rot="10800000">
            <a:off x="13915000" y="4125575"/>
            <a:ext cx="2700" cy="5484600"/>
          </a:xfrm>
          <a:prstGeom prst="straightConnector1">
            <a:avLst/>
          </a:prstGeom>
          <a:noFill/>
          <a:ln cap="flat" cmpd="sng" w="95250">
            <a:solidFill>
              <a:srgbClr val="D752B2"/>
            </a:solidFill>
            <a:prstDash val="lgDash"/>
            <a:round/>
            <a:headEnd len="sm" w="sm" type="none"/>
            <a:tailEnd len="sm" w="sm" type="none"/>
          </a:ln>
        </p:spPr>
      </p:cxnSp>
      <p:grpSp>
        <p:nvGrpSpPr>
          <p:cNvPr id="321" name="Google Shape;321;p5"/>
          <p:cNvGrpSpPr/>
          <p:nvPr/>
        </p:nvGrpSpPr>
        <p:grpSpPr>
          <a:xfrm>
            <a:off x="367648" y="2369077"/>
            <a:ext cx="6874880" cy="1084877"/>
            <a:chOff x="0" y="-38100"/>
            <a:chExt cx="1810656" cy="285727"/>
          </a:xfrm>
        </p:grpSpPr>
        <p:sp>
          <p:nvSpPr>
            <p:cNvPr id="322" name="Google Shape;322;p5"/>
            <p:cNvSpPr/>
            <p:nvPr/>
          </p:nvSpPr>
          <p:spPr>
            <a:xfrm>
              <a:off x="0" y="0"/>
              <a:ext cx="1810656" cy="247627"/>
            </a:xfrm>
            <a:custGeom>
              <a:rect b="b" l="l" r="r" t="t"/>
              <a:pathLst>
                <a:path extrusionOk="0" h="247627" w="1810656">
                  <a:moveTo>
                    <a:pt x="1607456" y="0"/>
                  </a:moveTo>
                  <a:lnTo>
                    <a:pt x="0" y="0"/>
                  </a:lnTo>
                  <a:lnTo>
                    <a:pt x="0" y="247627"/>
                  </a:lnTo>
                  <a:lnTo>
                    <a:pt x="1607456" y="247627"/>
                  </a:lnTo>
                  <a:lnTo>
                    <a:pt x="1810656" y="123813"/>
                  </a:lnTo>
                  <a:lnTo>
                    <a:pt x="1607456" y="0"/>
                  </a:lnTo>
                  <a:close/>
                </a:path>
              </a:pathLst>
            </a:custGeom>
            <a:solidFill>
              <a:srgbClr val="735FE4"/>
            </a:solidFill>
            <a:ln>
              <a:noFill/>
            </a:ln>
          </p:spPr>
        </p:sp>
        <p:sp>
          <p:nvSpPr>
            <p:cNvPr id="323" name="Google Shape;323;p5"/>
            <p:cNvSpPr txBox="1"/>
            <p:nvPr/>
          </p:nvSpPr>
          <p:spPr>
            <a:xfrm>
              <a:off x="0" y="-38100"/>
              <a:ext cx="1696356" cy="2857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4" name="Google Shape;324;p5"/>
          <p:cNvSpPr txBox="1"/>
          <p:nvPr/>
        </p:nvSpPr>
        <p:spPr>
          <a:xfrm>
            <a:off x="592753" y="2702475"/>
            <a:ext cx="2531100" cy="5541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3600"/>
              <a:buFont typeface="Arial"/>
              <a:buNone/>
            </a:pPr>
            <a:r>
              <a:rPr b="1" lang="en-US" sz="3600">
                <a:solidFill>
                  <a:srgbClr val="FFFFFF"/>
                </a:solidFill>
                <a:latin typeface="Lora"/>
                <a:ea typeface="Lora"/>
                <a:cs typeface="Lora"/>
                <a:sym typeface="Lora"/>
              </a:rPr>
              <a:t>Now</a:t>
            </a:r>
            <a:endParaRPr b="0" i="0" sz="1400" u="none" cap="none" strike="noStrike">
              <a:solidFill>
                <a:srgbClr val="000000"/>
              </a:solidFill>
              <a:latin typeface="Arial"/>
              <a:ea typeface="Arial"/>
              <a:cs typeface="Arial"/>
              <a:sym typeface="Arial"/>
            </a:endParaRPr>
          </a:p>
        </p:txBody>
      </p:sp>
      <p:grpSp>
        <p:nvGrpSpPr>
          <p:cNvPr id="325" name="Google Shape;325;p5"/>
          <p:cNvGrpSpPr/>
          <p:nvPr/>
        </p:nvGrpSpPr>
        <p:grpSpPr>
          <a:xfrm>
            <a:off x="426290" y="3980077"/>
            <a:ext cx="3392670" cy="603038"/>
            <a:chOff x="0" y="-38100"/>
            <a:chExt cx="953667" cy="258959"/>
          </a:xfrm>
        </p:grpSpPr>
        <p:sp>
          <p:nvSpPr>
            <p:cNvPr id="326" name="Google Shape;326;p5"/>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735FE4"/>
            </a:solidFill>
            <a:ln>
              <a:noFill/>
            </a:ln>
          </p:spPr>
        </p:sp>
        <p:sp>
          <p:nvSpPr>
            <p:cNvPr id="327" name="Google Shape;327;p5"/>
            <p:cNvSpPr txBox="1"/>
            <p:nvPr/>
          </p:nvSpPr>
          <p:spPr>
            <a:xfrm>
              <a:off x="0" y="-38100"/>
              <a:ext cx="839367" cy="2589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8" name="Google Shape;328;p5"/>
          <p:cNvGrpSpPr/>
          <p:nvPr/>
        </p:nvGrpSpPr>
        <p:grpSpPr>
          <a:xfrm>
            <a:off x="3361756" y="4722977"/>
            <a:ext cx="4420819" cy="603038"/>
            <a:chOff x="0" y="-38100"/>
            <a:chExt cx="953667" cy="258959"/>
          </a:xfrm>
        </p:grpSpPr>
        <p:sp>
          <p:nvSpPr>
            <p:cNvPr id="329" name="Google Shape;329;p5"/>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735FE4"/>
            </a:solidFill>
            <a:ln>
              <a:noFill/>
            </a:ln>
          </p:spPr>
        </p:sp>
        <p:sp>
          <p:nvSpPr>
            <p:cNvPr id="330" name="Google Shape;330;p5"/>
            <p:cNvSpPr txBox="1"/>
            <p:nvPr/>
          </p:nvSpPr>
          <p:spPr>
            <a:xfrm>
              <a:off x="0" y="-38100"/>
              <a:ext cx="839367" cy="2589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1" name="Google Shape;331;p5"/>
          <p:cNvSpPr txBox="1"/>
          <p:nvPr/>
        </p:nvSpPr>
        <p:spPr>
          <a:xfrm>
            <a:off x="48879" y="4150222"/>
            <a:ext cx="3702900" cy="7050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2100"/>
              <a:buFont typeface="Arial"/>
              <a:buNone/>
            </a:pPr>
            <a:r>
              <a:rPr b="1" lang="en-US" sz="2000">
                <a:solidFill>
                  <a:srgbClr val="FFFFFF"/>
                </a:solidFill>
                <a:latin typeface="Lora"/>
                <a:ea typeface="Lora"/>
                <a:cs typeface="Lora"/>
                <a:sym typeface="Lora"/>
              </a:rPr>
              <a:t>Shed cost per query</a:t>
            </a:r>
            <a:endParaRPr b="1" sz="2000">
              <a:solidFill>
                <a:srgbClr val="FFFFFF"/>
              </a:solidFill>
              <a:latin typeface="Lora"/>
              <a:ea typeface="Lora"/>
              <a:cs typeface="Lora"/>
              <a:sym typeface="Lora"/>
            </a:endParaRPr>
          </a:p>
          <a:p>
            <a:pPr indent="0" lvl="0" marL="0" marR="0" rtl="0" algn="ctr">
              <a:lnSpc>
                <a:spcPct val="124000"/>
              </a:lnSpc>
              <a:spcBef>
                <a:spcPts val="0"/>
              </a:spcBef>
              <a:spcAft>
                <a:spcPts val="0"/>
              </a:spcAft>
              <a:buClr>
                <a:srgbClr val="000000"/>
              </a:buClr>
              <a:buSzPts val="2100"/>
              <a:buFont typeface="Arial"/>
              <a:buNone/>
            </a:pPr>
            <a:r>
              <a:t/>
            </a:r>
            <a:endParaRPr b="1" sz="2100">
              <a:solidFill>
                <a:srgbClr val="FFFFFF"/>
              </a:solidFill>
              <a:latin typeface="Lora"/>
              <a:ea typeface="Lora"/>
              <a:cs typeface="Lora"/>
              <a:sym typeface="Lora"/>
            </a:endParaRPr>
          </a:p>
        </p:txBody>
      </p:sp>
      <p:sp>
        <p:nvSpPr>
          <p:cNvPr id="332" name="Google Shape;332;p5"/>
          <p:cNvSpPr txBox="1"/>
          <p:nvPr/>
        </p:nvSpPr>
        <p:spPr>
          <a:xfrm>
            <a:off x="3371918" y="4893147"/>
            <a:ext cx="4046700" cy="7050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2100"/>
              <a:buFont typeface="Arial"/>
              <a:buNone/>
            </a:pPr>
            <a:r>
              <a:rPr b="1" lang="en-US" sz="2000">
                <a:solidFill>
                  <a:srgbClr val="FFFFFF"/>
                </a:solidFill>
                <a:latin typeface="Lora"/>
                <a:ea typeface="Lora"/>
                <a:cs typeface="Lora"/>
                <a:sym typeface="Lora"/>
              </a:rPr>
              <a:t>Request emergency headroom</a:t>
            </a:r>
            <a:endParaRPr b="1" sz="2000">
              <a:solidFill>
                <a:srgbClr val="FFFFFF"/>
              </a:solidFill>
              <a:latin typeface="Lora"/>
              <a:ea typeface="Lora"/>
              <a:cs typeface="Lora"/>
              <a:sym typeface="Lora"/>
            </a:endParaRPr>
          </a:p>
          <a:p>
            <a:pPr indent="0" lvl="0" marL="0" marR="0" rtl="0" algn="ctr">
              <a:lnSpc>
                <a:spcPct val="124000"/>
              </a:lnSpc>
              <a:spcBef>
                <a:spcPts val="0"/>
              </a:spcBef>
              <a:spcAft>
                <a:spcPts val="0"/>
              </a:spcAft>
              <a:buClr>
                <a:srgbClr val="000000"/>
              </a:buClr>
              <a:buSzPts val="2100"/>
              <a:buFont typeface="Arial"/>
              <a:buNone/>
            </a:pPr>
            <a:r>
              <a:t/>
            </a:r>
            <a:endParaRPr b="1" sz="2100">
              <a:solidFill>
                <a:srgbClr val="FFFFFF"/>
              </a:solidFill>
              <a:latin typeface="Lora"/>
              <a:ea typeface="Lora"/>
              <a:cs typeface="Lora"/>
              <a:sym typeface="Lora"/>
            </a:endParaRPr>
          </a:p>
        </p:txBody>
      </p:sp>
      <p:sp>
        <p:nvSpPr>
          <p:cNvPr id="333" name="Google Shape;333;p5"/>
          <p:cNvSpPr txBox="1"/>
          <p:nvPr/>
        </p:nvSpPr>
        <p:spPr>
          <a:xfrm>
            <a:off x="546465" y="5025791"/>
            <a:ext cx="2531100" cy="2486100"/>
          </a:xfrm>
          <a:prstGeom prst="rect">
            <a:avLst/>
          </a:prstGeom>
          <a:noFill/>
          <a:ln>
            <a:noFill/>
          </a:ln>
        </p:spPr>
        <p:txBody>
          <a:bodyPr anchorCtr="0" anchor="t" bIns="0" lIns="0" spcFirstLastPara="1" rIns="0" wrap="square" tIns="0">
            <a:spAutoFit/>
          </a:bodyPr>
          <a:lstStyle/>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Temporarily disable the most expensive optional features (RGA, heavy personalization)</a:t>
            </a:r>
            <a:endParaRPr sz="1599">
              <a:solidFill>
                <a:srgbClr val="FFFFFF"/>
              </a:solidFill>
              <a:latin typeface="Roboto"/>
              <a:ea typeface="Roboto"/>
              <a:cs typeface="Roboto"/>
              <a:sym typeface="Roboto"/>
            </a:endParaRPr>
          </a:p>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Trade some experience richness for stability until the cause is confirmed.</a:t>
            </a:r>
            <a:endParaRPr sz="1599">
              <a:solidFill>
                <a:srgbClr val="FFFFFF"/>
              </a:solidFill>
              <a:latin typeface="Roboto"/>
              <a:ea typeface="Roboto"/>
              <a:cs typeface="Roboto"/>
              <a:sym typeface="Roboto"/>
            </a:endParaRPr>
          </a:p>
        </p:txBody>
      </p:sp>
      <p:sp>
        <p:nvSpPr>
          <p:cNvPr id="334" name="Google Shape;334;p5"/>
          <p:cNvSpPr txBox="1"/>
          <p:nvPr/>
        </p:nvSpPr>
        <p:spPr>
          <a:xfrm>
            <a:off x="3608124" y="5689450"/>
            <a:ext cx="3303600" cy="2166300"/>
          </a:xfrm>
          <a:prstGeom prst="rect">
            <a:avLst/>
          </a:prstGeom>
          <a:noFill/>
          <a:ln>
            <a:noFill/>
          </a:ln>
        </p:spPr>
        <p:txBody>
          <a:bodyPr anchorCtr="0" anchor="t" bIns="0" lIns="0" spcFirstLastPara="1" rIns="0" wrap="square" tIns="0">
            <a:spAutoFit/>
          </a:bodyPr>
          <a:lstStyle/>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If quota exhaustion is even a plausible hypothesis, engage Coveo infrastructure to raise the organization’s limits immediately rather than waiting for full confirmation</a:t>
            </a:r>
            <a:endParaRPr sz="1599">
              <a:solidFill>
                <a:srgbClr val="FFFFFF"/>
              </a:solidFill>
              <a:latin typeface="Roboto"/>
              <a:ea typeface="Roboto"/>
              <a:cs typeface="Roboto"/>
              <a:sym typeface="Roboto"/>
            </a:endParaRPr>
          </a:p>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Cheap to try, fast to reverse.</a:t>
            </a:r>
            <a:endParaRPr sz="1599">
              <a:solidFill>
                <a:srgbClr val="FFFFFF"/>
              </a:solidFill>
              <a:latin typeface="Roboto"/>
              <a:ea typeface="Roboto"/>
              <a:cs typeface="Roboto"/>
              <a:sym typeface="Roboto"/>
            </a:endParaRPr>
          </a:p>
        </p:txBody>
      </p:sp>
      <p:grpSp>
        <p:nvGrpSpPr>
          <p:cNvPr id="335" name="Google Shape;335;p5"/>
          <p:cNvGrpSpPr/>
          <p:nvPr/>
        </p:nvGrpSpPr>
        <p:grpSpPr>
          <a:xfrm>
            <a:off x="7746932" y="2958244"/>
            <a:ext cx="4512722" cy="1084877"/>
            <a:chOff x="0" y="-38100"/>
            <a:chExt cx="1188528" cy="285727"/>
          </a:xfrm>
        </p:grpSpPr>
        <p:sp>
          <p:nvSpPr>
            <p:cNvPr id="336" name="Google Shape;336;p5"/>
            <p:cNvSpPr/>
            <p:nvPr/>
          </p:nvSpPr>
          <p:spPr>
            <a:xfrm>
              <a:off x="0" y="0"/>
              <a:ext cx="1188528" cy="247627"/>
            </a:xfrm>
            <a:custGeom>
              <a:rect b="b" l="l" r="r" t="t"/>
              <a:pathLst>
                <a:path extrusionOk="0" h="247627" w="1188528">
                  <a:moveTo>
                    <a:pt x="985328" y="0"/>
                  </a:moveTo>
                  <a:lnTo>
                    <a:pt x="0" y="0"/>
                  </a:lnTo>
                  <a:lnTo>
                    <a:pt x="0" y="247627"/>
                  </a:lnTo>
                  <a:lnTo>
                    <a:pt x="985328" y="247627"/>
                  </a:lnTo>
                  <a:lnTo>
                    <a:pt x="1188528" y="123813"/>
                  </a:lnTo>
                  <a:lnTo>
                    <a:pt x="985328" y="0"/>
                  </a:lnTo>
                  <a:close/>
                </a:path>
              </a:pathLst>
            </a:custGeom>
            <a:solidFill>
              <a:srgbClr val="FDBD00"/>
            </a:solidFill>
            <a:ln>
              <a:noFill/>
            </a:ln>
          </p:spPr>
        </p:sp>
        <p:sp>
          <p:nvSpPr>
            <p:cNvPr id="337" name="Google Shape;337;p5"/>
            <p:cNvSpPr txBox="1"/>
            <p:nvPr/>
          </p:nvSpPr>
          <p:spPr>
            <a:xfrm>
              <a:off x="0" y="-38100"/>
              <a:ext cx="1074228" cy="2857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8" name="Google Shape;338;p5"/>
          <p:cNvSpPr txBox="1"/>
          <p:nvPr/>
        </p:nvSpPr>
        <p:spPr>
          <a:xfrm>
            <a:off x="7972037" y="3291641"/>
            <a:ext cx="2531100" cy="5541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3600"/>
              <a:buFont typeface="Arial"/>
              <a:buNone/>
            </a:pPr>
            <a:r>
              <a:rPr b="1" lang="en-US" sz="3600">
                <a:solidFill>
                  <a:srgbClr val="FFFFFF"/>
                </a:solidFill>
                <a:latin typeface="Lora"/>
                <a:ea typeface="Lora"/>
                <a:cs typeface="Lora"/>
                <a:sym typeface="Lora"/>
              </a:rPr>
              <a:t>&lt; 30 mins</a:t>
            </a:r>
            <a:endParaRPr b="0" i="0" sz="1400" u="none" cap="none" strike="noStrike">
              <a:solidFill>
                <a:srgbClr val="000000"/>
              </a:solidFill>
              <a:latin typeface="Arial"/>
              <a:ea typeface="Arial"/>
              <a:cs typeface="Arial"/>
              <a:sym typeface="Arial"/>
            </a:endParaRPr>
          </a:p>
        </p:txBody>
      </p:sp>
      <p:grpSp>
        <p:nvGrpSpPr>
          <p:cNvPr id="339" name="Google Shape;339;p5"/>
          <p:cNvGrpSpPr/>
          <p:nvPr/>
        </p:nvGrpSpPr>
        <p:grpSpPr>
          <a:xfrm>
            <a:off x="7876751" y="5070973"/>
            <a:ext cx="3303598" cy="603038"/>
            <a:chOff x="0" y="-38100"/>
            <a:chExt cx="953667" cy="258959"/>
          </a:xfrm>
        </p:grpSpPr>
        <p:sp>
          <p:nvSpPr>
            <p:cNvPr id="340" name="Google Shape;340;p5"/>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FDBD00"/>
            </a:solidFill>
            <a:ln>
              <a:noFill/>
            </a:ln>
          </p:spPr>
        </p:sp>
        <p:sp>
          <p:nvSpPr>
            <p:cNvPr id="341" name="Google Shape;341;p5"/>
            <p:cNvSpPr txBox="1"/>
            <p:nvPr/>
          </p:nvSpPr>
          <p:spPr>
            <a:xfrm>
              <a:off x="0" y="-38100"/>
              <a:ext cx="839367" cy="2589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2" name="Google Shape;342;p5"/>
          <p:cNvGrpSpPr/>
          <p:nvPr/>
        </p:nvGrpSpPr>
        <p:grpSpPr>
          <a:xfrm>
            <a:off x="10442265" y="5858698"/>
            <a:ext cx="3303598" cy="603038"/>
            <a:chOff x="0" y="-38100"/>
            <a:chExt cx="953667" cy="258959"/>
          </a:xfrm>
        </p:grpSpPr>
        <p:sp>
          <p:nvSpPr>
            <p:cNvPr id="343" name="Google Shape;343;p5"/>
            <p:cNvSpPr/>
            <p:nvPr/>
          </p:nvSpPr>
          <p:spPr>
            <a:xfrm>
              <a:off x="0" y="0"/>
              <a:ext cx="953667" cy="220859"/>
            </a:xfrm>
            <a:custGeom>
              <a:rect b="b" l="l" r="r" t="t"/>
              <a:pathLst>
                <a:path extrusionOk="0" h="220859" w="953667">
                  <a:moveTo>
                    <a:pt x="750467" y="0"/>
                  </a:moveTo>
                  <a:lnTo>
                    <a:pt x="0" y="0"/>
                  </a:lnTo>
                  <a:lnTo>
                    <a:pt x="0" y="220859"/>
                  </a:lnTo>
                  <a:lnTo>
                    <a:pt x="750467" y="220859"/>
                  </a:lnTo>
                  <a:lnTo>
                    <a:pt x="953667" y="110429"/>
                  </a:lnTo>
                  <a:lnTo>
                    <a:pt x="750467" y="0"/>
                  </a:lnTo>
                  <a:close/>
                </a:path>
              </a:pathLst>
            </a:custGeom>
            <a:solidFill>
              <a:srgbClr val="FDBD00"/>
            </a:solidFill>
            <a:ln>
              <a:noFill/>
            </a:ln>
          </p:spPr>
        </p:sp>
        <p:sp>
          <p:nvSpPr>
            <p:cNvPr id="344" name="Google Shape;344;p5"/>
            <p:cNvSpPr txBox="1"/>
            <p:nvPr/>
          </p:nvSpPr>
          <p:spPr>
            <a:xfrm>
              <a:off x="0" y="-38100"/>
              <a:ext cx="839367" cy="2589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5" name="Google Shape;345;p5"/>
          <p:cNvSpPr txBox="1"/>
          <p:nvPr/>
        </p:nvSpPr>
        <p:spPr>
          <a:xfrm>
            <a:off x="7566560" y="5227675"/>
            <a:ext cx="3634800" cy="7242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2100"/>
              <a:buFont typeface="Arial"/>
              <a:buNone/>
            </a:pPr>
            <a:r>
              <a:rPr b="1" lang="en-US" sz="2100">
                <a:solidFill>
                  <a:srgbClr val="FFFFFF"/>
                </a:solidFill>
                <a:latin typeface="Lora"/>
                <a:ea typeface="Lora"/>
                <a:cs typeface="Lora"/>
                <a:sym typeface="Lora"/>
              </a:rPr>
              <a:t>Cut self-inflicted load</a:t>
            </a:r>
            <a:endParaRPr b="1" sz="2100">
              <a:solidFill>
                <a:srgbClr val="FFFFFF"/>
              </a:solidFill>
              <a:latin typeface="Lora"/>
              <a:ea typeface="Lora"/>
              <a:cs typeface="Lora"/>
              <a:sym typeface="Lora"/>
            </a:endParaRPr>
          </a:p>
          <a:p>
            <a:pPr indent="0" lvl="0" marL="0" marR="0" rtl="0" algn="ctr">
              <a:lnSpc>
                <a:spcPct val="124000"/>
              </a:lnSpc>
              <a:spcBef>
                <a:spcPts val="0"/>
              </a:spcBef>
              <a:spcAft>
                <a:spcPts val="0"/>
              </a:spcAft>
              <a:buClr>
                <a:srgbClr val="000000"/>
              </a:buClr>
              <a:buSzPts val="2100"/>
              <a:buFont typeface="Arial"/>
              <a:buNone/>
            </a:pPr>
            <a:r>
              <a:t/>
            </a:r>
            <a:endParaRPr b="1" sz="2100">
              <a:solidFill>
                <a:srgbClr val="FFFFFF"/>
              </a:solidFill>
              <a:latin typeface="Lora"/>
              <a:ea typeface="Lora"/>
              <a:cs typeface="Lora"/>
              <a:sym typeface="Lora"/>
            </a:endParaRPr>
          </a:p>
        </p:txBody>
      </p:sp>
      <p:sp>
        <p:nvSpPr>
          <p:cNvPr id="346" name="Google Shape;346;p5"/>
          <p:cNvSpPr txBox="1"/>
          <p:nvPr/>
        </p:nvSpPr>
        <p:spPr>
          <a:xfrm>
            <a:off x="10132090" y="6015400"/>
            <a:ext cx="3634800" cy="7242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2100"/>
              <a:buFont typeface="Arial"/>
              <a:buNone/>
            </a:pPr>
            <a:r>
              <a:rPr b="1" lang="en-US" sz="2100">
                <a:solidFill>
                  <a:srgbClr val="FFFFFF"/>
                </a:solidFill>
                <a:latin typeface="Lora"/>
                <a:ea typeface="Lora"/>
                <a:cs typeface="Lora"/>
                <a:sym typeface="Lora"/>
              </a:rPr>
              <a:t>Defer competing jobs</a:t>
            </a:r>
            <a:endParaRPr b="1" sz="2100">
              <a:solidFill>
                <a:srgbClr val="FFFFFF"/>
              </a:solidFill>
              <a:latin typeface="Lora"/>
              <a:ea typeface="Lora"/>
              <a:cs typeface="Lora"/>
              <a:sym typeface="Lora"/>
            </a:endParaRPr>
          </a:p>
          <a:p>
            <a:pPr indent="0" lvl="0" marL="0" marR="0" rtl="0" algn="ctr">
              <a:lnSpc>
                <a:spcPct val="124000"/>
              </a:lnSpc>
              <a:spcBef>
                <a:spcPts val="0"/>
              </a:spcBef>
              <a:spcAft>
                <a:spcPts val="0"/>
              </a:spcAft>
              <a:buClr>
                <a:srgbClr val="000000"/>
              </a:buClr>
              <a:buSzPts val="2100"/>
              <a:buFont typeface="Arial"/>
              <a:buNone/>
            </a:pPr>
            <a:r>
              <a:t/>
            </a:r>
            <a:endParaRPr b="1" sz="2100">
              <a:solidFill>
                <a:srgbClr val="FFFFFF"/>
              </a:solidFill>
              <a:latin typeface="Lora"/>
              <a:ea typeface="Lora"/>
              <a:cs typeface="Lora"/>
              <a:sym typeface="Lora"/>
            </a:endParaRPr>
          </a:p>
        </p:txBody>
      </p:sp>
      <p:sp>
        <p:nvSpPr>
          <p:cNvPr id="347" name="Google Shape;347;p5"/>
          <p:cNvSpPr txBox="1"/>
          <p:nvPr/>
        </p:nvSpPr>
        <p:spPr>
          <a:xfrm>
            <a:off x="7876754" y="5923950"/>
            <a:ext cx="2398500" cy="2166300"/>
          </a:xfrm>
          <a:prstGeom prst="rect">
            <a:avLst/>
          </a:prstGeom>
          <a:noFill/>
          <a:ln>
            <a:noFill/>
          </a:ln>
        </p:spPr>
        <p:txBody>
          <a:bodyPr anchorCtr="0" anchor="t" bIns="0" lIns="0" spcFirstLastPara="1" rIns="0" wrap="square" tIns="0">
            <a:spAutoFit/>
          </a:bodyPr>
          <a:lstStyle/>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If client-side request patterns are contributing, work with the customer’s team to add debounce/throttling on their end</a:t>
            </a:r>
            <a:endParaRPr sz="1599">
              <a:solidFill>
                <a:srgbClr val="FFFFFF"/>
              </a:solidFill>
              <a:latin typeface="Roboto"/>
              <a:ea typeface="Roboto"/>
              <a:cs typeface="Roboto"/>
              <a:sym typeface="Roboto"/>
            </a:endParaRPr>
          </a:p>
        </p:txBody>
      </p:sp>
      <p:sp>
        <p:nvSpPr>
          <p:cNvPr id="348" name="Google Shape;348;p5"/>
          <p:cNvSpPr txBox="1"/>
          <p:nvPr/>
        </p:nvSpPr>
        <p:spPr>
          <a:xfrm>
            <a:off x="10442265" y="6672775"/>
            <a:ext cx="2709000" cy="1846200"/>
          </a:xfrm>
          <a:prstGeom prst="rect">
            <a:avLst/>
          </a:prstGeom>
          <a:noFill/>
          <a:ln>
            <a:noFill/>
          </a:ln>
        </p:spPr>
        <p:txBody>
          <a:bodyPr anchorCtr="0" anchor="t" bIns="0" lIns="0" spcFirstLastPara="1" rIns="0" wrap="square" tIns="0">
            <a:spAutoFit/>
          </a:bodyPr>
          <a:lstStyle/>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Pause any index rebuild or model retrain scheduled for the org until traffic normalizes, so the platform isn’t competing with itself for resources.</a:t>
            </a:r>
            <a:endParaRPr sz="1599">
              <a:solidFill>
                <a:srgbClr val="FFFFFF"/>
              </a:solidFill>
              <a:latin typeface="Roboto"/>
              <a:ea typeface="Roboto"/>
              <a:cs typeface="Roboto"/>
              <a:sym typeface="Roboto"/>
            </a:endParaRPr>
          </a:p>
        </p:txBody>
      </p:sp>
      <p:grpSp>
        <p:nvGrpSpPr>
          <p:cNvPr id="349" name="Google Shape;349;p5"/>
          <p:cNvGrpSpPr/>
          <p:nvPr/>
        </p:nvGrpSpPr>
        <p:grpSpPr>
          <a:xfrm>
            <a:off x="13856429" y="3621045"/>
            <a:ext cx="4512722" cy="1084877"/>
            <a:chOff x="0" y="-38100"/>
            <a:chExt cx="1188528" cy="285727"/>
          </a:xfrm>
        </p:grpSpPr>
        <p:sp>
          <p:nvSpPr>
            <p:cNvPr id="350" name="Google Shape;350;p5"/>
            <p:cNvSpPr/>
            <p:nvPr/>
          </p:nvSpPr>
          <p:spPr>
            <a:xfrm>
              <a:off x="0" y="0"/>
              <a:ext cx="1188528" cy="247627"/>
            </a:xfrm>
            <a:custGeom>
              <a:rect b="b" l="l" r="r" t="t"/>
              <a:pathLst>
                <a:path extrusionOk="0" h="247627" w="1188528">
                  <a:moveTo>
                    <a:pt x="985328" y="0"/>
                  </a:moveTo>
                  <a:lnTo>
                    <a:pt x="0" y="0"/>
                  </a:lnTo>
                  <a:lnTo>
                    <a:pt x="0" y="247627"/>
                  </a:lnTo>
                  <a:lnTo>
                    <a:pt x="985328" y="247627"/>
                  </a:lnTo>
                  <a:lnTo>
                    <a:pt x="1188528" y="123813"/>
                  </a:lnTo>
                  <a:lnTo>
                    <a:pt x="985328" y="0"/>
                  </a:lnTo>
                  <a:close/>
                </a:path>
              </a:pathLst>
            </a:custGeom>
            <a:solidFill>
              <a:srgbClr val="D752B2"/>
            </a:solidFill>
            <a:ln>
              <a:noFill/>
            </a:ln>
          </p:spPr>
        </p:sp>
        <p:sp>
          <p:nvSpPr>
            <p:cNvPr id="351" name="Google Shape;351;p5"/>
            <p:cNvSpPr txBox="1"/>
            <p:nvPr/>
          </p:nvSpPr>
          <p:spPr>
            <a:xfrm>
              <a:off x="0" y="-38100"/>
              <a:ext cx="1074228" cy="28572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2" name="Google Shape;352;p5"/>
          <p:cNvSpPr txBox="1"/>
          <p:nvPr/>
        </p:nvSpPr>
        <p:spPr>
          <a:xfrm>
            <a:off x="14081534" y="3954443"/>
            <a:ext cx="2531100" cy="5541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3600"/>
              <a:buFont typeface="Arial"/>
              <a:buNone/>
            </a:pPr>
            <a:r>
              <a:rPr b="1" lang="en-US" sz="3600">
                <a:solidFill>
                  <a:srgbClr val="FFFFFF"/>
                </a:solidFill>
                <a:latin typeface="Lora"/>
                <a:ea typeface="Lora"/>
                <a:cs typeface="Lora"/>
                <a:sym typeface="Lora"/>
              </a:rPr>
              <a:t>Ongoing</a:t>
            </a:r>
            <a:endParaRPr b="0" i="0" sz="1400" u="none" cap="none" strike="noStrike">
              <a:solidFill>
                <a:srgbClr val="000000"/>
              </a:solidFill>
              <a:latin typeface="Arial"/>
              <a:ea typeface="Arial"/>
              <a:cs typeface="Arial"/>
              <a:sym typeface="Arial"/>
            </a:endParaRPr>
          </a:p>
        </p:txBody>
      </p:sp>
      <p:grpSp>
        <p:nvGrpSpPr>
          <p:cNvPr id="353" name="Google Shape;353;p5"/>
          <p:cNvGrpSpPr/>
          <p:nvPr/>
        </p:nvGrpSpPr>
        <p:grpSpPr>
          <a:xfrm>
            <a:off x="13982129" y="6408862"/>
            <a:ext cx="4065305" cy="603038"/>
            <a:chOff x="0" y="-38100"/>
            <a:chExt cx="1745740" cy="258959"/>
          </a:xfrm>
        </p:grpSpPr>
        <p:sp>
          <p:nvSpPr>
            <p:cNvPr id="354" name="Google Shape;354;p5"/>
            <p:cNvSpPr/>
            <p:nvPr/>
          </p:nvSpPr>
          <p:spPr>
            <a:xfrm>
              <a:off x="0" y="0"/>
              <a:ext cx="1745740" cy="220859"/>
            </a:xfrm>
            <a:custGeom>
              <a:rect b="b" l="l" r="r" t="t"/>
              <a:pathLst>
                <a:path extrusionOk="0" h="220859" w="1745740">
                  <a:moveTo>
                    <a:pt x="1542540" y="0"/>
                  </a:moveTo>
                  <a:lnTo>
                    <a:pt x="0" y="0"/>
                  </a:lnTo>
                  <a:lnTo>
                    <a:pt x="0" y="220859"/>
                  </a:lnTo>
                  <a:lnTo>
                    <a:pt x="1542540" y="220859"/>
                  </a:lnTo>
                  <a:lnTo>
                    <a:pt x="1745740" y="110429"/>
                  </a:lnTo>
                  <a:lnTo>
                    <a:pt x="1542540" y="0"/>
                  </a:lnTo>
                  <a:close/>
                </a:path>
              </a:pathLst>
            </a:custGeom>
            <a:solidFill>
              <a:srgbClr val="D752B2"/>
            </a:solidFill>
            <a:ln>
              <a:noFill/>
            </a:ln>
          </p:spPr>
        </p:sp>
        <p:sp>
          <p:nvSpPr>
            <p:cNvPr id="355" name="Google Shape;355;p5"/>
            <p:cNvSpPr txBox="1"/>
            <p:nvPr/>
          </p:nvSpPr>
          <p:spPr>
            <a:xfrm>
              <a:off x="0" y="-38100"/>
              <a:ext cx="1631440" cy="2589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6" name="Google Shape;356;p5"/>
          <p:cNvSpPr txBox="1"/>
          <p:nvPr/>
        </p:nvSpPr>
        <p:spPr>
          <a:xfrm>
            <a:off x="13824347" y="6592477"/>
            <a:ext cx="4226100" cy="3231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2100"/>
              <a:buFont typeface="Arial"/>
              <a:buNone/>
            </a:pPr>
            <a:r>
              <a:rPr b="1" lang="en-US" sz="2100">
                <a:solidFill>
                  <a:srgbClr val="FFFFFF"/>
                </a:solidFill>
                <a:latin typeface="Lora"/>
                <a:ea typeface="Lora"/>
                <a:cs typeface="Lora"/>
                <a:sym typeface="Lora"/>
              </a:rPr>
              <a:t>live bridge with the customer</a:t>
            </a:r>
            <a:endParaRPr b="0" i="0" sz="1400" u="none" cap="none" strike="noStrike">
              <a:solidFill>
                <a:srgbClr val="000000"/>
              </a:solidFill>
              <a:latin typeface="Arial"/>
              <a:ea typeface="Arial"/>
              <a:cs typeface="Arial"/>
              <a:sym typeface="Arial"/>
            </a:endParaRPr>
          </a:p>
        </p:txBody>
      </p:sp>
      <p:sp>
        <p:nvSpPr>
          <p:cNvPr id="357" name="Google Shape;357;p5"/>
          <p:cNvSpPr txBox="1"/>
          <p:nvPr/>
        </p:nvSpPr>
        <p:spPr>
          <a:xfrm>
            <a:off x="13982122" y="7261850"/>
            <a:ext cx="3702900" cy="1846200"/>
          </a:xfrm>
          <a:prstGeom prst="rect">
            <a:avLst/>
          </a:prstGeom>
          <a:noFill/>
          <a:ln>
            <a:noFill/>
          </a:ln>
        </p:spPr>
        <p:txBody>
          <a:bodyPr anchorCtr="0" anchor="t" bIns="0" lIns="0" spcFirstLastPara="1" rIns="0" wrap="square" tIns="0">
            <a:spAutoFit/>
          </a:bodyPr>
          <a:lstStyle/>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A standing call or channel with the customer’s technical team for the duration of the S1 issue</a:t>
            </a:r>
            <a:endParaRPr sz="1599">
              <a:solidFill>
                <a:srgbClr val="FFFFFF"/>
              </a:solidFill>
              <a:latin typeface="Roboto"/>
              <a:ea typeface="Roboto"/>
              <a:cs typeface="Roboto"/>
              <a:sym typeface="Roboto"/>
            </a:endParaRPr>
          </a:p>
          <a:p>
            <a:pPr indent="-172720" lvl="1" marL="345439" marR="0" rtl="0" algn="l">
              <a:lnSpc>
                <a:spcPct val="130018"/>
              </a:lnSpc>
              <a:spcBef>
                <a:spcPts val="0"/>
              </a:spcBef>
              <a:spcAft>
                <a:spcPts val="0"/>
              </a:spcAft>
              <a:buClr>
                <a:srgbClr val="FFFFFF"/>
              </a:buClr>
              <a:buSzPts val="1599"/>
              <a:buFont typeface="Arial"/>
              <a:buChar char="•"/>
            </a:pPr>
            <a:r>
              <a:rPr lang="en-US" sz="1599">
                <a:solidFill>
                  <a:srgbClr val="FFFFFF"/>
                </a:solidFill>
                <a:latin typeface="Roboto"/>
                <a:ea typeface="Roboto"/>
                <a:cs typeface="Roboto"/>
                <a:sym typeface="Roboto"/>
              </a:rPr>
              <a:t>Faster than round-tripping through tickets while things are actively changing.</a:t>
            </a:r>
            <a:endParaRPr sz="1599">
              <a:solidFill>
                <a:srgbClr val="FFFFFF"/>
              </a:solidFill>
              <a:latin typeface="Roboto"/>
              <a:ea typeface="Roboto"/>
              <a:cs typeface="Roboto"/>
              <a:sym typeface="Roboto"/>
            </a:endParaRPr>
          </a:p>
        </p:txBody>
      </p:sp>
      <p:sp>
        <p:nvSpPr>
          <p:cNvPr id="358" name="Google Shape;358;p5"/>
          <p:cNvSpPr txBox="1"/>
          <p:nvPr/>
        </p:nvSpPr>
        <p:spPr>
          <a:xfrm>
            <a:off x="1149750" y="198543"/>
            <a:ext cx="159885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Short Term Remediation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f683cc5795_0_213"/>
          <p:cNvSpPr txBox="1"/>
          <p:nvPr/>
        </p:nvSpPr>
        <p:spPr>
          <a:xfrm>
            <a:off x="94128" y="485413"/>
            <a:ext cx="181266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Communication to Leadership</a:t>
            </a:r>
            <a:endParaRPr b="0" i="0" sz="1400" u="none" cap="none" strike="noStrike">
              <a:solidFill>
                <a:srgbClr val="000000"/>
              </a:solidFill>
              <a:latin typeface="Arial"/>
              <a:ea typeface="Arial"/>
              <a:cs typeface="Arial"/>
              <a:sym typeface="Arial"/>
            </a:endParaRPr>
          </a:p>
        </p:txBody>
      </p:sp>
      <p:sp>
        <p:nvSpPr>
          <p:cNvPr id="364" name="Google Shape;364;g3f683cc5795_0_213"/>
          <p:cNvSpPr/>
          <p:nvPr/>
        </p:nvSpPr>
        <p:spPr>
          <a:xfrm>
            <a:off x="365303" y="2064135"/>
            <a:ext cx="8940000" cy="4054200"/>
          </a:xfrm>
          <a:prstGeom prst="roundRect">
            <a:avLst>
              <a:gd fmla="val 16667" name="adj"/>
            </a:avLst>
          </a:prstGeom>
          <a:solidFill>
            <a:schemeClr val="lt1"/>
          </a:solidFill>
          <a:ln cap="flat" cmpd="sng" w="76200">
            <a:solidFill>
              <a:srgbClr val="735FE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5" name="Google Shape;365;g3f683cc5795_0_213"/>
          <p:cNvSpPr txBox="1"/>
          <p:nvPr/>
        </p:nvSpPr>
        <p:spPr>
          <a:xfrm>
            <a:off x="1556342" y="2498309"/>
            <a:ext cx="6558000" cy="53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735FE4"/>
                </a:solidFill>
                <a:latin typeface="Lora"/>
                <a:ea typeface="Lora"/>
                <a:cs typeface="Lora"/>
                <a:sym typeface="Lora"/>
              </a:rPr>
              <a:t>Internal (Coveo Leadership)</a:t>
            </a:r>
            <a:endParaRPr b="1" sz="2500">
              <a:solidFill>
                <a:srgbClr val="735FE4"/>
              </a:solidFill>
              <a:latin typeface="Lora"/>
              <a:ea typeface="Lora"/>
              <a:cs typeface="Lora"/>
              <a:sym typeface="Lora"/>
            </a:endParaRPr>
          </a:p>
        </p:txBody>
      </p:sp>
      <p:sp>
        <p:nvSpPr>
          <p:cNvPr id="366" name="Google Shape;366;g3f683cc5795_0_213"/>
          <p:cNvSpPr txBox="1"/>
          <p:nvPr/>
        </p:nvSpPr>
        <p:spPr>
          <a:xfrm>
            <a:off x="1269113" y="3362492"/>
            <a:ext cx="7132500" cy="2220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First update within 15 minutes of Sev-1 being declared, then every 30-60 minutes until stable</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Single source of truth: the Incident Commander owns the update, not multiple engineers posting in parallel</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Always includes: business impact, current hypothesis status (confirmed vs. still investigating), mitigations in flight, next update time</a:t>
            </a:r>
            <a:endParaRPr sz="1600">
              <a:solidFill>
                <a:schemeClr val="dk1"/>
              </a:solidFill>
              <a:latin typeface="Roboto"/>
              <a:ea typeface="Roboto"/>
              <a:cs typeface="Roboto"/>
              <a:sym typeface="Roboto"/>
            </a:endParaRPr>
          </a:p>
        </p:txBody>
      </p:sp>
      <p:sp>
        <p:nvSpPr>
          <p:cNvPr id="367" name="Google Shape;367;g3f683cc5795_0_213"/>
          <p:cNvSpPr/>
          <p:nvPr/>
        </p:nvSpPr>
        <p:spPr>
          <a:xfrm>
            <a:off x="8885697" y="5963791"/>
            <a:ext cx="9043200" cy="4054200"/>
          </a:xfrm>
          <a:prstGeom prst="roundRect">
            <a:avLst>
              <a:gd fmla="val 16667" name="adj"/>
            </a:avLst>
          </a:prstGeom>
          <a:solidFill>
            <a:schemeClr val="lt1"/>
          </a:solidFill>
          <a:ln cap="flat" cmpd="sng" w="76200">
            <a:solidFill>
              <a:srgbClr val="FDBD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8" name="Google Shape;368;g3f683cc5795_0_213"/>
          <p:cNvSpPr txBox="1"/>
          <p:nvPr/>
        </p:nvSpPr>
        <p:spPr>
          <a:xfrm>
            <a:off x="10090476" y="6372206"/>
            <a:ext cx="6633600" cy="50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FDBD00"/>
                </a:solidFill>
                <a:latin typeface="Lora"/>
                <a:ea typeface="Lora"/>
                <a:cs typeface="Lora"/>
                <a:sym typeface="Lora"/>
              </a:rPr>
              <a:t>Customer Leadership / Execs</a:t>
            </a:r>
            <a:endParaRPr b="1" sz="2500">
              <a:solidFill>
                <a:srgbClr val="FDBD00"/>
              </a:solidFill>
              <a:latin typeface="Lora"/>
              <a:ea typeface="Lora"/>
              <a:cs typeface="Lora"/>
              <a:sym typeface="Lora"/>
            </a:endParaRPr>
          </a:p>
        </p:txBody>
      </p:sp>
      <p:sp>
        <p:nvSpPr>
          <p:cNvPr id="369" name="Google Shape;369;g3f683cc5795_0_213"/>
          <p:cNvSpPr txBox="1"/>
          <p:nvPr/>
        </p:nvSpPr>
        <p:spPr>
          <a:xfrm>
            <a:off x="9799933" y="7185117"/>
            <a:ext cx="7214700" cy="2508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Owned by Customer Success/Account leadership, not engineering </a:t>
            </a:r>
            <a:endParaRPr sz="1600">
              <a:solidFill>
                <a:schemeClr val="dk1"/>
              </a:solidFill>
              <a:latin typeface="Roboto"/>
              <a:ea typeface="Roboto"/>
              <a:cs typeface="Roboto"/>
              <a:sym typeface="Roboto"/>
            </a:endParaRPr>
          </a:p>
          <a:p>
            <a:pPr indent="-330200" lvl="1" marL="9144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one relationship, one voice, even though engineering supplies the facts</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Business-impact-first, plain language</a:t>
            </a:r>
            <a:endParaRPr sz="1600">
              <a:solidFill>
                <a:schemeClr val="dk1"/>
              </a:solidFill>
              <a:latin typeface="Roboto"/>
              <a:ea typeface="Roboto"/>
              <a:cs typeface="Roboto"/>
              <a:sym typeface="Roboto"/>
            </a:endParaRPr>
          </a:p>
          <a:p>
            <a:pPr indent="-330200" lvl="1" marL="9144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no internal jargon, no speculation stated as fact</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Always paired with a concrete next-update commitment, and a pointer to Coveo’s public status page for real-time visibility</a:t>
            </a:r>
            <a:endParaRPr sz="1600">
              <a:solidFill>
                <a:schemeClr val="dk1"/>
              </a:solidFill>
              <a:latin typeface="Roboto"/>
              <a:ea typeface="Roboto"/>
              <a:cs typeface="Roboto"/>
              <a:sym typeface="Roboto"/>
            </a:endParaRPr>
          </a:p>
        </p:txBody>
      </p:sp>
      <p:sp>
        <p:nvSpPr>
          <p:cNvPr id="370" name="Google Shape;370;g3f683cc5795_0_213"/>
          <p:cNvSpPr/>
          <p:nvPr/>
        </p:nvSpPr>
        <p:spPr>
          <a:xfrm>
            <a:off x="1645624" y="6418734"/>
            <a:ext cx="5271457" cy="3654898"/>
          </a:xfrm>
          <a:custGeom>
            <a:rect b="b" l="l" r="r" t="t"/>
            <a:pathLst>
              <a:path extrusionOk="0" h="1719952" w="2407058">
                <a:moveTo>
                  <a:pt x="0" y="0"/>
                </a:moveTo>
                <a:lnTo>
                  <a:pt x="2407058" y="0"/>
                </a:lnTo>
                <a:lnTo>
                  <a:pt x="2407058" y="1719952"/>
                </a:lnTo>
                <a:lnTo>
                  <a:pt x="0" y="1719952"/>
                </a:lnTo>
                <a:lnTo>
                  <a:pt x="0" y="0"/>
                </a:lnTo>
                <a:close/>
              </a:path>
            </a:pathLst>
          </a:custGeom>
          <a:blipFill rotWithShape="1">
            <a:blip r:embed="rId3">
              <a:alphaModFix/>
            </a:blip>
            <a:stretch>
              <a:fillRect b="0" l="0" r="0" t="0"/>
            </a:stretch>
          </a:blipFill>
          <a:ln>
            <a:noFill/>
          </a:ln>
        </p:spPr>
      </p:sp>
      <p:sp>
        <p:nvSpPr>
          <p:cNvPr id="371" name="Google Shape;371;g3f683cc5795_0_213"/>
          <p:cNvSpPr/>
          <p:nvPr/>
        </p:nvSpPr>
        <p:spPr>
          <a:xfrm>
            <a:off x="11321075" y="2149700"/>
            <a:ext cx="4679132" cy="3653404"/>
          </a:xfrm>
          <a:custGeom>
            <a:rect b="b" l="l" r="r" t="t"/>
            <a:pathLst>
              <a:path extrusionOk="0" h="1777812" w="2268670">
                <a:moveTo>
                  <a:pt x="0" y="0"/>
                </a:moveTo>
                <a:lnTo>
                  <a:pt x="2268670" y="0"/>
                </a:lnTo>
                <a:lnTo>
                  <a:pt x="2268670" y="1777812"/>
                </a:lnTo>
                <a:lnTo>
                  <a:pt x="0" y="177781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f683cc5795_0_245"/>
          <p:cNvSpPr txBox="1"/>
          <p:nvPr/>
        </p:nvSpPr>
        <p:spPr>
          <a:xfrm>
            <a:off x="94128" y="485413"/>
            <a:ext cx="181266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Example Comms</a:t>
            </a:r>
            <a:endParaRPr b="0" i="0" sz="1400" u="none" cap="none" strike="noStrike">
              <a:solidFill>
                <a:srgbClr val="000000"/>
              </a:solidFill>
              <a:latin typeface="Arial"/>
              <a:ea typeface="Arial"/>
              <a:cs typeface="Arial"/>
              <a:sym typeface="Arial"/>
            </a:endParaRPr>
          </a:p>
        </p:txBody>
      </p:sp>
      <p:sp>
        <p:nvSpPr>
          <p:cNvPr id="377" name="Google Shape;377;g3f683cc5795_0_245"/>
          <p:cNvSpPr/>
          <p:nvPr/>
        </p:nvSpPr>
        <p:spPr>
          <a:xfrm>
            <a:off x="1131138" y="2561675"/>
            <a:ext cx="7415100" cy="6367200"/>
          </a:xfrm>
          <a:prstGeom prst="roundRect">
            <a:avLst>
              <a:gd fmla="val 16667" name="adj"/>
            </a:avLst>
          </a:prstGeom>
          <a:solidFill>
            <a:schemeClr val="lt1"/>
          </a:solidFill>
          <a:ln cap="flat" cmpd="sng" w="76200">
            <a:solidFill>
              <a:srgbClr val="D752B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g3f683cc5795_0_245"/>
          <p:cNvSpPr txBox="1"/>
          <p:nvPr/>
        </p:nvSpPr>
        <p:spPr>
          <a:xfrm>
            <a:off x="1559679" y="3063094"/>
            <a:ext cx="6558000" cy="53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D752B2"/>
                </a:solidFill>
                <a:latin typeface="Lora"/>
                <a:ea typeface="Lora"/>
                <a:cs typeface="Lora"/>
                <a:sym typeface="Lora"/>
              </a:rPr>
              <a:t>Internal: Sev-1 Update #1</a:t>
            </a:r>
            <a:endParaRPr b="1" sz="2500">
              <a:solidFill>
                <a:srgbClr val="D752B2"/>
              </a:solidFill>
              <a:latin typeface="Lora"/>
              <a:ea typeface="Lora"/>
              <a:cs typeface="Lora"/>
              <a:sym typeface="Lora"/>
            </a:endParaRPr>
          </a:p>
        </p:txBody>
      </p:sp>
      <p:sp>
        <p:nvSpPr>
          <p:cNvPr id="379" name="Google Shape;379;g3f683cc5795_0_245"/>
          <p:cNvSpPr txBox="1"/>
          <p:nvPr/>
        </p:nvSpPr>
        <p:spPr>
          <a:xfrm>
            <a:off x="1896288" y="3994525"/>
            <a:ext cx="5884800" cy="45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dk1"/>
                </a:solidFill>
                <a:latin typeface="Roboto"/>
                <a:ea typeface="Roboto"/>
                <a:cs typeface="Roboto"/>
                <a:sym typeface="Roboto"/>
              </a:rPr>
              <a:t>Impact:</a:t>
            </a:r>
            <a:r>
              <a:rPr lang="en-US" sz="1600">
                <a:solidFill>
                  <a:schemeClr val="dk1"/>
                </a:solidFill>
                <a:latin typeface="Roboto"/>
                <a:ea typeface="Roboto"/>
                <a:cs typeface="Roboto"/>
                <a:sym typeface="Roboto"/>
              </a:rPr>
              <a:t> Coppel search error rate ~18% since 13:40 UTC, correlated with traffic at 3.4x normal peak (Buen Fin).</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b="1" lang="en-US" sz="1600">
                <a:solidFill>
                  <a:schemeClr val="dk1"/>
                </a:solidFill>
                <a:latin typeface="Roboto"/>
                <a:ea typeface="Roboto"/>
                <a:cs typeface="Roboto"/>
                <a:sym typeface="Roboto"/>
              </a:rPr>
              <a:t>Business impact:</a:t>
            </a:r>
            <a:r>
              <a:rPr lang="en-US" sz="1600">
                <a:solidFill>
                  <a:schemeClr val="dk1"/>
                </a:solidFill>
                <a:latin typeface="Roboto"/>
                <a:ea typeface="Roboto"/>
                <a:cs typeface="Roboto"/>
                <a:sym typeface="Roboto"/>
              </a:rPr>
              <a:t> ~MX$3.5M/hr at-risk revenue, per customer estimate.</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b="1" lang="en-US" sz="1600">
                <a:solidFill>
                  <a:schemeClr val="dk1"/>
                </a:solidFill>
                <a:latin typeface="Roboto"/>
                <a:ea typeface="Roboto"/>
                <a:cs typeface="Roboto"/>
                <a:sym typeface="Roboto"/>
              </a:rPr>
              <a:t>Status:</a:t>
            </a:r>
            <a:r>
              <a:rPr lang="en-US" sz="1600">
                <a:solidFill>
                  <a:schemeClr val="dk1"/>
                </a:solidFill>
                <a:latin typeface="Roboto"/>
                <a:ea typeface="Roboto"/>
                <a:cs typeface="Roboto"/>
                <a:sym typeface="Roboto"/>
              </a:rPr>
              <a:t> Sev-1 declared 13:52 UTC. </a:t>
            </a:r>
            <a:endParaRPr sz="1600">
              <a:solidFill>
                <a:schemeClr val="dk1"/>
              </a:solidFill>
              <a:latin typeface="Roboto"/>
              <a:ea typeface="Roboto"/>
              <a:cs typeface="Roboto"/>
              <a:sym typeface="Roboto"/>
            </a:endParaRPr>
          </a:p>
          <a:p>
            <a:pPr indent="0" lvl="0" marL="0" rtl="0" algn="l">
              <a:spcBef>
                <a:spcPts val="0"/>
              </a:spcBef>
              <a:spcAft>
                <a:spcPts val="0"/>
              </a:spcAft>
              <a:buNone/>
            </a:pPr>
            <a:r>
              <a:rPr b="1" lang="en-US" sz="1600">
                <a:solidFill>
                  <a:schemeClr val="dk1"/>
                </a:solidFill>
                <a:latin typeface="Roboto"/>
                <a:ea typeface="Roboto"/>
                <a:cs typeface="Roboto"/>
                <a:sym typeface="Roboto"/>
              </a:rPr>
              <a:t>IC:</a:t>
            </a:r>
            <a:r>
              <a:rPr lang="en-US" sz="1600">
                <a:solidFill>
                  <a:schemeClr val="dk1"/>
                </a:solidFill>
                <a:latin typeface="Roboto"/>
                <a:ea typeface="Roboto"/>
                <a:cs typeface="Roboto"/>
                <a:sym typeface="Roboto"/>
              </a:rPr>
              <a:t> Ariele Silva. </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b="1" lang="en-US" sz="1600">
                <a:solidFill>
                  <a:schemeClr val="dk1"/>
                </a:solidFill>
                <a:latin typeface="Roboto"/>
                <a:ea typeface="Roboto"/>
                <a:cs typeface="Roboto"/>
                <a:sym typeface="Roboto"/>
              </a:rPr>
              <a:t>Two hypotheses in parallel:</a:t>
            </a:r>
            <a:r>
              <a:rPr lang="en-US" sz="1600">
                <a:solidFill>
                  <a:schemeClr val="dk1"/>
                </a:solidFill>
                <a:latin typeface="Roboto"/>
                <a:ea typeface="Roboto"/>
                <a:cs typeface="Roboto"/>
                <a:sym typeface="Roboto"/>
              </a:rPr>
              <a:t>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AutoNum type="arabicPeriod"/>
            </a:pPr>
            <a:r>
              <a:rPr lang="en-US" sz="1600">
                <a:solidFill>
                  <a:schemeClr val="dk1"/>
                </a:solidFill>
                <a:latin typeface="Roboto"/>
                <a:ea typeface="Roboto"/>
                <a:cs typeface="Roboto"/>
                <a:sym typeface="Roboto"/>
              </a:rPr>
              <a:t>org quota exhaustion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AutoNum type="arabicPeriod"/>
            </a:pPr>
            <a:r>
              <a:rPr lang="en-US" sz="1600">
                <a:solidFill>
                  <a:schemeClr val="dk1"/>
                </a:solidFill>
                <a:latin typeface="Roboto"/>
                <a:ea typeface="Roboto"/>
                <a:cs typeface="Roboto"/>
                <a:sym typeface="Roboto"/>
              </a:rPr>
              <a:t>ML feature latency under load. </a:t>
            </a:r>
            <a:endParaRPr sz="1600">
              <a:solidFill>
                <a:schemeClr val="dk1"/>
              </a:solidFill>
              <a:latin typeface="Roboto"/>
              <a:ea typeface="Roboto"/>
              <a:cs typeface="Roboto"/>
              <a:sym typeface="Roboto"/>
            </a:endParaRPr>
          </a:p>
          <a:p>
            <a:pPr indent="0" lvl="0" marL="45720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b="1" lang="en-US" sz="1600">
                <a:solidFill>
                  <a:schemeClr val="dk1"/>
                </a:solidFill>
                <a:latin typeface="Roboto"/>
                <a:ea typeface="Roboto"/>
                <a:cs typeface="Roboto"/>
                <a:sym typeface="Roboto"/>
              </a:rPr>
              <a:t>Mitigation live:</a:t>
            </a:r>
            <a:r>
              <a:rPr lang="en-US" sz="1600">
                <a:solidFill>
                  <a:schemeClr val="dk1"/>
                </a:solidFill>
                <a:latin typeface="Roboto"/>
                <a:ea typeface="Roboto"/>
                <a:cs typeface="Roboto"/>
                <a:sym typeface="Roboto"/>
              </a:rPr>
              <a:t> generative answering temporarily disabled, emergency quota increase requested.</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US" sz="1600">
                <a:solidFill>
                  <a:schemeClr val="dk1"/>
                </a:solidFill>
                <a:highlight>
                  <a:srgbClr val="EAD1DC"/>
                </a:highlight>
                <a:latin typeface="Roboto"/>
                <a:ea typeface="Roboto"/>
                <a:cs typeface="Roboto"/>
                <a:sym typeface="Roboto"/>
              </a:rPr>
              <a:t>Next update: 14:20 UTC or sooner.</a:t>
            </a:r>
            <a:endParaRPr sz="1600">
              <a:solidFill>
                <a:schemeClr val="dk1"/>
              </a:solidFill>
              <a:highlight>
                <a:srgbClr val="EAD1DC"/>
              </a:highlight>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p:txBody>
      </p:sp>
      <p:sp>
        <p:nvSpPr>
          <p:cNvPr id="380" name="Google Shape;380;g3f683cc5795_0_245"/>
          <p:cNvSpPr/>
          <p:nvPr/>
        </p:nvSpPr>
        <p:spPr>
          <a:xfrm>
            <a:off x="9768613" y="2561675"/>
            <a:ext cx="7415100" cy="6367200"/>
          </a:xfrm>
          <a:prstGeom prst="roundRect">
            <a:avLst>
              <a:gd fmla="val 16667" name="adj"/>
            </a:avLst>
          </a:prstGeom>
          <a:solidFill>
            <a:schemeClr val="lt1"/>
          </a:solidFill>
          <a:ln cap="flat" cmpd="sng" w="76200">
            <a:solidFill>
              <a:srgbClr val="FE802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1" name="Google Shape;381;g3f683cc5795_0_245"/>
          <p:cNvSpPr txBox="1"/>
          <p:nvPr/>
        </p:nvSpPr>
        <p:spPr>
          <a:xfrm>
            <a:off x="10197154" y="3063094"/>
            <a:ext cx="6558000" cy="53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FE802E"/>
                </a:solidFill>
                <a:latin typeface="Lora"/>
                <a:ea typeface="Lora"/>
                <a:cs typeface="Lora"/>
                <a:sym typeface="Lora"/>
              </a:rPr>
              <a:t>Customer-Facing: Update #1</a:t>
            </a:r>
            <a:endParaRPr b="1" sz="2500">
              <a:solidFill>
                <a:srgbClr val="FE802E"/>
              </a:solidFill>
              <a:latin typeface="Lora"/>
              <a:ea typeface="Lora"/>
              <a:cs typeface="Lora"/>
              <a:sym typeface="Lora"/>
            </a:endParaRPr>
          </a:p>
          <a:p>
            <a:pPr indent="0" lvl="0" marL="0" rtl="0" algn="ctr">
              <a:spcBef>
                <a:spcPts val="0"/>
              </a:spcBef>
              <a:spcAft>
                <a:spcPts val="0"/>
              </a:spcAft>
              <a:buNone/>
            </a:pPr>
            <a:r>
              <a:t/>
            </a:r>
            <a:endParaRPr b="1" sz="2500">
              <a:solidFill>
                <a:srgbClr val="FE802E"/>
              </a:solidFill>
              <a:latin typeface="Lora"/>
              <a:ea typeface="Lora"/>
              <a:cs typeface="Lora"/>
              <a:sym typeface="Lora"/>
            </a:endParaRPr>
          </a:p>
        </p:txBody>
      </p:sp>
      <p:sp>
        <p:nvSpPr>
          <p:cNvPr id="382" name="Google Shape;382;g3f683cc5795_0_245"/>
          <p:cNvSpPr txBox="1"/>
          <p:nvPr/>
        </p:nvSpPr>
        <p:spPr>
          <a:xfrm>
            <a:off x="10533763" y="3994525"/>
            <a:ext cx="5884800" cy="45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Roboto"/>
                <a:ea typeface="Roboto"/>
                <a:cs typeface="Roboto"/>
                <a:sym typeface="Roboto"/>
              </a:rPr>
              <a:t>We want you to hear this directly from us: since roughly </a:t>
            </a:r>
            <a:r>
              <a:rPr b="1" lang="en-US" sz="1600">
                <a:solidFill>
                  <a:schemeClr val="dk1"/>
                </a:solidFill>
                <a:latin typeface="Roboto"/>
                <a:ea typeface="Roboto"/>
                <a:cs typeface="Roboto"/>
                <a:sym typeface="Roboto"/>
              </a:rPr>
              <a:t>13:40 UTC</a:t>
            </a:r>
            <a:r>
              <a:rPr lang="en-US" sz="1600">
                <a:solidFill>
                  <a:schemeClr val="dk1"/>
                </a:solidFill>
                <a:latin typeface="Roboto"/>
                <a:ea typeface="Roboto"/>
                <a:cs typeface="Roboto"/>
                <a:sym typeface="Roboto"/>
              </a:rPr>
              <a:t>, some searches on </a:t>
            </a:r>
            <a:r>
              <a:rPr b="1" lang="en-US" sz="1600">
                <a:solidFill>
                  <a:schemeClr val="dk1"/>
                </a:solidFill>
                <a:latin typeface="Roboto"/>
                <a:ea typeface="Roboto"/>
                <a:cs typeface="Roboto"/>
                <a:sym typeface="Roboto"/>
              </a:rPr>
              <a:t>Coppel.com</a:t>
            </a:r>
            <a:r>
              <a:rPr lang="en-US" sz="1600">
                <a:solidFill>
                  <a:schemeClr val="dk1"/>
                </a:solidFill>
                <a:latin typeface="Roboto"/>
                <a:ea typeface="Roboto"/>
                <a:cs typeface="Roboto"/>
                <a:sym typeface="Roboto"/>
              </a:rPr>
              <a:t> have been intermittently slow or failing during today’s </a:t>
            </a:r>
            <a:r>
              <a:rPr b="1" lang="en-US" sz="1600">
                <a:solidFill>
                  <a:schemeClr val="dk1"/>
                </a:solidFill>
                <a:latin typeface="Roboto"/>
                <a:ea typeface="Roboto"/>
                <a:cs typeface="Roboto"/>
                <a:sym typeface="Roboto"/>
              </a:rPr>
              <a:t>Buen Fin</a:t>
            </a:r>
            <a:r>
              <a:rPr lang="en-US" sz="1600">
                <a:solidFill>
                  <a:schemeClr val="dk1"/>
                </a:solidFill>
                <a:latin typeface="Roboto"/>
                <a:ea typeface="Roboto"/>
                <a:cs typeface="Roboto"/>
                <a:sym typeface="Roboto"/>
              </a:rPr>
              <a:t> peak.</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US" sz="1600">
                <a:solidFill>
                  <a:schemeClr val="dk1"/>
                </a:solidFill>
                <a:latin typeface="Roboto"/>
                <a:ea typeface="Roboto"/>
                <a:cs typeface="Roboto"/>
                <a:sym typeface="Roboto"/>
              </a:rPr>
              <a:t>We understand what this means during your biggest sales event of the year, and it has our full attention. Our engineering leadership is engaged, and we’ve already put initial mitigations in place to reduce impact.</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US" sz="1600">
                <a:solidFill>
                  <a:schemeClr val="dk1"/>
                </a:solidFill>
                <a:latin typeface="Roboto"/>
                <a:ea typeface="Roboto"/>
                <a:cs typeface="Roboto"/>
                <a:sym typeface="Roboto"/>
              </a:rPr>
              <a:t>We’ll follow up within </a:t>
            </a:r>
            <a:r>
              <a:rPr b="1" lang="en-US" sz="1600">
                <a:solidFill>
                  <a:schemeClr val="dk1"/>
                </a:solidFill>
                <a:latin typeface="Roboto"/>
                <a:ea typeface="Roboto"/>
                <a:cs typeface="Roboto"/>
                <a:sym typeface="Roboto"/>
              </a:rPr>
              <a:t>30 minutes</a:t>
            </a:r>
            <a:r>
              <a:rPr lang="en-US" sz="1600">
                <a:solidFill>
                  <a:schemeClr val="dk1"/>
                </a:solidFill>
                <a:latin typeface="Roboto"/>
                <a:ea typeface="Roboto"/>
                <a:cs typeface="Roboto"/>
                <a:sym typeface="Roboto"/>
              </a:rPr>
              <a:t>, sooner if anything changes. </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highlight>
                <a:srgbClr val="FCE5CD"/>
              </a:highlight>
              <a:latin typeface="Roboto"/>
              <a:ea typeface="Roboto"/>
              <a:cs typeface="Roboto"/>
              <a:sym typeface="Roboto"/>
            </a:endParaRPr>
          </a:p>
          <a:p>
            <a:pPr indent="0" lvl="0" marL="0" rtl="0" algn="l">
              <a:spcBef>
                <a:spcPts val="0"/>
              </a:spcBef>
              <a:spcAft>
                <a:spcPts val="0"/>
              </a:spcAft>
              <a:buNone/>
            </a:pPr>
            <a:r>
              <a:rPr lang="en-US" sz="1600">
                <a:solidFill>
                  <a:schemeClr val="dk1"/>
                </a:solidFill>
                <a:highlight>
                  <a:srgbClr val="FCE5CD"/>
                </a:highlight>
                <a:latin typeface="Roboto"/>
                <a:ea typeface="Roboto"/>
                <a:cs typeface="Roboto"/>
                <a:sym typeface="Roboto"/>
              </a:rPr>
              <a:t>You can also follow real-time status at </a:t>
            </a:r>
            <a:r>
              <a:rPr b="1" lang="en-US" sz="1600">
                <a:solidFill>
                  <a:schemeClr val="dk1"/>
                </a:solidFill>
                <a:highlight>
                  <a:srgbClr val="FCE5CD"/>
                </a:highlight>
                <a:latin typeface="Roboto"/>
                <a:ea typeface="Roboto"/>
                <a:cs typeface="Roboto"/>
                <a:sym typeface="Roboto"/>
              </a:rPr>
              <a:t>status.cloud.coveo.com</a:t>
            </a:r>
            <a:r>
              <a:rPr lang="en-US" sz="1600">
                <a:solidFill>
                  <a:schemeClr val="dk1"/>
                </a:solidFill>
                <a:highlight>
                  <a:srgbClr val="FCE5CD"/>
                </a:highlight>
                <a:latin typeface="Roboto"/>
                <a:ea typeface="Roboto"/>
                <a:cs typeface="Roboto"/>
                <a:sym typeface="Roboto"/>
              </a:rPr>
              <a:t>.</a:t>
            </a:r>
            <a:endParaRPr sz="1600">
              <a:solidFill>
                <a:schemeClr val="dk1"/>
              </a:solidFill>
              <a:highlight>
                <a:srgbClr val="FCE5CD"/>
              </a:highlight>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f683cc5795_0_260"/>
          <p:cNvSpPr txBox="1"/>
          <p:nvPr/>
        </p:nvSpPr>
        <p:spPr>
          <a:xfrm>
            <a:off x="94128" y="485413"/>
            <a:ext cx="181266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Preventing </a:t>
            </a:r>
            <a:r>
              <a:rPr b="1" lang="en-US" sz="8000">
                <a:solidFill>
                  <a:srgbClr val="FFFFFF"/>
                </a:solidFill>
                <a:latin typeface="Lora"/>
                <a:ea typeface="Lora"/>
                <a:cs typeface="Lora"/>
                <a:sym typeface="Lora"/>
              </a:rPr>
              <a:t>Recurrence</a:t>
            </a:r>
            <a:endParaRPr b="0" i="0" sz="1400" u="none" cap="none" strike="noStrike">
              <a:solidFill>
                <a:srgbClr val="000000"/>
              </a:solidFill>
              <a:latin typeface="Arial"/>
              <a:ea typeface="Arial"/>
              <a:cs typeface="Arial"/>
              <a:sym typeface="Arial"/>
            </a:endParaRPr>
          </a:p>
        </p:txBody>
      </p:sp>
      <p:sp>
        <p:nvSpPr>
          <p:cNvPr id="388" name="Google Shape;388;g3f683cc5795_0_260"/>
          <p:cNvSpPr/>
          <p:nvPr/>
        </p:nvSpPr>
        <p:spPr>
          <a:xfrm>
            <a:off x="1131138" y="2561675"/>
            <a:ext cx="7415100" cy="6367200"/>
          </a:xfrm>
          <a:prstGeom prst="roundRect">
            <a:avLst>
              <a:gd fmla="val 16667" name="adj"/>
            </a:avLst>
          </a:prstGeom>
          <a:solidFill>
            <a:schemeClr val="lt1"/>
          </a:solidFill>
          <a:ln cap="flat" cmpd="sng" w="76200">
            <a:solidFill>
              <a:srgbClr val="735FE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9" name="Google Shape;389;g3f683cc5795_0_260"/>
          <p:cNvSpPr txBox="1"/>
          <p:nvPr/>
        </p:nvSpPr>
        <p:spPr>
          <a:xfrm>
            <a:off x="1559679" y="3063094"/>
            <a:ext cx="6558000" cy="53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735FE4"/>
                </a:solidFill>
                <a:latin typeface="Lora"/>
                <a:ea typeface="Lora"/>
                <a:cs typeface="Lora"/>
                <a:sym typeface="Lora"/>
              </a:rPr>
              <a:t>Engineering</a:t>
            </a:r>
            <a:endParaRPr b="1" sz="2500">
              <a:solidFill>
                <a:srgbClr val="735FE4"/>
              </a:solidFill>
              <a:latin typeface="Lora"/>
              <a:ea typeface="Lora"/>
              <a:cs typeface="Lora"/>
              <a:sym typeface="Lora"/>
            </a:endParaRPr>
          </a:p>
        </p:txBody>
      </p:sp>
      <p:sp>
        <p:nvSpPr>
          <p:cNvPr id="390" name="Google Shape;390;g3f683cc5795_0_260"/>
          <p:cNvSpPr txBox="1"/>
          <p:nvPr/>
        </p:nvSpPr>
        <p:spPr>
          <a:xfrm>
            <a:off x="1896288" y="3994525"/>
            <a:ext cx="5884800" cy="4598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Graceful disablement built in, not improvised live: expensive ML features automatically shed load past a defined threshold instead of a manual mid-incident call</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Proactive quota/headroom alerts well before an org approaches a technical limit, not discovered during peak</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Scheduling policy that keeps index rebuilds and model retrains off known peak windows for high-traffic accounts</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Load testing against realistic peak multiples ahead of any known high-traffic event</a:t>
            </a:r>
            <a:endParaRPr sz="1600">
              <a:solidFill>
                <a:schemeClr val="dk1"/>
              </a:solidFill>
              <a:latin typeface="Roboto"/>
              <a:ea typeface="Roboto"/>
              <a:cs typeface="Roboto"/>
              <a:sym typeface="Roboto"/>
            </a:endParaRPr>
          </a:p>
        </p:txBody>
      </p:sp>
      <p:sp>
        <p:nvSpPr>
          <p:cNvPr id="391" name="Google Shape;391;g3f683cc5795_0_260"/>
          <p:cNvSpPr/>
          <p:nvPr/>
        </p:nvSpPr>
        <p:spPr>
          <a:xfrm>
            <a:off x="9768613" y="2561675"/>
            <a:ext cx="7415100" cy="6367200"/>
          </a:xfrm>
          <a:prstGeom prst="roundRect">
            <a:avLst>
              <a:gd fmla="val 16667" name="adj"/>
            </a:avLst>
          </a:prstGeom>
          <a:solidFill>
            <a:schemeClr val="lt1"/>
          </a:solidFill>
          <a:ln cap="flat" cmpd="sng" w="76200">
            <a:solidFill>
              <a:srgbClr val="FDBD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92" name="Google Shape;392;g3f683cc5795_0_260"/>
          <p:cNvSpPr txBox="1"/>
          <p:nvPr/>
        </p:nvSpPr>
        <p:spPr>
          <a:xfrm>
            <a:off x="10197154" y="3063094"/>
            <a:ext cx="6558000" cy="53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solidFill>
                  <a:srgbClr val="FDBD00"/>
                </a:solidFill>
                <a:latin typeface="Lora"/>
                <a:ea typeface="Lora"/>
                <a:cs typeface="Lora"/>
                <a:sym typeface="Lora"/>
              </a:rPr>
              <a:t>Process &amp; Trust</a:t>
            </a:r>
            <a:endParaRPr b="1" sz="2500">
              <a:solidFill>
                <a:srgbClr val="FDBD00"/>
              </a:solidFill>
              <a:latin typeface="Lora"/>
              <a:ea typeface="Lora"/>
              <a:cs typeface="Lora"/>
              <a:sym typeface="Lora"/>
            </a:endParaRPr>
          </a:p>
          <a:p>
            <a:pPr indent="0" lvl="0" marL="0" rtl="0" algn="ctr">
              <a:spcBef>
                <a:spcPts val="0"/>
              </a:spcBef>
              <a:spcAft>
                <a:spcPts val="0"/>
              </a:spcAft>
              <a:buNone/>
            </a:pPr>
            <a:r>
              <a:t/>
            </a:r>
            <a:endParaRPr b="1" sz="2500">
              <a:solidFill>
                <a:srgbClr val="FE802E"/>
              </a:solidFill>
              <a:latin typeface="Lora"/>
              <a:ea typeface="Lora"/>
              <a:cs typeface="Lora"/>
              <a:sym typeface="Lora"/>
            </a:endParaRPr>
          </a:p>
        </p:txBody>
      </p:sp>
      <p:sp>
        <p:nvSpPr>
          <p:cNvPr id="393" name="Google Shape;393;g3f683cc5795_0_260"/>
          <p:cNvSpPr txBox="1"/>
          <p:nvPr/>
        </p:nvSpPr>
        <p:spPr>
          <a:xfrm>
            <a:off x="10533763" y="3994525"/>
            <a:ext cx="5884800" cy="4598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Blameless postmortem, shared with the customer</a:t>
            </a:r>
            <a:endParaRPr sz="1600">
              <a:solidFill>
                <a:schemeClr val="dk1"/>
              </a:solidFill>
              <a:latin typeface="Roboto"/>
              <a:ea typeface="Roboto"/>
              <a:cs typeface="Roboto"/>
              <a:sym typeface="Roboto"/>
            </a:endParaRPr>
          </a:p>
          <a:p>
            <a:pPr indent="-330200" lvl="1" marL="9144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what happened, why, and exactly what changes as a result</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A named peak-readiness pre-flight checklist for any account with a known high-traffic event on the calendar</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30/60/90-day follow-through with the customer’s leadership, not just an internal ticket closed and forgotten</a:t>
            </a:r>
            <a:endParaRPr sz="1600">
              <a:solidFill>
                <a:schemeClr val="dk1"/>
              </a:solidFill>
              <a:latin typeface="Roboto"/>
              <a:ea typeface="Roboto"/>
              <a:cs typeface="Roboto"/>
              <a:sym typeface="Roboto"/>
            </a:endParaRPr>
          </a:p>
          <a:p>
            <a:pPr indent="-330200" lvl="1" marL="9144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ensuring</a:t>
            </a:r>
            <a:r>
              <a:rPr lang="en-US" sz="1600">
                <a:solidFill>
                  <a:schemeClr val="dk1"/>
                </a:solidFill>
                <a:latin typeface="Roboto"/>
                <a:ea typeface="Roboto"/>
                <a:cs typeface="Roboto"/>
                <a:sym typeface="Roboto"/>
              </a:rPr>
              <a:t> leadership knows this is something we are prioritizing and improving.</a:t>
            </a:r>
            <a:r>
              <a:rPr lang="en-US" sz="1600">
                <a:solidFill>
                  <a:schemeClr val="dk1"/>
                </a:solidFill>
                <a:latin typeface="Roboto"/>
                <a:ea typeface="Roboto"/>
                <a:cs typeface="Roboto"/>
                <a:sym typeface="Roboto"/>
              </a:rPr>
              <a:t> </a:t>
            </a:r>
            <a:r>
              <a:rPr lang="en-US" sz="1600">
                <a:solidFill>
                  <a:schemeClr val="dk1"/>
                </a:solidFill>
                <a:latin typeface="Roboto"/>
                <a:ea typeface="Roboto"/>
                <a:cs typeface="Roboto"/>
                <a:sym typeface="Roboto"/>
              </a:rPr>
              <a:t> </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330200" lvl="0" marL="4572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Runbook updated with this incident’s specific findings, so the next responder starts ahead of where this one did</a:t>
            </a:r>
            <a:endParaRPr sz="16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f683cc5795_0_270"/>
          <p:cNvSpPr txBox="1"/>
          <p:nvPr/>
        </p:nvSpPr>
        <p:spPr>
          <a:xfrm>
            <a:off x="1149750" y="431625"/>
            <a:ext cx="159885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Key Takeaways</a:t>
            </a:r>
            <a:endParaRPr b="0" i="0" sz="1400" u="none" cap="none" strike="noStrike">
              <a:solidFill>
                <a:srgbClr val="000000"/>
              </a:solidFill>
              <a:latin typeface="Arial"/>
              <a:ea typeface="Arial"/>
              <a:cs typeface="Arial"/>
              <a:sym typeface="Arial"/>
            </a:endParaRPr>
          </a:p>
        </p:txBody>
      </p:sp>
      <p:sp>
        <p:nvSpPr>
          <p:cNvPr id="399" name="Google Shape;399;g3f683cc5795_0_270"/>
          <p:cNvSpPr txBox="1"/>
          <p:nvPr/>
        </p:nvSpPr>
        <p:spPr>
          <a:xfrm>
            <a:off x="887497" y="2911390"/>
            <a:ext cx="13836900" cy="50559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lt1"/>
              </a:buClr>
              <a:buSzPts val="2100"/>
              <a:buFont typeface="Roboto"/>
              <a:buChar char="●"/>
            </a:pPr>
            <a:r>
              <a:rPr b="1" lang="en-US" sz="2100">
                <a:solidFill>
                  <a:srgbClr val="735FE4"/>
                </a:solidFill>
                <a:latin typeface="Roboto"/>
                <a:ea typeface="Roboto"/>
                <a:cs typeface="Roboto"/>
                <a:sym typeface="Roboto"/>
              </a:rPr>
              <a:t>Structure comes before diagnosis</a:t>
            </a:r>
            <a:r>
              <a:rPr lang="en-US" sz="2100">
                <a:solidFill>
                  <a:schemeClr val="lt1"/>
                </a:solidFill>
                <a:latin typeface="Roboto"/>
                <a:ea typeface="Roboto"/>
                <a:cs typeface="Roboto"/>
                <a:sym typeface="Roboto"/>
              </a:rPr>
              <a:t> → severity, ownership, and a stabilize/investigate split are decided in the first minutes, not discovered along the way</a:t>
            </a:r>
            <a:endParaRPr sz="2100">
              <a:solidFill>
                <a:schemeClr val="lt1"/>
              </a:solidFill>
              <a:latin typeface="Roboto"/>
              <a:ea typeface="Roboto"/>
              <a:cs typeface="Roboto"/>
              <a:sym typeface="Roboto"/>
            </a:endParaRPr>
          </a:p>
          <a:p>
            <a:pPr indent="0" lvl="0" marL="0" rtl="0" algn="l">
              <a:spcBef>
                <a:spcPts val="0"/>
              </a:spcBef>
              <a:spcAft>
                <a:spcPts val="0"/>
              </a:spcAft>
              <a:buNone/>
            </a:pPr>
            <a:r>
              <a:t/>
            </a:r>
            <a:endParaRPr sz="2100">
              <a:solidFill>
                <a:schemeClr val="lt1"/>
              </a:solidFill>
              <a:latin typeface="Roboto"/>
              <a:ea typeface="Roboto"/>
              <a:cs typeface="Roboto"/>
              <a:sym typeface="Roboto"/>
            </a:endParaRPr>
          </a:p>
          <a:p>
            <a:pPr indent="-361950" lvl="0" marL="457200" rtl="0" algn="l">
              <a:spcBef>
                <a:spcPts val="0"/>
              </a:spcBef>
              <a:spcAft>
                <a:spcPts val="0"/>
              </a:spcAft>
              <a:buClr>
                <a:schemeClr val="lt1"/>
              </a:buClr>
              <a:buSzPts val="2100"/>
              <a:buFont typeface="Roboto"/>
              <a:buChar char="●"/>
            </a:pPr>
            <a:r>
              <a:rPr b="1" lang="en-US" sz="2100">
                <a:solidFill>
                  <a:srgbClr val="FDBD00"/>
                </a:solidFill>
                <a:latin typeface="Roboto"/>
                <a:ea typeface="Roboto"/>
                <a:cs typeface="Roboto"/>
                <a:sym typeface="Roboto"/>
              </a:rPr>
              <a:t>Stabilization and root-cause analysis run in parallel, not in sequence</a:t>
            </a:r>
            <a:r>
              <a:rPr lang="en-US" sz="2100">
                <a:solidFill>
                  <a:schemeClr val="lt1"/>
                </a:solidFill>
                <a:latin typeface="Roboto"/>
                <a:ea typeface="Roboto"/>
                <a:cs typeface="Roboto"/>
                <a:sym typeface="Roboto"/>
              </a:rPr>
              <a:t> → the customer doesn’t wait on a confirmed cause to get relief</a:t>
            </a:r>
            <a:endParaRPr sz="2100">
              <a:solidFill>
                <a:schemeClr val="lt1"/>
              </a:solidFill>
              <a:latin typeface="Roboto"/>
              <a:ea typeface="Roboto"/>
              <a:cs typeface="Roboto"/>
              <a:sym typeface="Roboto"/>
            </a:endParaRPr>
          </a:p>
          <a:p>
            <a:pPr indent="0" lvl="0" marL="0" rtl="0" algn="l">
              <a:spcBef>
                <a:spcPts val="0"/>
              </a:spcBef>
              <a:spcAft>
                <a:spcPts val="0"/>
              </a:spcAft>
              <a:buNone/>
            </a:pPr>
            <a:r>
              <a:t/>
            </a:r>
            <a:endParaRPr sz="2100">
              <a:solidFill>
                <a:schemeClr val="lt1"/>
              </a:solidFill>
              <a:latin typeface="Roboto"/>
              <a:ea typeface="Roboto"/>
              <a:cs typeface="Roboto"/>
              <a:sym typeface="Roboto"/>
            </a:endParaRPr>
          </a:p>
          <a:p>
            <a:pPr indent="-361950" lvl="0" marL="457200" rtl="0" algn="l">
              <a:spcBef>
                <a:spcPts val="0"/>
              </a:spcBef>
              <a:spcAft>
                <a:spcPts val="0"/>
              </a:spcAft>
              <a:buClr>
                <a:schemeClr val="lt1"/>
              </a:buClr>
              <a:buSzPts val="2100"/>
              <a:buFont typeface="Roboto"/>
              <a:buChar char="●"/>
            </a:pPr>
            <a:r>
              <a:rPr b="1" lang="en-US" sz="2100">
                <a:solidFill>
                  <a:srgbClr val="D752B2"/>
                </a:solidFill>
                <a:latin typeface="Roboto"/>
                <a:ea typeface="Roboto"/>
                <a:cs typeface="Roboto"/>
                <a:sym typeface="Roboto"/>
              </a:rPr>
              <a:t>One set of facts, two honest deliveries</a:t>
            </a:r>
            <a:r>
              <a:rPr lang="en-US" sz="2100">
                <a:solidFill>
                  <a:schemeClr val="lt1"/>
                </a:solidFill>
                <a:latin typeface="Roboto"/>
                <a:ea typeface="Roboto"/>
                <a:cs typeface="Roboto"/>
                <a:sym typeface="Roboto"/>
              </a:rPr>
              <a:t> → internal and customer-facing updates diverge in tone and detail, never in truth</a:t>
            </a:r>
            <a:endParaRPr sz="2100">
              <a:solidFill>
                <a:schemeClr val="lt1"/>
              </a:solidFill>
              <a:latin typeface="Roboto"/>
              <a:ea typeface="Roboto"/>
              <a:cs typeface="Roboto"/>
              <a:sym typeface="Roboto"/>
            </a:endParaRPr>
          </a:p>
          <a:p>
            <a:pPr indent="0" lvl="0" marL="0" rtl="0" algn="l">
              <a:spcBef>
                <a:spcPts val="0"/>
              </a:spcBef>
              <a:spcAft>
                <a:spcPts val="0"/>
              </a:spcAft>
              <a:buNone/>
            </a:pPr>
            <a:r>
              <a:t/>
            </a:r>
            <a:endParaRPr sz="2100">
              <a:solidFill>
                <a:schemeClr val="lt1"/>
              </a:solidFill>
              <a:latin typeface="Roboto"/>
              <a:ea typeface="Roboto"/>
              <a:cs typeface="Roboto"/>
              <a:sym typeface="Roboto"/>
            </a:endParaRPr>
          </a:p>
          <a:p>
            <a:pPr indent="-361950" lvl="0" marL="457200" rtl="0" algn="l">
              <a:spcBef>
                <a:spcPts val="0"/>
              </a:spcBef>
              <a:spcAft>
                <a:spcPts val="0"/>
              </a:spcAft>
              <a:buClr>
                <a:schemeClr val="lt1"/>
              </a:buClr>
              <a:buSzPts val="2100"/>
              <a:buFont typeface="Roboto"/>
              <a:buChar char="●"/>
            </a:pPr>
            <a:r>
              <a:rPr b="1" lang="en-US" sz="2100">
                <a:solidFill>
                  <a:srgbClr val="FE802E"/>
                </a:solidFill>
                <a:latin typeface="Roboto"/>
                <a:ea typeface="Roboto"/>
                <a:cs typeface="Roboto"/>
                <a:sym typeface="Roboto"/>
              </a:rPr>
              <a:t>The incident isn’t over when the error rate drops</a:t>
            </a:r>
            <a:r>
              <a:rPr lang="en-US" sz="2100">
                <a:solidFill>
                  <a:schemeClr val="lt1"/>
                </a:solidFill>
                <a:latin typeface="Roboto"/>
                <a:ea typeface="Roboto"/>
                <a:cs typeface="Roboto"/>
                <a:sym typeface="Roboto"/>
              </a:rPr>
              <a:t> → it’s over when the postmortem, the engineering fix, and the customer follow-through are all closed</a:t>
            </a:r>
            <a:endParaRPr sz="2100">
              <a:solidFill>
                <a:schemeClr val="lt1"/>
              </a:solidFill>
              <a:latin typeface="Roboto"/>
              <a:ea typeface="Roboto"/>
              <a:cs typeface="Roboto"/>
              <a:sym typeface="Roboto"/>
            </a:endParaRPr>
          </a:p>
        </p:txBody>
      </p:sp>
      <p:sp>
        <p:nvSpPr>
          <p:cNvPr id="400" name="Google Shape;400;g3f683cc5795_0_270"/>
          <p:cNvSpPr/>
          <p:nvPr/>
        </p:nvSpPr>
        <p:spPr>
          <a:xfrm>
            <a:off x="13721177" y="6158749"/>
            <a:ext cx="4297841" cy="3907129"/>
          </a:xfrm>
          <a:custGeom>
            <a:rect b="b" l="l" r="r" t="t"/>
            <a:pathLst>
              <a:path extrusionOk="0" h="1825761" w="2008337">
                <a:moveTo>
                  <a:pt x="0" y="0"/>
                </a:moveTo>
                <a:lnTo>
                  <a:pt x="2008337" y="0"/>
                </a:lnTo>
                <a:lnTo>
                  <a:pt x="2008337" y="1825761"/>
                </a:lnTo>
                <a:lnTo>
                  <a:pt x="0" y="182576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f683cc5795_0_276"/>
          <p:cNvSpPr/>
          <p:nvPr/>
        </p:nvSpPr>
        <p:spPr>
          <a:xfrm>
            <a:off x="5405707" y="3738284"/>
            <a:ext cx="7395900" cy="1748100"/>
          </a:xfrm>
          <a:prstGeom prst="roundRect">
            <a:avLst>
              <a:gd fmla="val 16667" name="adj"/>
            </a:avLst>
          </a:prstGeom>
          <a:solidFill>
            <a:srgbClr val="FDB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DBD00"/>
              </a:solidFill>
              <a:latin typeface="Calibri"/>
              <a:ea typeface="Calibri"/>
              <a:cs typeface="Calibri"/>
              <a:sym typeface="Calibri"/>
            </a:endParaRPr>
          </a:p>
        </p:txBody>
      </p:sp>
      <p:sp>
        <p:nvSpPr>
          <p:cNvPr id="406" name="Google Shape;406;g3f683cc5795_0_276"/>
          <p:cNvSpPr txBox="1"/>
          <p:nvPr/>
        </p:nvSpPr>
        <p:spPr>
          <a:xfrm>
            <a:off x="80703" y="3941313"/>
            <a:ext cx="18126600" cy="1231500"/>
          </a:xfrm>
          <a:prstGeom prst="rect">
            <a:avLst/>
          </a:prstGeom>
          <a:noFill/>
          <a:ln>
            <a:noFill/>
          </a:ln>
        </p:spPr>
        <p:txBody>
          <a:bodyPr anchorCtr="0" anchor="t" bIns="0" lIns="0" spcFirstLastPara="1" rIns="0" wrap="square" tIns="0">
            <a:spAutoFit/>
          </a:bodyPr>
          <a:lstStyle/>
          <a:p>
            <a:pPr indent="0" lvl="0" marL="0" marR="0" rtl="0" algn="ctr">
              <a:lnSpc>
                <a:spcPct val="124000"/>
              </a:lnSpc>
              <a:spcBef>
                <a:spcPts val="0"/>
              </a:spcBef>
              <a:spcAft>
                <a:spcPts val="0"/>
              </a:spcAft>
              <a:buClr>
                <a:srgbClr val="000000"/>
              </a:buClr>
              <a:buSzPts val="8000"/>
              <a:buFont typeface="Arial"/>
              <a:buNone/>
            </a:pPr>
            <a:r>
              <a:rPr b="1" lang="en-US" sz="8000">
                <a:solidFill>
                  <a:srgbClr val="FFFFFF"/>
                </a:solidFill>
                <a:latin typeface="Lora"/>
                <a:ea typeface="Lora"/>
                <a:cs typeface="Lora"/>
                <a:sym typeface="Lora"/>
              </a:rPr>
              <a:t>Thank you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